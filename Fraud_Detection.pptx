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embeddedFontLst>
    <p:embeddedFont>
      <p:font typeface="DM Sans" pitchFamily="2" charset="0"/>
      <p:regular r:id="rId27"/>
      <p:bold r:id="rId28"/>
      <p:italic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hanh Duoc" userId="68325f0a-cf52-4870-a2f2-a24a740c49e3" providerId="ADAL" clId="{9629B018-2FEF-46FF-93A3-09AE2F36BA0E}"/>
    <pc:docChg chg="undo custSel modSld">
      <pc:chgData name="Nguyen Thanh Duoc" userId="68325f0a-cf52-4870-a2f2-a24a740c49e3" providerId="ADAL" clId="{9629B018-2FEF-46FF-93A3-09AE2F36BA0E}" dt="2026-10-30T07:06:42.118" v="205" actId="20577"/>
      <pc:docMkLst>
        <pc:docMk/>
      </pc:docMkLst>
      <pc:sldChg chg="modSp mod">
        <pc:chgData name="Nguyen Thanh Duoc" userId="68325f0a-cf52-4870-a2f2-a24a740c49e3" providerId="ADAL" clId="{9629B018-2FEF-46FF-93A3-09AE2F36BA0E}" dt="2026-10-30T06:53:02.725" v="22" actId="20577"/>
        <pc:sldMkLst>
          <pc:docMk/>
          <pc:sldMk cId="0" sldId="256"/>
        </pc:sldMkLst>
        <pc:spChg chg="mod">
          <ac:chgData name="Nguyen Thanh Duoc" userId="68325f0a-cf52-4870-a2f2-a24a740c49e3" providerId="ADAL" clId="{9629B018-2FEF-46FF-93A3-09AE2F36BA0E}" dt="2026-10-30T01:49:27.333" v="17" actId="20577"/>
          <ac:spMkLst>
            <pc:docMk/>
            <pc:sldMk cId="0" sldId="256"/>
            <ac:spMk id="12" creationId="{00000000-0000-0000-0000-000000000000}"/>
          </ac:spMkLst>
        </pc:spChg>
        <pc:spChg chg="mod">
          <ac:chgData name="Nguyen Thanh Duoc" userId="68325f0a-cf52-4870-a2f2-a24a740c49e3" providerId="ADAL" clId="{9629B018-2FEF-46FF-93A3-09AE2F36BA0E}" dt="2026-10-30T06:53:02.725" v="22" actId="20577"/>
          <ac:spMkLst>
            <pc:docMk/>
            <pc:sldMk cId="0" sldId="256"/>
            <ac:spMk id="22" creationId="{00000000-0000-0000-0000-000000000000}"/>
          </ac:spMkLst>
        </pc:spChg>
      </pc:sldChg>
      <pc:sldChg chg="modSp mod">
        <pc:chgData name="Nguyen Thanh Duoc" userId="68325f0a-cf52-4870-a2f2-a24a740c49e3" providerId="ADAL" clId="{9629B018-2FEF-46FF-93A3-09AE2F36BA0E}" dt="2026-10-30T06:53:13.155" v="27" actId="20577"/>
        <pc:sldMkLst>
          <pc:docMk/>
          <pc:sldMk cId="0" sldId="257"/>
        </pc:sldMkLst>
        <pc:spChg chg="mod">
          <ac:chgData name="Nguyen Thanh Duoc" userId="68325f0a-cf52-4870-a2f2-a24a740c49e3" providerId="ADAL" clId="{9629B018-2FEF-46FF-93A3-09AE2F36BA0E}" dt="2026-10-30T06:53:13.155" v="27" actId="20577"/>
          <ac:spMkLst>
            <pc:docMk/>
            <pc:sldMk cId="0" sldId="257"/>
            <ac:spMk id="38" creationId="{00000000-0000-0000-0000-000000000000}"/>
          </ac:spMkLst>
        </pc:spChg>
      </pc:sldChg>
      <pc:sldChg chg="modSp mod">
        <pc:chgData name="Nguyen Thanh Duoc" userId="68325f0a-cf52-4870-a2f2-a24a740c49e3" providerId="ADAL" clId="{9629B018-2FEF-46FF-93A3-09AE2F36BA0E}" dt="2026-10-30T06:53:23.339" v="32" actId="20577"/>
        <pc:sldMkLst>
          <pc:docMk/>
          <pc:sldMk cId="0" sldId="258"/>
        </pc:sldMkLst>
        <pc:spChg chg="mod">
          <ac:chgData name="Nguyen Thanh Duoc" userId="68325f0a-cf52-4870-a2f2-a24a740c49e3" providerId="ADAL" clId="{9629B018-2FEF-46FF-93A3-09AE2F36BA0E}" dt="2026-10-30T06:53:23.339" v="32" actId="20577"/>
          <ac:spMkLst>
            <pc:docMk/>
            <pc:sldMk cId="0" sldId="258"/>
            <ac:spMk id="15" creationId="{00000000-0000-0000-0000-000000000000}"/>
          </ac:spMkLst>
        </pc:spChg>
      </pc:sldChg>
      <pc:sldChg chg="modSp mod">
        <pc:chgData name="Nguyen Thanh Duoc" userId="68325f0a-cf52-4870-a2f2-a24a740c49e3" providerId="ADAL" clId="{9629B018-2FEF-46FF-93A3-09AE2F36BA0E}" dt="2026-10-30T06:53:29.710" v="37" actId="20577"/>
        <pc:sldMkLst>
          <pc:docMk/>
          <pc:sldMk cId="0" sldId="259"/>
        </pc:sldMkLst>
        <pc:spChg chg="mod">
          <ac:chgData name="Nguyen Thanh Duoc" userId="68325f0a-cf52-4870-a2f2-a24a740c49e3" providerId="ADAL" clId="{9629B018-2FEF-46FF-93A3-09AE2F36BA0E}" dt="2026-10-30T06:53:29.710" v="37" actId="20577"/>
          <ac:spMkLst>
            <pc:docMk/>
            <pc:sldMk cId="0" sldId="259"/>
            <ac:spMk id="30" creationId="{00000000-0000-0000-0000-000000000000}"/>
          </ac:spMkLst>
        </pc:spChg>
      </pc:sldChg>
      <pc:sldChg chg="modSp mod">
        <pc:chgData name="Nguyen Thanh Duoc" userId="68325f0a-cf52-4870-a2f2-a24a740c49e3" providerId="ADAL" clId="{9629B018-2FEF-46FF-93A3-09AE2F36BA0E}" dt="2026-10-30T06:53:39.388" v="42" actId="20577"/>
        <pc:sldMkLst>
          <pc:docMk/>
          <pc:sldMk cId="0" sldId="260"/>
        </pc:sldMkLst>
        <pc:spChg chg="mod">
          <ac:chgData name="Nguyen Thanh Duoc" userId="68325f0a-cf52-4870-a2f2-a24a740c49e3" providerId="ADAL" clId="{9629B018-2FEF-46FF-93A3-09AE2F36BA0E}" dt="2026-10-30T06:53:39.388" v="42" actId="20577"/>
          <ac:spMkLst>
            <pc:docMk/>
            <pc:sldMk cId="0" sldId="260"/>
            <ac:spMk id="38" creationId="{00000000-0000-0000-0000-000000000000}"/>
          </ac:spMkLst>
        </pc:spChg>
      </pc:sldChg>
      <pc:sldChg chg="modSp mod">
        <pc:chgData name="Nguyen Thanh Duoc" userId="68325f0a-cf52-4870-a2f2-a24a740c49e3" providerId="ADAL" clId="{9629B018-2FEF-46FF-93A3-09AE2F36BA0E}" dt="2026-10-30T07:06:42.118" v="205" actId="20577"/>
        <pc:sldMkLst>
          <pc:docMk/>
          <pc:sldMk cId="0" sldId="261"/>
        </pc:sldMkLst>
        <pc:spChg chg="mod">
          <ac:chgData name="Nguyen Thanh Duoc" userId="68325f0a-cf52-4870-a2f2-a24a740c49e3" providerId="ADAL" clId="{9629B018-2FEF-46FF-93A3-09AE2F36BA0E}" dt="2026-10-30T07:06:42.118" v="205" actId="20577"/>
          <ac:spMkLst>
            <pc:docMk/>
            <pc:sldMk cId="0" sldId="261"/>
            <ac:spMk id="13" creationId="{00000000-0000-0000-0000-000000000000}"/>
          </ac:spMkLst>
        </pc:spChg>
        <pc:spChg chg="mod">
          <ac:chgData name="Nguyen Thanh Duoc" userId="68325f0a-cf52-4870-a2f2-a24a740c49e3" providerId="ADAL" clId="{9629B018-2FEF-46FF-93A3-09AE2F36BA0E}" dt="2026-10-30T07:06:16.871" v="171" actId="20577"/>
          <ac:spMkLst>
            <pc:docMk/>
            <pc:sldMk cId="0" sldId="261"/>
            <ac:spMk id="21" creationId="{00000000-0000-0000-0000-000000000000}"/>
          </ac:spMkLst>
        </pc:spChg>
        <pc:spChg chg="mod">
          <ac:chgData name="Nguyen Thanh Duoc" userId="68325f0a-cf52-4870-a2f2-a24a740c49e3" providerId="ADAL" clId="{9629B018-2FEF-46FF-93A3-09AE2F36BA0E}" dt="2026-10-30T06:53:46.509" v="47" actId="20577"/>
          <ac:spMkLst>
            <pc:docMk/>
            <pc:sldMk cId="0" sldId="261"/>
            <ac:spMk id="29" creationId="{00000000-0000-0000-0000-000000000000}"/>
          </ac:spMkLst>
        </pc:spChg>
      </pc:sldChg>
      <pc:sldChg chg="modSp mod">
        <pc:chgData name="Nguyen Thanh Duoc" userId="68325f0a-cf52-4870-a2f2-a24a740c49e3" providerId="ADAL" clId="{9629B018-2FEF-46FF-93A3-09AE2F36BA0E}" dt="2026-10-30T06:53:53.328" v="52" actId="20577"/>
        <pc:sldMkLst>
          <pc:docMk/>
          <pc:sldMk cId="0" sldId="262"/>
        </pc:sldMkLst>
        <pc:spChg chg="mod">
          <ac:chgData name="Nguyen Thanh Duoc" userId="68325f0a-cf52-4870-a2f2-a24a740c49e3" providerId="ADAL" clId="{9629B018-2FEF-46FF-93A3-09AE2F36BA0E}" dt="2026-10-30T06:53:53.328" v="52" actId="20577"/>
          <ac:spMkLst>
            <pc:docMk/>
            <pc:sldMk cId="0" sldId="262"/>
            <ac:spMk id="12" creationId="{00000000-0000-0000-0000-000000000000}"/>
          </ac:spMkLst>
        </pc:spChg>
      </pc:sldChg>
      <pc:sldChg chg="modSp mod">
        <pc:chgData name="Nguyen Thanh Duoc" userId="68325f0a-cf52-4870-a2f2-a24a740c49e3" providerId="ADAL" clId="{9629B018-2FEF-46FF-93A3-09AE2F36BA0E}" dt="2026-10-30T06:53:59.672" v="57" actId="20577"/>
        <pc:sldMkLst>
          <pc:docMk/>
          <pc:sldMk cId="0" sldId="263"/>
        </pc:sldMkLst>
        <pc:spChg chg="mod">
          <ac:chgData name="Nguyen Thanh Duoc" userId="68325f0a-cf52-4870-a2f2-a24a740c49e3" providerId="ADAL" clId="{9629B018-2FEF-46FF-93A3-09AE2F36BA0E}" dt="2026-10-30T06:53:59.672" v="57" actId="20577"/>
          <ac:spMkLst>
            <pc:docMk/>
            <pc:sldMk cId="0" sldId="263"/>
            <ac:spMk id="25" creationId="{00000000-0000-0000-0000-000000000000}"/>
          </ac:spMkLst>
        </pc:spChg>
      </pc:sldChg>
      <pc:sldChg chg="modSp mod">
        <pc:chgData name="Nguyen Thanh Duoc" userId="68325f0a-cf52-4870-a2f2-a24a740c49e3" providerId="ADAL" clId="{9629B018-2FEF-46FF-93A3-09AE2F36BA0E}" dt="2026-10-30T06:54:06.211" v="62" actId="20577"/>
        <pc:sldMkLst>
          <pc:docMk/>
          <pc:sldMk cId="0" sldId="264"/>
        </pc:sldMkLst>
        <pc:spChg chg="mod">
          <ac:chgData name="Nguyen Thanh Duoc" userId="68325f0a-cf52-4870-a2f2-a24a740c49e3" providerId="ADAL" clId="{9629B018-2FEF-46FF-93A3-09AE2F36BA0E}" dt="2026-10-30T06:54:06.211" v="62" actId="20577"/>
          <ac:spMkLst>
            <pc:docMk/>
            <pc:sldMk cId="0" sldId="264"/>
            <ac:spMk id="46" creationId="{00000000-0000-0000-0000-000000000000}"/>
          </ac:spMkLst>
        </pc:spChg>
      </pc:sldChg>
      <pc:sldChg chg="modSp mod">
        <pc:chgData name="Nguyen Thanh Duoc" userId="68325f0a-cf52-4870-a2f2-a24a740c49e3" providerId="ADAL" clId="{9629B018-2FEF-46FF-93A3-09AE2F36BA0E}" dt="2026-10-30T06:54:12.966" v="68" actId="20577"/>
        <pc:sldMkLst>
          <pc:docMk/>
          <pc:sldMk cId="0" sldId="265"/>
        </pc:sldMkLst>
        <pc:spChg chg="mod">
          <ac:chgData name="Nguyen Thanh Duoc" userId="68325f0a-cf52-4870-a2f2-a24a740c49e3" providerId="ADAL" clId="{9629B018-2FEF-46FF-93A3-09AE2F36BA0E}" dt="2026-10-30T06:54:12.966" v="68" actId="20577"/>
          <ac:spMkLst>
            <pc:docMk/>
            <pc:sldMk cId="0" sldId="265"/>
            <ac:spMk id="30" creationId="{00000000-0000-0000-0000-000000000000}"/>
          </ac:spMkLst>
        </pc:spChg>
      </pc:sldChg>
      <pc:sldChg chg="modSp mod">
        <pc:chgData name="Nguyen Thanh Duoc" userId="68325f0a-cf52-4870-a2f2-a24a740c49e3" providerId="ADAL" clId="{9629B018-2FEF-46FF-93A3-09AE2F36BA0E}" dt="2026-10-30T06:54:18.502" v="74" actId="20577"/>
        <pc:sldMkLst>
          <pc:docMk/>
          <pc:sldMk cId="0" sldId="266"/>
        </pc:sldMkLst>
        <pc:spChg chg="mod">
          <ac:chgData name="Nguyen Thanh Duoc" userId="68325f0a-cf52-4870-a2f2-a24a740c49e3" providerId="ADAL" clId="{9629B018-2FEF-46FF-93A3-09AE2F36BA0E}" dt="2026-10-30T06:54:18.502" v="74" actId="20577"/>
          <ac:spMkLst>
            <pc:docMk/>
            <pc:sldMk cId="0" sldId="266"/>
            <ac:spMk id="33" creationId="{00000000-0000-0000-0000-000000000000}"/>
          </ac:spMkLst>
        </pc:spChg>
      </pc:sldChg>
      <pc:sldChg chg="modSp mod">
        <pc:chgData name="Nguyen Thanh Duoc" userId="68325f0a-cf52-4870-a2f2-a24a740c49e3" providerId="ADAL" clId="{9629B018-2FEF-46FF-93A3-09AE2F36BA0E}" dt="2026-10-30T06:54:29.505" v="80" actId="20577"/>
        <pc:sldMkLst>
          <pc:docMk/>
          <pc:sldMk cId="0" sldId="267"/>
        </pc:sldMkLst>
        <pc:spChg chg="mod">
          <ac:chgData name="Nguyen Thanh Duoc" userId="68325f0a-cf52-4870-a2f2-a24a740c49e3" providerId="ADAL" clId="{9629B018-2FEF-46FF-93A3-09AE2F36BA0E}" dt="2026-10-30T06:54:29.505" v="80" actId="20577"/>
          <ac:spMkLst>
            <pc:docMk/>
            <pc:sldMk cId="0" sldId="267"/>
            <ac:spMk id="33" creationId="{00000000-0000-0000-0000-000000000000}"/>
          </ac:spMkLst>
        </pc:spChg>
      </pc:sldChg>
      <pc:sldChg chg="modSp mod">
        <pc:chgData name="Nguyen Thanh Duoc" userId="68325f0a-cf52-4870-a2f2-a24a740c49e3" providerId="ADAL" clId="{9629B018-2FEF-46FF-93A3-09AE2F36BA0E}" dt="2026-10-30T06:54:38.801" v="86" actId="20577"/>
        <pc:sldMkLst>
          <pc:docMk/>
          <pc:sldMk cId="0" sldId="268"/>
        </pc:sldMkLst>
        <pc:spChg chg="mod">
          <ac:chgData name="Nguyen Thanh Duoc" userId="68325f0a-cf52-4870-a2f2-a24a740c49e3" providerId="ADAL" clId="{9629B018-2FEF-46FF-93A3-09AE2F36BA0E}" dt="2026-10-30T06:54:38.801" v="86" actId="20577"/>
          <ac:spMkLst>
            <pc:docMk/>
            <pc:sldMk cId="0" sldId="268"/>
            <ac:spMk id="30" creationId="{00000000-0000-0000-0000-000000000000}"/>
          </ac:spMkLst>
        </pc:spChg>
      </pc:sldChg>
      <pc:sldChg chg="modSp mod">
        <pc:chgData name="Nguyen Thanh Duoc" userId="68325f0a-cf52-4870-a2f2-a24a740c49e3" providerId="ADAL" clId="{9629B018-2FEF-46FF-93A3-09AE2F36BA0E}" dt="2026-10-30T06:54:45.964" v="92" actId="20577"/>
        <pc:sldMkLst>
          <pc:docMk/>
          <pc:sldMk cId="0" sldId="269"/>
        </pc:sldMkLst>
        <pc:spChg chg="mod">
          <ac:chgData name="Nguyen Thanh Duoc" userId="68325f0a-cf52-4870-a2f2-a24a740c49e3" providerId="ADAL" clId="{9629B018-2FEF-46FF-93A3-09AE2F36BA0E}" dt="2026-10-30T06:54:45.964" v="92" actId="20577"/>
          <ac:spMkLst>
            <pc:docMk/>
            <pc:sldMk cId="0" sldId="269"/>
            <ac:spMk id="35" creationId="{00000000-0000-0000-0000-000000000000}"/>
          </ac:spMkLst>
        </pc:spChg>
      </pc:sldChg>
      <pc:sldChg chg="modSp mod">
        <pc:chgData name="Nguyen Thanh Duoc" userId="68325f0a-cf52-4870-a2f2-a24a740c49e3" providerId="ADAL" clId="{9629B018-2FEF-46FF-93A3-09AE2F36BA0E}" dt="2026-10-30T06:54:51.845" v="98" actId="20577"/>
        <pc:sldMkLst>
          <pc:docMk/>
          <pc:sldMk cId="0" sldId="270"/>
        </pc:sldMkLst>
        <pc:spChg chg="mod">
          <ac:chgData name="Nguyen Thanh Duoc" userId="68325f0a-cf52-4870-a2f2-a24a740c49e3" providerId="ADAL" clId="{9629B018-2FEF-46FF-93A3-09AE2F36BA0E}" dt="2026-10-30T06:54:51.845" v="98" actId="20577"/>
          <ac:spMkLst>
            <pc:docMk/>
            <pc:sldMk cId="0" sldId="270"/>
            <ac:spMk id="43" creationId="{00000000-0000-0000-0000-000000000000}"/>
          </ac:spMkLst>
        </pc:spChg>
      </pc:sldChg>
      <pc:sldChg chg="modSp mod">
        <pc:chgData name="Nguyen Thanh Duoc" userId="68325f0a-cf52-4870-a2f2-a24a740c49e3" providerId="ADAL" clId="{9629B018-2FEF-46FF-93A3-09AE2F36BA0E}" dt="2026-10-30T06:55:01.554" v="104" actId="20577"/>
        <pc:sldMkLst>
          <pc:docMk/>
          <pc:sldMk cId="0" sldId="271"/>
        </pc:sldMkLst>
        <pc:spChg chg="mod">
          <ac:chgData name="Nguyen Thanh Duoc" userId="68325f0a-cf52-4870-a2f2-a24a740c49e3" providerId="ADAL" clId="{9629B018-2FEF-46FF-93A3-09AE2F36BA0E}" dt="2026-10-30T06:55:01.554" v="104" actId="20577"/>
          <ac:spMkLst>
            <pc:docMk/>
            <pc:sldMk cId="0" sldId="271"/>
            <ac:spMk id="23" creationId="{00000000-0000-0000-0000-000000000000}"/>
          </ac:spMkLst>
        </pc:spChg>
      </pc:sldChg>
      <pc:sldChg chg="modSp mod">
        <pc:chgData name="Nguyen Thanh Duoc" userId="68325f0a-cf52-4870-a2f2-a24a740c49e3" providerId="ADAL" clId="{9629B018-2FEF-46FF-93A3-09AE2F36BA0E}" dt="2026-10-30T06:55:22.440" v="110" actId="20577"/>
        <pc:sldMkLst>
          <pc:docMk/>
          <pc:sldMk cId="0" sldId="272"/>
        </pc:sldMkLst>
        <pc:spChg chg="mod">
          <ac:chgData name="Nguyen Thanh Duoc" userId="68325f0a-cf52-4870-a2f2-a24a740c49e3" providerId="ADAL" clId="{9629B018-2FEF-46FF-93A3-09AE2F36BA0E}" dt="2026-10-30T06:55:22.440" v="110" actId="20577"/>
          <ac:spMkLst>
            <pc:docMk/>
            <pc:sldMk cId="0" sldId="272"/>
            <ac:spMk id="42" creationId="{00000000-0000-0000-0000-000000000000}"/>
          </ac:spMkLst>
        </pc:spChg>
      </pc:sldChg>
      <pc:sldChg chg="modSp mod">
        <pc:chgData name="Nguyen Thanh Duoc" userId="68325f0a-cf52-4870-a2f2-a24a740c49e3" providerId="ADAL" clId="{9629B018-2FEF-46FF-93A3-09AE2F36BA0E}" dt="2026-10-30T06:55:30.248" v="116" actId="20577"/>
        <pc:sldMkLst>
          <pc:docMk/>
          <pc:sldMk cId="0" sldId="273"/>
        </pc:sldMkLst>
        <pc:spChg chg="mod">
          <ac:chgData name="Nguyen Thanh Duoc" userId="68325f0a-cf52-4870-a2f2-a24a740c49e3" providerId="ADAL" clId="{9629B018-2FEF-46FF-93A3-09AE2F36BA0E}" dt="2026-10-30T06:55:30.248" v="116" actId="20577"/>
          <ac:spMkLst>
            <pc:docMk/>
            <pc:sldMk cId="0" sldId="273"/>
            <ac:spMk id="16" creationId="{00000000-0000-0000-0000-000000000000}"/>
          </ac:spMkLst>
        </pc:spChg>
      </pc:sldChg>
      <pc:sldChg chg="modSp mod">
        <pc:chgData name="Nguyen Thanh Duoc" userId="68325f0a-cf52-4870-a2f2-a24a740c49e3" providerId="ADAL" clId="{9629B018-2FEF-46FF-93A3-09AE2F36BA0E}" dt="2026-10-30T06:55:35.928" v="122" actId="20577"/>
        <pc:sldMkLst>
          <pc:docMk/>
          <pc:sldMk cId="0" sldId="274"/>
        </pc:sldMkLst>
        <pc:spChg chg="mod">
          <ac:chgData name="Nguyen Thanh Duoc" userId="68325f0a-cf52-4870-a2f2-a24a740c49e3" providerId="ADAL" clId="{9629B018-2FEF-46FF-93A3-09AE2F36BA0E}" dt="2026-10-30T06:55:35.928" v="122" actId="20577"/>
          <ac:spMkLst>
            <pc:docMk/>
            <pc:sldMk cId="0" sldId="274"/>
            <ac:spMk id="51" creationId="{00000000-0000-0000-0000-000000000000}"/>
          </ac:spMkLst>
        </pc:spChg>
      </pc:sldChg>
      <pc:sldChg chg="modSp mod">
        <pc:chgData name="Nguyen Thanh Duoc" userId="68325f0a-cf52-4870-a2f2-a24a740c49e3" providerId="ADAL" clId="{9629B018-2FEF-46FF-93A3-09AE2F36BA0E}" dt="2026-10-30T06:55:42.619" v="128" actId="20577"/>
        <pc:sldMkLst>
          <pc:docMk/>
          <pc:sldMk cId="0" sldId="275"/>
        </pc:sldMkLst>
        <pc:spChg chg="mod">
          <ac:chgData name="Nguyen Thanh Duoc" userId="68325f0a-cf52-4870-a2f2-a24a740c49e3" providerId="ADAL" clId="{9629B018-2FEF-46FF-93A3-09AE2F36BA0E}" dt="2026-10-30T06:55:42.619" v="128" actId="20577"/>
          <ac:spMkLst>
            <pc:docMk/>
            <pc:sldMk cId="0" sldId="275"/>
            <ac:spMk id="25" creationId="{00000000-0000-0000-0000-000000000000}"/>
          </ac:spMkLst>
        </pc:spChg>
      </pc:sldChg>
      <pc:sldChg chg="modSp mod">
        <pc:chgData name="Nguyen Thanh Duoc" userId="68325f0a-cf52-4870-a2f2-a24a740c49e3" providerId="ADAL" clId="{9629B018-2FEF-46FF-93A3-09AE2F36BA0E}" dt="2026-10-30T06:55:49.503" v="134" actId="20577"/>
        <pc:sldMkLst>
          <pc:docMk/>
          <pc:sldMk cId="0" sldId="276"/>
        </pc:sldMkLst>
        <pc:spChg chg="mod">
          <ac:chgData name="Nguyen Thanh Duoc" userId="68325f0a-cf52-4870-a2f2-a24a740c49e3" providerId="ADAL" clId="{9629B018-2FEF-46FF-93A3-09AE2F36BA0E}" dt="2026-10-30T06:55:49.503" v="134" actId="20577"/>
          <ac:spMkLst>
            <pc:docMk/>
            <pc:sldMk cId="0" sldId="276"/>
            <ac:spMk id="32" creationId="{00000000-0000-0000-0000-000000000000}"/>
          </ac:spMkLst>
        </pc:spChg>
      </pc:sldChg>
      <pc:sldChg chg="modSp mod">
        <pc:chgData name="Nguyen Thanh Duoc" userId="68325f0a-cf52-4870-a2f2-a24a740c49e3" providerId="ADAL" clId="{9629B018-2FEF-46FF-93A3-09AE2F36BA0E}" dt="2026-10-30T06:55:55.833" v="140" actId="20577"/>
        <pc:sldMkLst>
          <pc:docMk/>
          <pc:sldMk cId="0" sldId="277"/>
        </pc:sldMkLst>
        <pc:spChg chg="mod">
          <ac:chgData name="Nguyen Thanh Duoc" userId="68325f0a-cf52-4870-a2f2-a24a740c49e3" providerId="ADAL" clId="{9629B018-2FEF-46FF-93A3-09AE2F36BA0E}" dt="2026-10-30T06:55:55.833" v="140" actId="20577"/>
          <ac:spMkLst>
            <pc:docMk/>
            <pc:sldMk cId="0" sldId="277"/>
            <ac:spMk id="20" creationId="{00000000-0000-0000-0000-000000000000}"/>
          </ac:spMkLst>
        </pc:spChg>
      </pc:sldChg>
      <pc:sldChg chg="modSp mod">
        <pc:chgData name="Nguyen Thanh Duoc" userId="68325f0a-cf52-4870-a2f2-a24a740c49e3" providerId="ADAL" clId="{9629B018-2FEF-46FF-93A3-09AE2F36BA0E}" dt="2026-10-30T06:56:02.578" v="146" actId="20577"/>
        <pc:sldMkLst>
          <pc:docMk/>
          <pc:sldMk cId="0" sldId="278"/>
        </pc:sldMkLst>
        <pc:spChg chg="mod">
          <ac:chgData name="Nguyen Thanh Duoc" userId="68325f0a-cf52-4870-a2f2-a24a740c49e3" providerId="ADAL" clId="{9629B018-2FEF-46FF-93A3-09AE2F36BA0E}" dt="2026-10-30T06:56:02.578" v="146" actId="20577"/>
          <ac:spMkLst>
            <pc:docMk/>
            <pc:sldMk cId="0" sldId="278"/>
            <ac:spMk id="31" creationId="{00000000-0000-0000-0000-000000000000}"/>
          </ac:spMkLst>
        </pc:spChg>
      </pc:sldChg>
      <pc:sldChg chg="modSp mod">
        <pc:chgData name="Nguyen Thanh Duoc" userId="68325f0a-cf52-4870-a2f2-a24a740c49e3" providerId="ADAL" clId="{9629B018-2FEF-46FF-93A3-09AE2F36BA0E}" dt="2026-10-30T06:56:07.930" v="152" actId="20577"/>
        <pc:sldMkLst>
          <pc:docMk/>
          <pc:sldMk cId="0" sldId="279"/>
        </pc:sldMkLst>
        <pc:spChg chg="mod">
          <ac:chgData name="Nguyen Thanh Duoc" userId="68325f0a-cf52-4870-a2f2-a24a740c49e3" providerId="ADAL" clId="{9629B018-2FEF-46FF-93A3-09AE2F36BA0E}" dt="2026-10-30T06:56:07.930" v="152" actId="20577"/>
          <ac:spMkLst>
            <pc:docMk/>
            <pc:sldMk cId="0" sldId="279"/>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29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Placeholders in brackets (course, instructor, member names and IDs) must be filled in by the team. Open with the question on the right: what if a model detects fraud accurately but still costs the bank money? That question drives the whole project. Source for the dataset facts: Notebook intro and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Five stops, not a table of contents. Each stop answers part of one question: can we detect fraud accurately, reliably and profitably? Takeaway: every later slide answers one of these three words. Quote: we do not stop at prediction, we evaluate decisions. Transition: to see why, start with a surprising number.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Show 98.72% large, then let the 0 appear. Train fraud rate is 1.28%, so predicting legitimate for everything gives 98.72% accuracy and zero detected frauds (Notebook §3.1). Ask the audience the question. Takeaway: accuracy is the wrong lens here; the project uses PR-AUC, F1 and dollars saved instead. Transition: so what does the dataset actually look like?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594,643 transactions, 7,200 frauds (1.21% overall), 180 time steps. Split by time: Train steps 0–119 (374,914 rows), Validation steps 120–149 (108,423), Test steps 150–179 (111,306), locked until the end. Customers appear in all splits, like a real bank, but time is never reversed. The step column is converted into row boundaries and then dropped from the features. Takeaway: validation must mimic the future. Transition: now explore only the Train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Both figures come from the Train set only: 1.28% of transactions are fraud, but they carry 18.0% of the total transaction value. The two main bars share one 0–20% scale so the gap is honest. The side panel re-draws the notebook's §3.1 chart in English: 370,114 legitimate vs 4,800 fraud transactions, and about $11.8M vs $2.6M in value. Quote: rare does not mean insignificant. Transition: if fraud matters this much, what patterns does it leave?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Train averages: fraud $537.03 vs legitimate $31.82. The top 5 merchants hold 60% of fraud cases, and 30 of 50 merchants have at least one fraud. The strong merchant signal is also a deployment risk: a model that memorizes merchant IDs cannot score new merchants and fraudsters can switch merchants. We measure this dependence later with an ablation. The bars are drawn to scale from the Notebook figures in §3.3 and §3.5. Transition: how do these observations shape the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is not a second EDA table: each row is a design decision. Deliberately excluded: customer ID (one-hot would memorize), step, and a "customer was defrauded before" flag, because fraud labels arrive late in real life, which would be hidden leakage. Takeaway: every feature traces to an observation. Transition: now the behavioral features themselves.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Each transaction is compared with that customer's own past: amount relative to the customer's prior mean and prior max, number of prior transactions, and whether the merchant or category is new. The left diagram is an illustration of the logic, not a real customer. Evidence is the Train class averages from Notebook §4: for example a new merchant appears in 53.6% of frauds vs 8.1% of legitimate transactions. Quote: the same amount can be normal for one customer and unusual for another. Transition: such features are powerful, so we must prove they do not leak the future.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65 seconds. One of the most academically valuable slides. Wrong: use statistics from the whole history, including transactions that happen later. Right: each transaction sees only its past. Evidence in the notebook: a leakage audit at 3 cut-points showing the past-only feature equals the feature computed on the full series, plus an assertion that adding Test rows leaves Train/Val features unchanged. The dots are an illustration of the idea. Transition: with clean features, introduce the models.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Three algorithms with different strengths, plus two honest baselines: a price rule and a category rule. All share the same preprocessing, fit on Train only. The SVM is trained on a 44,800-row under-sampled Train subset to control computation cost; its threshold is re-calibrated on Validation. No math formulas needed. Quote: if machine learning cannot beat a simple rule, why deploy it? Transition: now test whether the behavioral features help.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65 seconds. Left: PR-AUC on Validation before and after adding behavioral features, using default hyperparameters (Notebook §5.2). Deltas come straight from the notebook table: LR +0.0178, SVM +0.0074, Decision Tree +0.0142. Because every model improved, the signal is real rather than specific to one algorithm. Right: best configuration per model from the small grid in §5.3. Differences of a few thousandths between configurations are noise. Class weight "balanced" lowered PR-AUC for Logistic Regression and the tree. Transition: compare tuned models on Validation.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Validation PR-AUC: SVM 0.9235, Logistic 0.9073, Decision Tree 0.8711, price rule 0.7054, category rule 0.4604. The SVM is selected by Validation PR-AUC, never by Test. PR-AUC is preferred because labels are imbalanced; the team also tuned separate thresholds for F1 and for financial cost. Warning: because hyperparameters, features and thresholds were tuned on Validation, these numbers are optimistic. Quote: selection happens on Validation, confirmation happens on Test. Transition: before opening Test, ask what the model learned.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Left: the five largest Decision Tree importances from the saved chart in §6.2; values are approximate readings of the bars. Do not present this as the SVM's explanation: the SVM RBF has no direct coefficients. Right: ablation on Validation PR-AUC with best hyperparameters fixed. Removing merchant hurts every model (SVM −0.0544, LR −0.0756, tree −0.0393): in a simulation this may reflect how fraud was injected, and real-world performance would be lower. Removing behavioral features hurts the SVM and LR by about 0.017. Removing age and gender changes nothing, so drop them for simplicity and fairness. Transition: now freeze the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Everything is decided on Train and Validation: features, hyperparameters, the selected model and both decision thresholds. Only then is Test opened, exactly once (Notebook §7): 111,306 transactions, 1,200 frauds and $601,463 of potential loss without a model. Quote: the Test set is a judge, not a teacher. Transition: what did the judge say?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These are Test results for all three models and both baselines. PR-AUC: SVM 0.9226, Logistic 0.9129, Decision Tree 0.8680, price rule 0.7036, category rule 0.4641. F1: 0.8390, 0.8356, 0.8072, 0.6689, 0.5307. The SVM leads, but the gap to Logistic Regression is small and must be read together with the confidence interval and operating cost: Logistic is simpler and cheaper to run. Financial impact is on its own slide so this chart stays readable. Quote: the winning model must prove itself on unseen data. Transition: before money, examine the mistakes.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This is Validation error analysis (Notebook §6.1), not Test errors. At the cost-optimal threshold the SVM missed 49 of 1,200 frauds worth $3,781 and raised 677 false alerts. The table shows the six categories with the largest missed dollar value. The median missed fraud is $65 versus $336 for caught fraud, so misses are mostly small. False alerts cost review effort and annoy honest customers. Transition: put these errors into dollars.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85 seconds. The most important slide of the results. Without detection the Test loss is $601,463. The selected SVM nets $589,769 after $5 per alert and 100% effectiveness assumed for flagged fraud, with only 1,831 alerts. The price rule already saves $573,694, so the real value of ML is the improvement over that strong baseline: about $16,075. The category rule needs 8,533 alerts and review cost of $42,665. Logistic Regression is only about $933 behind the SVM. This is a simulation under assumed costs, not realized profit. Transition: how reliable is this gap?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Test is one 30-day window, so we resample 30 consecutive time blocks instead of single rows, because same-day transactions are correlated. The SVM's PR-AUC 95% interval is 0.9109 to 0.9347. Do not rely on two separate intervals; use the paired differences. SVM versus price rule and versus tree: clearly better. SVM versus Logistic: PR-AUC difference +0.0098 with a CI that just excludes zero, but the F1 difference of +0.0031 has a CI that includes zero, so there is no basis to claim SVM is better on F1. Net-savings difference vs the price rule is the bootstrap mean ($16,059); the point estimate on slide 17 is $16,075. Given similar performance, consider simplicity and operating cost. Transition: stress test.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Left: Notebook §8.3 table (b), the SVM's net-savings advantage over the strongest baseline (price rule) when review cost ranges from $1 to $50 per alert and prevention effectiveness from 50% to 100%. It is positive in all 20 cells, from $5,504 to $92,080; the base case ($5, 100%) is $16,075. Right: §8.4 hard subset — only the 9.4% of Test rows in categories that had fraud in Train, where the fraud rate is 11.46%. All Test frauds fall in these categories, so PR-AUC barely moves, but ROC-AUC drops (SVM 0.9986 overall to 0.9848), showing the real difficulty. Limitations: simulated data, assumed costs, possible dependence on merchant ID. Do not claim real-world savings. Transition: conclusion.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Three ideas, not a recap of every number. Prediction: SVM Test PR-AUC 0.9226. Validation: time split, leakage audit, locked Test. Business: $589,769 net savings on Test, in simulation. Remind the audience of the caveats: simulated data, assumed $5 alert cost and 100% prevention, and a small edge over Logistic Regression. Next steps from Notebook §9: refit on Train+Val, gradient boosting, time-window features, probability calibration, thresholds by review capacity, drift monitoring. Close with the quote, then open Q&amp;A. Backup slides B1–B4 are ready.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only if asked about data quality, the time split or drift. All figures from Notebook §2 and §3.8. Test counts stay locked in the notebook's split table; the Test frauds (1,200) are revealed on slide 14.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only for tuning questions. Four best configurations per model from the Validation grid (Notebook §5.3). Grids are deliberately small; differences of a few thousandths are noise. SMOTE and random k-fold were deliberately not used: they would create unrealistic synthetic transactions or leak the future.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only for questions about errors, interpretability or merchant dependence. The confusion matrix uses the notebook's counts (49 missed, 677 false alerts, 1,200 frauds) and derived complements. Ablation values are Validation PR-AUC from Notebook §6.3. Feature importance and coefficients are approximate readings from the saved charts in §6.2; the tree and logistic regression do not explain the SVM directly.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only for statistical or financial robustness questions. Full paired bootstrap table from Notebook §8.2 (net saved differences are bootstrap means in dollars), plus alert counts and review costs from the Test results table. Sensitivity (§8.3) and hard subset (§8.4) are on slide 19.</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363220"/>
          </a:xfrm>
          <a:prstGeom prst="rect">
            <a:avLst/>
          </a:prstGeom>
          <a:noFill/>
          <a:ln/>
        </p:spPr>
        <p:txBody>
          <a:bodyPr wrap="square" lIns="0" tIns="0" rIns="0" bIns="0" rtlCol="0" anchor="t"/>
          <a:lstStyle>
            <a:lvl1pPr marL="0" indent="0" algn="l">
              <a:lnSpc>
                <a:spcPct val="115000"/>
              </a:lnSpc>
              <a:buNone/>
              <a:defRPr lang="en-US" sz="2600" dirty="0">
                <a:solidFill>
                  <a:srgbClr val="10202E"/>
                </a:solidFill>
                <a:latin typeface="DM Sans" pitchFamily="34" charset="0"/>
                <a:ea typeface="DM Sans" pitchFamily="34" charset="-122"/>
                <a:cs typeface="DM Sans"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770381"/>
            <a:ext cx="10566400" cy="4274819"/>
          </a:xfrm>
          <a:prstGeom prst="rect">
            <a:avLst/>
          </a:prstGeom>
          <a:noFill/>
          <a:ln/>
        </p:spPr>
        <p:txBody>
          <a:bodyPr wrap="square" lIns="0" tIns="0" rIns="0" bIns="0" rtlCol="0" anchor="t"/>
          <a:lstStyle>
            <a:lvl1pPr marL="0" indent="0" algn="l">
              <a:lnSpc>
                <a:spcPct val="140000"/>
              </a:lnSpc>
              <a:buNone/>
              <a:defRPr lang="en-US" sz="1600" dirty="0">
                <a:solidFill>
                  <a:srgbClr val="10202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363220"/>
          </a:xfrm>
          <a:prstGeom prst="rect">
            <a:avLst/>
          </a:prstGeom>
          <a:noFill/>
          <a:ln/>
        </p:spPr>
        <p:txBody>
          <a:bodyPr wrap="square" lIns="0" tIns="0" rIns="0" bIns="0" rtlCol="0" anchor="t"/>
          <a:lstStyle>
            <a:lvl1pPr marL="0" indent="0" algn="l">
              <a:lnSpc>
                <a:spcPct val="115000"/>
              </a:lnSpc>
              <a:buNone/>
              <a:defRPr lang="en-US" sz="2600" dirty="0">
                <a:solidFill>
                  <a:srgbClr val="10202E"/>
                </a:solidFill>
                <a:latin typeface="DM Sans" pitchFamily="34" charset="0"/>
                <a:ea typeface="DM Sans" pitchFamily="34" charset="-122"/>
                <a:cs typeface="DM Sans"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1770381"/>
            <a:ext cx="10566400" cy="4274819"/>
          </a:xfrm>
          <a:prstGeom prst="rect">
            <a:avLst/>
          </a:prstGeom>
          <a:noFill/>
          <a:ln/>
        </p:spPr>
        <p:txBody>
          <a:bodyPr wrap="square" lIns="0" tIns="0" rIns="0" bIns="0" rtlCol="0" anchor="t"/>
          <a:lstStyle>
            <a:lvl1pPr marL="0" indent="0" algn="l">
              <a:lnSpc>
                <a:spcPct val="140000"/>
              </a:lnSpc>
              <a:buNone/>
              <a:defRPr lang="en-US" sz="1600" dirty="0">
                <a:solidFill>
                  <a:srgbClr val="10202E"/>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2E"/>
        </a:solidFill>
        <a:effectLst/>
      </p:bgPr>
    </p:bg>
    <p:spTree>
      <p:nvGrpSpPr>
        <p:cNvPr id="1" name=""/>
        <p:cNvGrpSpPr/>
        <p:nvPr/>
      </p:nvGrpSpPr>
      <p:grpSpPr>
        <a:xfrm>
          <a:off x="0" y="0"/>
          <a:ext cx="0" cy="0"/>
          <a:chOff x="0" y="0"/>
          <a:chExt cx="0" cy="0"/>
        </a:xfrm>
      </p:grpSpPr>
      <p:sp>
        <p:nvSpPr>
          <p:cNvPr id="2" name="Text 0"/>
          <p:cNvSpPr/>
          <p:nvPr/>
        </p:nvSpPr>
        <p:spPr>
          <a:xfrm>
            <a:off x="812800" y="966470"/>
            <a:ext cx="706374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8A5C"/>
                </a:solidFill>
                <a:latin typeface="DM Sans" pitchFamily="34" charset="0"/>
                <a:ea typeface="DM Sans" pitchFamily="34" charset="-122"/>
                <a:cs typeface="DM Sans" pitchFamily="34" charset="-120"/>
              </a:rPr>
              <a:t>DATA SCIENCE PROJECT · BANKSIM DATASET</a:t>
            </a:r>
            <a:endParaRPr lang="en-US" sz="1200" dirty="0"/>
          </a:p>
        </p:txBody>
      </p:sp>
      <p:sp>
        <p:nvSpPr>
          <p:cNvPr id="3" name="Text 1"/>
          <p:cNvSpPr>
            <a:spLocks noGrp="1"/>
          </p:cNvSpPr>
          <p:nvPr>
            <p:ph type="title"/>
          </p:nvPr>
        </p:nvSpPr>
        <p:spPr>
          <a:xfrm>
            <a:off x="812800" y="1306830"/>
            <a:ext cx="7063740" cy="13055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5F2EC"/>
                </a:solidFill>
                <a:latin typeface="DM Sans" pitchFamily="34" charset="0"/>
                <a:ea typeface="DM Sans" pitchFamily="34" charset="-122"/>
                <a:cs typeface="DM Sans" pitchFamily="34" charset="-120"/>
              </a:rPr>
              <a:t>Fraud Detection with Machine Learning</a:t>
            </a:r>
            <a:endParaRPr lang="en-US" sz="4800" dirty="0"/>
          </a:p>
        </p:txBody>
      </p:sp>
      <p:sp>
        <p:nvSpPr>
          <p:cNvPr id="4" name="Text 2"/>
          <p:cNvSpPr/>
          <p:nvPr/>
        </p:nvSpPr>
        <p:spPr>
          <a:xfrm>
            <a:off x="812800" y="2713990"/>
            <a:ext cx="706374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6FC1EA"/>
                </a:solidFill>
                <a:latin typeface="DM Sans" pitchFamily="34" charset="0"/>
                <a:ea typeface="DM Sans" pitchFamily="34" charset="-122"/>
                <a:cs typeface="DM Sans" pitchFamily="34" charset="-120"/>
              </a:rPr>
              <a:t>From Transaction Data to Financial Impact</a:t>
            </a:r>
            <a:endParaRPr lang="en-US" sz="2000" dirty="0"/>
          </a:p>
        </p:txBody>
      </p:sp>
      <p:sp>
        <p:nvSpPr>
          <p:cNvPr id="5" name="Shape 3"/>
          <p:cNvSpPr/>
          <p:nvPr/>
        </p:nvSpPr>
        <p:spPr>
          <a:xfrm>
            <a:off x="8077200" y="812800"/>
            <a:ext cx="3302000" cy="2410460"/>
          </a:xfrm>
          <a:prstGeom prst="roundRect">
            <a:avLst>
              <a:gd name="adj" fmla="val 6322"/>
            </a:avLst>
          </a:prstGeom>
          <a:solidFill>
            <a:srgbClr val="1B3147"/>
          </a:solidFill>
          <a:ln/>
        </p:spPr>
        <p:txBody>
          <a:bodyPr/>
          <a:lstStyle/>
          <a:p>
            <a:endParaRPr lang="en-US"/>
          </a:p>
        </p:txBody>
      </p:sp>
      <p:sp>
        <p:nvSpPr>
          <p:cNvPr id="6" name="Shape 4"/>
          <p:cNvSpPr/>
          <p:nvPr/>
        </p:nvSpPr>
        <p:spPr>
          <a:xfrm>
            <a:off x="8077200" y="812800"/>
            <a:ext cx="3302000" cy="2410460"/>
          </a:xfrm>
          <a:custGeom>
            <a:avLst/>
            <a:gdLst/>
            <a:ahLst/>
            <a:cxnLst/>
            <a:rect l="l" t="t" r="r" b="b"/>
            <a:pathLst>
              <a:path w="3302000" h="2410460">
                <a:moveTo>
                  <a:pt x="152400" y="2410460"/>
                </a:moveTo>
                <a:lnTo>
                  <a:pt x="152400" y="2410460"/>
                </a:lnTo>
                <a:arcTo wR="152400" hR="152400" stAng="5400000" swAng="5400000"/>
                <a:lnTo>
                  <a:pt x="0" y="152400"/>
                </a:lnTo>
                <a:arcTo wR="152400" hR="152400" stAng="10800000" swAng="5400000"/>
                <a:lnTo>
                  <a:pt x="152400" y="0"/>
                </a:lnTo>
                <a:arcTo wR="101600" hR="152400" stAng="16200000" swAng="-5400000"/>
                <a:lnTo>
                  <a:pt x="50800" y="2258060"/>
                </a:lnTo>
                <a:arcTo wR="101600" hR="152400" stAng="10800000" swAng="-5400000"/>
                <a:close/>
              </a:path>
            </a:pathLst>
          </a:custGeom>
          <a:solidFill>
            <a:srgbClr val="FF8A5C"/>
          </a:solidFill>
          <a:ln/>
        </p:spPr>
        <p:txBody>
          <a:bodyPr/>
          <a:lstStyle/>
          <a:p>
            <a:endParaRPr lang="en-US"/>
          </a:p>
        </p:txBody>
      </p:sp>
      <p:sp>
        <p:nvSpPr>
          <p:cNvPr id="7" name="Text 5"/>
          <p:cNvSpPr/>
          <p:nvPr/>
        </p:nvSpPr>
        <p:spPr>
          <a:xfrm>
            <a:off x="8382000" y="1066800"/>
            <a:ext cx="282549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START WITH A QUESTION</a:t>
            </a:r>
            <a:endParaRPr lang="en-US" sz="1200" dirty="0"/>
          </a:p>
        </p:txBody>
      </p:sp>
      <p:sp>
        <p:nvSpPr>
          <p:cNvPr id="8" name="Text 6"/>
          <p:cNvSpPr/>
          <p:nvPr/>
        </p:nvSpPr>
        <p:spPr>
          <a:xfrm>
            <a:off x="8382000" y="1381760"/>
            <a:ext cx="2825496" cy="1612900"/>
          </a:xfrm>
          <a:prstGeom prst="rect">
            <a:avLst/>
          </a:prstGeom>
          <a:noFill/>
          <a:ln/>
        </p:spPr>
        <p:txBody>
          <a:bodyPr wrap="square" lIns="0" tIns="0" rIns="0" bIns="0" rtlCol="0" anchor="t">
            <a:normAutofit/>
          </a:bodyPr>
          <a:lstStyle/>
          <a:p>
            <a:pPr marL="0" indent="0" algn="l">
              <a:lnSpc>
                <a:spcPts val="2500"/>
              </a:lnSpc>
              <a:buNone/>
            </a:pPr>
            <a:r>
              <a:rPr lang="en-US" sz="2000" i="1" dirty="0">
                <a:solidFill>
                  <a:srgbClr val="F5F2EC"/>
                </a:solidFill>
                <a:latin typeface="DM Sans" pitchFamily="34" charset="0"/>
                <a:ea typeface="DM Sans" pitchFamily="34" charset="-122"/>
                <a:cs typeface="DM Sans" pitchFamily="34" charset="-120"/>
              </a:rPr>
              <a:t>What if a model detects fraud accurately — but still costs the bank money?</a:t>
            </a:r>
            <a:endParaRPr lang="en-US" sz="2000" dirty="0"/>
          </a:p>
        </p:txBody>
      </p:sp>
      <p:sp>
        <p:nvSpPr>
          <p:cNvPr id="9" name="Shape 7"/>
          <p:cNvSpPr/>
          <p:nvPr/>
        </p:nvSpPr>
        <p:spPr>
          <a:xfrm>
            <a:off x="812800" y="4673600"/>
            <a:ext cx="3420507" cy="1168400"/>
          </a:xfrm>
          <a:prstGeom prst="roundRect">
            <a:avLst>
              <a:gd name="adj" fmla="val 8696"/>
            </a:avLst>
          </a:prstGeom>
          <a:solidFill>
            <a:srgbClr val="1B3147"/>
          </a:solidFill>
          <a:ln/>
        </p:spPr>
        <p:txBody>
          <a:bodyPr/>
          <a:lstStyle/>
          <a:p>
            <a:endParaRPr lang="en-US"/>
          </a:p>
        </p:txBody>
      </p:sp>
      <p:sp>
        <p:nvSpPr>
          <p:cNvPr id="10" name="Text 8"/>
          <p:cNvSpPr/>
          <p:nvPr/>
        </p:nvSpPr>
        <p:spPr>
          <a:xfrm>
            <a:off x="990600" y="4851400"/>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DATA ANALYSIS</a:t>
            </a:r>
            <a:endParaRPr lang="en-US" sz="1200" dirty="0"/>
          </a:p>
        </p:txBody>
      </p:sp>
      <p:sp>
        <p:nvSpPr>
          <p:cNvPr id="11" name="Text 9"/>
          <p:cNvSpPr/>
          <p:nvPr/>
        </p:nvSpPr>
        <p:spPr>
          <a:xfrm>
            <a:off x="990600" y="5115560"/>
            <a:ext cx="315685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2EC"/>
                </a:solidFill>
                <a:latin typeface="DM Sans" pitchFamily="34" charset="0"/>
                <a:ea typeface="DM Sans" pitchFamily="34" charset="-122"/>
                <a:cs typeface="DM Sans" pitchFamily="34" charset="-120"/>
              </a:rPr>
              <a:t>[TRAN DINH QUANG ANH]</a:t>
            </a:r>
            <a:endParaRPr lang="en-US" sz="1600" dirty="0"/>
          </a:p>
        </p:txBody>
      </p:sp>
      <p:sp>
        <p:nvSpPr>
          <p:cNvPr id="12" name="Text 10"/>
          <p:cNvSpPr/>
          <p:nvPr/>
        </p:nvSpPr>
        <p:spPr>
          <a:xfrm>
            <a:off x="990600" y="5450840"/>
            <a:ext cx="315685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[11247140]</a:t>
            </a:r>
            <a:endParaRPr lang="en-US" sz="1200" dirty="0"/>
          </a:p>
        </p:txBody>
      </p:sp>
      <p:sp>
        <p:nvSpPr>
          <p:cNvPr id="13" name="Shape 11"/>
          <p:cNvSpPr/>
          <p:nvPr/>
        </p:nvSpPr>
        <p:spPr>
          <a:xfrm>
            <a:off x="4385707" y="4673600"/>
            <a:ext cx="3420586" cy="1168400"/>
          </a:xfrm>
          <a:prstGeom prst="roundRect">
            <a:avLst>
              <a:gd name="adj" fmla="val 8696"/>
            </a:avLst>
          </a:prstGeom>
          <a:solidFill>
            <a:srgbClr val="1B3147"/>
          </a:solidFill>
          <a:ln/>
        </p:spPr>
        <p:txBody>
          <a:bodyPr/>
          <a:lstStyle/>
          <a:p>
            <a:endParaRPr lang="en-US"/>
          </a:p>
        </p:txBody>
      </p:sp>
      <p:sp>
        <p:nvSpPr>
          <p:cNvPr id="14" name="Text 12"/>
          <p:cNvSpPr/>
          <p:nvPr/>
        </p:nvSpPr>
        <p:spPr>
          <a:xfrm>
            <a:off x="4563507" y="4851400"/>
            <a:ext cx="315693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MODEL DEVELOPMENT</a:t>
            </a:r>
            <a:endParaRPr lang="en-US" sz="1200" dirty="0"/>
          </a:p>
        </p:txBody>
      </p:sp>
      <p:sp>
        <p:nvSpPr>
          <p:cNvPr id="15" name="Text 13"/>
          <p:cNvSpPr/>
          <p:nvPr/>
        </p:nvSpPr>
        <p:spPr>
          <a:xfrm>
            <a:off x="4563507" y="5115560"/>
            <a:ext cx="315693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2EC"/>
                </a:solidFill>
                <a:latin typeface="DM Sans" pitchFamily="34" charset="0"/>
                <a:ea typeface="DM Sans" pitchFamily="34" charset="-122"/>
                <a:cs typeface="DM Sans" pitchFamily="34" charset="-120"/>
              </a:rPr>
              <a:t>[NGUYEN THANH DUOC]</a:t>
            </a:r>
            <a:endParaRPr lang="en-US" sz="1600" dirty="0"/>
          </a:p>
        </p:txBody>
      </p:sp>
      <p:sp>
        <p:nvSpPr>
          <p:cNvPr id="16" name="Text 14"/>
          <p:cNvSpPr/>
          <p:nvPr/>
        </p:nvSpPr>
        <p:spPr>
          <a:xfrm>
            <a:off x="4563507" y="5450840"/>
            <a:ext cx="31569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[11247156]</a:t>
            </a:r>
            <a:endParaRPr lang="en-US" sz="1200" dirty="0"/>
          </a:p>
        </p:txBody>
      </p:sp>
      <p:sp>
        <p:nvSpPr>
          <p:cNvPr id="18" name="Text 16"/>
          <p:cNvSpPr/>
          <p:nvPr/>
        </p:nvSpPr>
        <p:spPr>
          <a:xfrm>
            <a:off x="8136493" y="4851400"/>
            <a:ext cx="3156854"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9" name="Text 17"/>
          <p:cNvSpPr/>
          <p:nvPr/>
        </p:nvSpPr>
        <p:spPr>
          <a:xfrm>
            <a:off x="8136493" y="5115560"/>
            <a:ext cx="3156854" cy="30988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20" name="Text 18"/>
          <p:cNvSpPr/>
          <p:nvPr/>
        </p:nvSpPr>
        <p:spPr>
          <a:xfrm>
            <a:off x="8136493" y="5450840"/>
            <a:ext cx="3156854"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21" name="Text 19"/>
          <p:cNvSpPr/>
          <p:nvPr/>
        </p:nvSpPr>
        <p:spPr>
          <a:xfrm>
            <a:off x="812800" y="6238240"/>
            <a:ext cx="71945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[Course name] · [Instructor name] · Dataset: BankSim, 594,643 transactions</a:t>
            </a:r>
            <a:endParaRPr lang="en-US" sz="1200" dirty="0"/>
          </a:p>
        </p:txBody>
      </p:sp>
      <p:sp>
        <p:nvSpPr>
          <p:cNvPr id="22" name="Text 20"/>
          <p:cNvSpPr/>
          <p:nvPr/>
        </p:nvSpPr>
        <p:spPr>
          <a:xfrm>
            <a:off x="7768844" y="6238240"/>
            <a:ext cx="361035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AEBBC7"/>
                </a:solidFill>
                <a:latin typeface="DM Sans" pitchFamily="34" charset="0"/>
                <a:ea typeface="DM Sans" pitchFamily="34" charset="-122"/>
                <a:cs typeface="DM Sans" pitchFamily="34" charset="-120"/>
              </a:rPr>
              <a:t>(1) </a:t>
            </a:r>
            <a:r>
              <a:rPr lang="en-US" sz="1200" dirty="0">
                <a:solidFill>
                  <a:srgbClr val="AEBBC7"/>
                </a:solidFill>
                <a:latin typeface="DM Sans" pitchFamily="34" charset="0"/>
                <a:ea typeface="DM Sans" pitchFamily="34" charset="-122"/>
                <a:cs typeface="DM Sans" pitchFamily="34" charset="-120"/>
              </a:rPr>
              <a:t>Next → Our research journey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 · ROADMAP</a:t>
            </a:r>
            <a:endParaRPr lang="en-US" sz="1200" dirty="0"/>
          </a:p>
        </p:txBody>
      </p:sp>
      <p:sp>
        <p:nvSpPr>
          <p:cNvPr id="3" name="Text 1"/>
          <p:cNvSpPr>
            <a:spLocks noGrp="1"/>
          </p:cNvSpPr>
          <p:nvPr>
            <p:ph type="title"/>
          </p:nvPr>
        </p:nvSpPr>
        <p:spPr>
          <a:xfrm>
            <a:off x="812800" y="1102360"/>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Our Research Journey</a:t>
            </a:r>
            <a:endParaRPr lang="en-US" sz="2600" dirty="0"/>
          </a:p>
        </p:txBody>
      </p:sp>
      <p:sp>
        <p:nvSpPr>
          <p:cNvPr id="4" name="Shape 2"/>
          <p:cNvSpPr/>
          <p:nvPr/>
        </p:nvSpPr>
        <p:spPr>
          <a:xfrm>
            <a:off x="819150" y="1675130"/>
            <a:ext cx="1677908" cy="1780540"/>
          </a:xfrm>
          <a:prstGeom prst="roundRect">
            <a:avLst>
              <a:gd name="adj" fmla="val 7191"/>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00760" y="1856740"/>
            <a:ext cx="136548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DM Sans" pitchFamily="34" charset="0"/>
                <a:ea typeface="DM Sans" pitchFamily="34" charset="-122"/>
                <a:cs typeface="DM Sans" pitchFamily="34" charset="-120"/>
              </a:rPr>
              <a:t>01</a:t>
            </a:r>
            <a:endParaRPr lang="en-US" sz="2800" dirty="0"/>
          </a:p>
        </p:txBody>
      </p:sp>
      <p:sp>
        <p:nvSpPr>
          <p:cNvPr id="6" name="Text 4"/>
          <p:cNvSpPr/>
          <p:nvPr/>
        </p:nvSpPr>
        <p:spPr>
          <a:xfrm>
            <a:off x="1000760" y="2405380"/>
            <a:ext cx="1365488"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Problem</a:t>
            </a:r>
            <a:endParaRPr lang="en-US" sz="1800" dirty="0"/>
          </a:p>
        </p:txBody>
      </p:sp>
      <p:sp>
        <p:nvSpPr>
          <p:cNvPr id="7" name="Text 5"/>
          <p:cNvSpPr/>
          <p:nvPr/>
        </p:nvSpPr>
        <p:spPr>
          <a:xfrm>
            <a:off x="1000760" y="2776220"/>
            <a:ext cx="136548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Why fraud matters</a:t>
            </a:r>
            <a:endParaRPr lang="en-US" sz="1400" dirty="0"/>
          </a:p>
        </p:txBody>
      </p:sp>
      <p:pic>
        <p:nvPicPr>
          <p:cNvPr id="8" name="Image 0" descr="arrow-right"/>
          <p:cNvPicPr>
            <a:picLocks noChangeAspect="1"/>
          </p:cNvPicPr>
          <p:nvPr/>
        </p:nvPicPr>
        <p:blipFill>
          <a:blip r:embed="rId3"/>
          <a:srcRect/>
          <a:stretch/>
        </p:blipFill>
        <p:spPr>
          <a:xfrm>
            <a:off x="2630408" y="2476500"/>
            <a:ext cx="279400" cy="177800"/>
          </a:xfrm>
          <a:prstGeom prst="rect">
            <a:avLst/>
          </a:prstGeom>
        </p:spPr>
      </p:pic>
      <p:sp>
        <p:nvSpPr>
          <p:cNvPr id="9" name="Shape 6"/>
          <p:cNvSpPr/>
          <p:nvPr/>
        </p:nvSpPr>
        <p:spPr>
          <a:xfrm>
            <a:off x="3043158" y="1799590"/>
            <a:ext cx="1677988" cy="1531620"/>
          </a:xfrm>
          <a:prstGeom prst="roundRect">
            <a:avLst>
              <a:gd name="adj" fmla="val 7877"/>
            </a:avLst>
          </a:prstGeom>
          <a:solidFill>
            <a:srgbClr val="FBF9F5"/>
          </a:solidFill>
          <a:ln w="12700">
            <a:solidFill>
              <a:srgbClr val="DAD4C8"/>
            </a:solidFill>
            <a:prstDash val="solid"/>
          </a:ln>
        </p:spPr>
        <p:txBody>
          <a:bodyPr/>
          <a:lstStyle/>
          <a:p>
            <a:endParaRPr lang="en-US"/>
          </a:p>
        </p:txBody>
      </p:sp>
      <p:sp>
        <p:nvSpPr>
          <p:cNvPr id="10" name="Text 7"/>
          <p:cNvSpPr/>
          <p:nvPr/>
        </p:nvSpPr>
        <p:spPr>
          <a:xfrm>
            <a:off x="3224768" y="1981200"/>
            <a:ext cx="136556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DM Sans" pitchFamily="34" charset="0"/>
                <a:ea typeface="DM Sans" pitchFamily="34" charset="-122"/>
                <a:cs typeface="DM Sans" pitchFamily="34" charset="-120"/>
              </a:rPr>
              <a:t>02</a:t>
            </a:r>
            <a:endParaRPr lang="en-US" sz="2800" dirty="0"/>
          </a:p>
        </p:txBody>
      </p:sp>
      <p:sp>
        <p:nvSpPr>
          <p:cNvPr id="11" name="Text 8"/>
          <p:cNvSpPr/>
          <p:nvPr/>
        </p:nvSpPr>
        <p:spPr>
          <a:xfrm>
            <a:off x="3224768" y="2529840"/>
            <a:ext cx="1365568"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Data</a:t>
            </a:r>
            <a:endParaRPr lang="en-US" sz="1800" dirty="0"/>
          </a:p>
        </p:txBody>
      </p:sp>
      <p:sp>
        <p:nvSpPr>
          <p:cNvPr id="12" name="Text 9"/>
          <p:cNvSpPr/>
          <p:nvPr/>
        </p:nvSpPr>
        <p:spPr>
          <a:xfrm>
            <a:off x="3224768" y="2900680"/>
            <a:ext cx="13655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Find patterns</a:t>
            </a:r>
            <a:endParaRPr lang="en-US" sz="1400" dirty="0"/>
          </a:p>
        </p:txBody>
      </p:sp>
      <p:pic>
        <p:nvPicPr>
          <p:cNvPr id="13" name="Image 1" descr="arrow-right"/>
          <p:cNvPicPr>
            <a:picLocks noChangeAspect="1"/>
          </p:cNvPicPr>
          <p:nvPr/>
        </p:nvPicPr>
        <p:blipFill>
          <a:blip r:embed="rId3"/>
          <a:srcRect/>
          <a:stretch/>
        </p:blipFill>
        <p:spPr>
          <a:xfrm>
            <a:off x="4854496" y="2476500"/>
            <a:ext cx="279400" cy="177800"/>
          </a:xfrm>
          <a:prstGeom prst="rect">
            <a:avLst/>
          </a:prstGeom>
        </p:spPr>
      </p:pic>
      <p:sp>
        <p:nvSpPr>
          <p:cNvPr id="14" name="Shape 10"/>
          <p:cNvSpPr/>
          <p:nvPr/>
        </p:nvSpPr>
        <p:spPr>
          <a:xfrm>
            <a:off x="5267246" y="1799590"/>
            <a:ext cx="1677908" cy="1531620"/>
          </a:xfrm>
          <a:prstGeom prst="roundRect">
            <a:avLst>
              <a:gd name="adj" fmla="val 7877"/>
            </a:avLst>
          </a:prstGeom>
          <a:solidFill>
            <a:srgbClr val="FBF9F5"/>
          </a:solidFill>
          <a:ln w="12700">
            <a:solidFill>
              <a:srgbClr val="DAD4C8"/>
            </a:solidFill>
            <a:prstDash val="solid"/>
          </a:ln>
        </p:spPr>
        <p:txBody>
          <a:bodyPr/>
          <a:lstStyle/>
          <a:p>
            <a:endParaRPr lang="en-US"/>
          </a:p>
        </p:txBody>
      </p:sp>
      <p:sp>
        <p:nvSpPr>
          <p:cNvPr id="15" name="Text 11"/>
          <p:cNvSpPr/>
          <p:nvPr/>
        </p:nvSpPr>
        <p:spPr>
          <a:xfrm>
            <a:off x="5448856" y="1981200"/>
            <a:ext cx="136548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DM Sans" pitchFamily="34" charset="0"/>
                <a:ea typeface="DM Sans" pitchFamily="34" charset="-122"/>
                <a:cs typeface="DM Sans" pitchFamily="34" charset="-120"/>
              </a:rPr>
              <a:t>03</a:t>
            </a:r>
            <a:endParaRPr lang="en-US" sz="2800" dirty="0"/>
          </a:p>
        </p:txBody>
      </p:sp>
      <p:sp>
        <p:nvSpPr>
          <p:cNvPr id="16" name="Text 12"/>
          <p:cNvSpPr/>
          <p:nvPr/>
        </p:nvSpPr>
        <p:spPr>
          <a:xfrm>
            <a:off x="5448856" y="2529840"/>
            <a:ext cx="1365488"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Method</a:t>
            </a:r>
            <a:endParaRPr lang="en-US" sz="1800" dirty="0"/>
          </a:p>
        </p:txBody>
      </p:sp>
      <p:sp>
        <p:nvSpPr>
          <p:cNvPr id="17" name="Text 13"/>
          <p:cNvSpPr/>
          <p:nvPr/>
        </p:nvSpPr>
        <p:spPr>
          <a:xfrm>
            <a:off x="5448856" y="2900680"/>
            <a:ext cx="136548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Build &amp; validate</a:t>
            </a:r>
            <a:endParaRPr lang="en-US" sz="1400" dirty="0"/>
          </a:p>
        </p:txBody>
      </p:sp>
      <p:pic>
        <p:nvPicPr>
          <p:cNvPr id="18" name="Image 2" descr="arrow-right"/>
          <p:cNvPicPr>
            <a:picLocks noChangeAspect="1"/>
          </p:cNvPicPr>
          <p:nvPr/>
        </p:nvPicPr>
        <p:blipFill>
          <a:blip r:embed="rId3"/>
          <a:srcRect/>
          <a:stretch/>
        </p:blipFill>
        <p:spPr>
          <a:xfrm>
            <a:off x="7078504" y="2476500"/>
            <a:ext cx="279400" cy="177800"/>
          </a:xfrm>
          <a:prstGeom prst="rect">
            <a:avLst/>
          </a:prstGeom>
        </p:spPr>
      </p:pic>
      <p:sp>
        <p:nvSpPr>
          <p:cNvPr id="19" name="Shape 14"/>
          <p:cNvSpPr/>
          <p:nvPr/>
        </p:nvSpPr>
        <p:spPr>
          <a:xfrm>
            <a:off x="7491254" y="1675130"/>
            <a:ext cx="1677908" cy="1780540"/>
          </a:xfrm>
          <a:prstGeom prst="roundRect">
            <a:avLst>
              <a:gd name="adj" fmla="val 7191"/>
            </a:avLst>
          </a:prstGeom>
          <a:solidFill>
            <a:srgbClr val="FBF9F5"/>
          </a:solidFill>
          <a:ln w="12700">
            <a:solidFill>
              <a:srgbClr val="DAD4C8"/>
            </a:solidFill>
            <a:prstDash val="solid"/>
          </a:ln>
        </p:spPr>
        <p:txBody>
          <a:bodyPr/>
          <a:lstStyle/>
          <a:p>
            <a:endParaRPr lang="en-US"/>
          </a:p>
        </p:txBody>
      </p:sp>
      <p:sp>
        <p:nvSpPr>
          <p:cNvPr id="20" name="Text 15"/>
          <p:cNvSpPr/>
          <p:nvPr/>
        </p:nvSpPr>
        <p:spPr>
          <a:xfrm>
            <a:off x="7672864" y="1856740"/>
            <a:ext cx="136548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DM Sans" pitchFamily="34" charset="0"/>
                <a:ea typeface="DM Sans" pitchFamily="34" charset="-122"/>
                <a:cs typeface="DM Sans" pitchFamily="34" charset="-120"/>
              </a:rPr>
              <a:t>04</a:t>
            </a:r>
            <a:endParaRPr lang="en-US" sz="2800" dirty="0"/>
          </a:p>
        </p:txBody>
      </p:sp>
      <p:sp>
        <p:nvSpPr>
          <p:cNvPr id="21" name="Text 16"/>
          <p:cNvSpPr/>
          <p:nvPr/>
        </p:nvSpPr>
        <p:spPr>
          <a:xfrm>
            <a:off x="7672864" y="2405380"/>
            <a:ext cx="1365488"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Results</a:t>
            </a:r>
            <a:endParaRPr lang="en-US" sz="1800" dirty="0"/>
          </a:p>
        </p:txBody>
      </p:sp>
      <p:sp>
        <p:nvSpPr>
          <p:cNvPr id="22" name="Text 17"/>
          <p:cNvSpPr/>
          <p:nvPr/>
        </p:nvSpPr>
        <p:spPr>
          <a:xfrm>
            <a:off x="7672864" y="2776220"/>
            <a:ext cx="136548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Compare models</a:t>
            </a:r>
            <a:endParaRPr lang="en-US" sz="1400" dirty="0"/>
          </a:p>
        </p:txBody>
      </p:sp>
      <p:pic>
        <p:nvPicPr>
          <p:cNvPr id="23" name="Image 3" descr="arrow-right"/>
          <p:cNvPicPr>
            <a:picLocks noChangeAspect="1"/>
          </p:cNvPicPr>
          <p:nvPr/>
        </p:nvPicPr>
        <p:blipFill>
          <a:blip r:embed="rId3"/>
          <a:srcRect/>
          <a:stretch/>
        </p:blipFill>
        <p:spPr>
          <a:xfrm>
            <a:off x="9302512" y="2476500"/>
            <a:ext cx="279400" cy="177800"/>
          </a:xfrm>
          <a:prstGeom prst="rect">
            <a:avLst/>
          </a:prstGeom>
        </p:spPr>
      </p:pic>
      <p:sp>
        <p:nvSpPr>
          <p:cNvPr id="24" name="Shape 18"/>
          <p:cNvSpPr/>
          <p:nvPr/>
        </p:nvSpPr>
        <p:spPr>
          <a:xfrm>
            <a:off x="9708912" y="1803400"/>
            <a:ext cx="1670288" cy="1524000"/>
          </a:xfrm>
          <a:prstGeom prst="roundRect">
            <a:avLst>
              <a:gd name="adj" fmla="val 8333"/>
            </a:avLst>
          </a:prstGeom>
          <a:solidFill>
            <a:srgbClr val="10202E"/>
          </a:solidFill>
          <a:ln/>
        </p:spPr>
        <p:txBody>
          <a:bodyPr/>
          <a:lstStyle/>
          <a:p>
            <a:endParaRPr lang="en-US"/>
          </a:p>
        </p:txBody>
      </p:sp>
      <p:sp>
        <p:nvSpPr>
          <p:cNvPr id="25" name="Text 19"/>
          <p:cNvSpPr/>
          <p:nvPr/>
        </p:nvSpPr>
        <p:spPr>
          <a:xfrm>
            <a:off x="9886712" y="1981200"/>
            <a:ext cx="1365488"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F8A5C"/>
                </a:solidFill>
                <a:latin typeface="DM Sans" pitchFamily="34" charset="0"/>
                <a:ea typeface="DM Sans" pitchFamily="34" charset="-122"/>
                <a:cs typeface="DM Sans" pitchFamily="34" charset="-120"/>
              </a:rPr>
              <a:t>05</a:t>
            </a:r>
            <a:endParaRPr lang="en-US" sz="2800" dirty="0"/>
          </a:p>
        </p:txBody>
      </p:sp>
      <p:sp>
        <p:nvSpPr>
          <p:cNvPr id="26" name="Text 20"/>
          <p:cNvSpPr/>
          <p:nvPr/>
        </p:nvSpPr>
        <p:spPr>
          <a:xfrm>
            <a:off x="9886712" y="2529840"/>
            <a:ext cx="1365488"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5F2EC"/>
                </a:solidFill>
                <a:latin typeface="DM Sans" pitchFamily="34" charset="0"/>
                <a:ea typeface="DM Sans" pitchFamily="34" charset="-122"/>
                <a:cs typeface="DM Sans" pitchFamily="34" charset="-120"/>
              </a:rPr>
              <a:t>Impact</a:t>
            </a:r>
            <a:endParaRPr lang="en-US" sz="1800" dirty="0"/>
          </a:p>
        </p:txBody>
      </p:sp>
      <p:sp>
        <p:nvSpPr>
          <p:cNvPr id="27" name="Text 21"/>
          <p:cNvSpPr/>
          <p:nvPr/>
        </p:nvSpPr>
        <p:spPr>
          <a:xfrm>
            <a:off x="9886712" y="2900680"/>
            <a:ext cx="136548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EBBC7"/>
                </a:solidFill>
                <a:latin typeface="DM Sans" pitchFamily="34" charset="0"/>
                <a:ea typeface="DM Sans" pitchFamily="34" charset="-122"/>
                <a:cs typeface="DM Sans" pitchFamily="34" charset="-120"/>
              </a:rPr>
              <a:t>Financial value</a:t>
            </a:r>
            <a:endParaRPr lang="en-US" sz="1400" dirty="0"/>
          </a:p>
        </p:txBody>
      </p:sp>
      <p:sp>
        <p:nvSpPr>
          <p:cNvPr id="28" name="Shape 22"/>
          <p:cNvSpPr/>
          <p:nvPr/>
        </p:nvSpPr>
        <p:spPr>
          <a:xfrm>
            <a:off x="812800" y="3665220"/>
            <a:ext cx="3836670" cy="1645920"/>
          </a:xfrm>
          <a:prstGeom prst="roundRect">
            <a:avLst>
              <a:gd name="adj" fmla="val 7716"/>
            </a:avLst>
          </a:prstGeom>
          <a:solidFill>
            <a:srgbClr val="10202E"/>
          </a:solidFill>
          <a:ln/>
        </p:spPr>
        <p:txBody>
          <a:bodyPr/>
          <a:lstStyle/>
          <a:p>
            <a:endParaRPr lang="en-US"/>
          </a:p>
        </p:txBody>
      </p:sp>
      <p:sp>
        <p:nvSpPr>
          <p:cNvPr id="29" name="Text 23"/>
          <p:cNvSpPr/>
          <p:nvPr/>
        </p:nvSpPr>
        <p:spPr>
          <a:xfrm>
            <a:off x="1016000" y="3868420"/>
            <a:ext cx="353317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CENTRAL RESEARCH QUESTION</a:t>
            </a:r>
            <a:endParaRPr lang="en-US" sz="1200" dirty="0"/>
          </a:p>
        </p:txBody>
      </p:sp>
      <p:sp>
        <p:nvSpPr>
          <p:cNvPr id="30" name="Text 24"/>
          <p:cNvSpPr/>
          <p:nvPr/>
        </p:nvSpPr>
        <p:spPr>
          <a:xfrm>
            <a:off x="1016000" y="4157980"/>
            <a:ext cx="3533178" cy="9017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F5F2EC"/>
                </a:solidFill>
                <a:latin typeface="DM Sans" pitchFamily="34" charset="0"/>
                <a:ea typeface="DM Sans" pitchFamily="34" charset="-122"/>
                <a:cs typeface="DM Sans" pitchFamily="34" charset="-120"/>
              </a:rPr>
              <a:t>Can we detect fraud accurately, reliably, and profitably?</a:t>
            </a:r>
            <a:endParaRPr lang="en-US" sz="2000" dirty="0"/>
          </a:p>
        </p:txBody>
      </p:sp>
      <p:sp>
        <p:nvSpPr>
          <p:cNvPr id="31" name="Text 25"/>
          <p:cNvSpPr/>
          <p:nvPr/>
        </p:nvSpPr>
        <p:spPr>
          <a:xfrm>
            <a:off x="4801870" y="3665220"/>
            <a:ext cx="321204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6A96"/>
                </a:solidFill>
                <a:latin typeface="DM Sans" pitchFamily="34" charset="0"/>
                <a:ea typeface="DM Sans" pitchFamily="34" charset="-122"/>
                <a:cs typeface="DM Sans" pitchFamily="34" charset="-120"/>
              </a:rPr>
              <a:t>Accurately</a:t>
            </a:r>
            <a:r>
              <a:rPr lang="en-US" sz="1400" dirty="0">
                <a:solidFill>
                  <a:srgbClr val="10202E"/>
                </a:solidFill>
                <a:latin typeface="DM Sans" pitchFamily="34" charset="0"/>
                <a:ea typeface="DM Sans" pitchFamily="34" charset="-122"/>
                <a:cs typeface="DM Sans" pitchFamily="34" charset="-120"/>
              </a:rPr>
              <a:t> — how well do we find fraud?</a:t>
            </a:r>
            <a:endParaRPr lang="en-US" sz="1400" dirty="0"/>
          </a:p>
        </p:txBody>
      </p:sp>
      <p:sp>
        <p:nvSpPr>
          <p:cNvPr id="32" name="Text 26"/>
          <p:cNvSpPr/>
          <p:nvPr/>
        </p:nvSpPr>
        <p:spPr>
          <a:xfrm>
            <a:off x="4801870" y="4239260"/>
            <a:ext cx="321204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6A96"/>
                </a:solidFill>
                <a:latin typeface="DM Sans" pitchFamily="34" charset="0"/>
                <a:ea typeface="DM Sans" pitchFamily="34" charset="-122"/>
                <a:cs typeface="DM Sans" pitchFamily="34" charset="-120"/>
              </a:rPr>
              <a:t>Reliably</a:t>
            </a:r>
            <a:r>
              <a:rPr lang="en-US" sz="1400" dirty="0">
                <a:solidFill>
                  <a:srgbClr val="10202E"/>
                </a:solidFill>
                <a:latin typeface="DM Sans" pitchFamily="34" charset="0"/>
                <a:ea typeface="DM Sans" pitchFamily="34" charset="-122"/>
                <a:cs typeface="DM Sans" pitchFamily="34" charset="-120"/>
              </a:rPr>
              <a:t> — is the result trustworthy, or leaked?</a:t>
            </a:r>
            <a:endParaRPr lang="en-US" sz="1400" dirty="0"/>
          </a:p>
        </p:txBody>
      </p:sp>
      <p:sp>
        <p:nvSpPr>
          <p:cNvPr id="33" name="Text 27"/>
          <p:cNvSpPr/>
          <p:nvPr/>
        </p:nvSpPr>
        <p:spPr>
          <a:xfrm>
            <a:off x="4801870" y="4813300"/>
            <a:ext cx="3212040"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6A96"/>
                </a:solidFill>
                <a:latin typeface="DM Sans" pitchFamily="34" charset="0"/>
                <a:ea typeface="DM Sans" pitchFamily="34" charset="-122"/>
                <a:cs typeface="DM Sans" pitchFamily="34" charset="-120"/>
              </a:rPr>
              <a:t>Profitably</a:t>
            </a:r>
            <a:r>
              <a:rPr lang="en-US" sz="1400" dirty="0">
                <a:solidFill>
                  <a:srgbClr val="10202E"/>
                </a:solidFill>
                <a:latin typeface="DM Sans" pitchFamily="34" charset="0"/>
                <a:ea typeface="DM Sans" pitchFamily="34" charset="-122"/>
                <a:cs typeface="DM Sans" pitchFamily="34" charset="-120"/>
              </a:rPr>
              <a:t> — does it beat a simple rule in money?</a:t>
            </a:r>
            <a:endParaRPr lang="en-US" sz="1400" dirty="0"/>
          </a:p>
        </p:txBody>
      </p:sp>
      <p:sp>
        <p:nvSpPr>
          <p:cNvPr id="34" name="Shape 28"/>
          <p:cNvSpPr/>
          <p:nvPr/>
        </p:nvSpPr>
        <p:spPr>
          <a:xfrm>
            <a:off x="8091805" y="3665220"/>
            <a:ext cx="0" cy="1645920"/>
          </a:xfrm>
          <a:prstGeom prst="line">
            <a:avLst/>
          </a:prstGeom>
          <a:noFill/>
          <a:ln w="38100">
            <a:solidFill>
              <a:srgbClr val="C2410C"/>
            </a:solidFill>
            <a:prstDash val="solid"/>
          </a:ln>
        </p:spPr>
        <p:txBody>
          <a:bodyPr/>
          <a:lstStyle/>
          <a:p>
            <a:endParaRPr lang="en-US"/>
          </a:p>
        </p:txBody>
      </p:sp>
      <p:sp>
        <p:nvSpPr>
          <p:cNvPr id="35" name="Text 29"/>
          <p:cNvSpPr/>
          <p:nvPr/>
        </p:nvSpPr>
        <p:spPr>
          <a:xfrm>
            <a:off x="8260715" y="3944620"/>
            <a:ext cx="321204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C2410C"/>
                </a:solidFill>
                <a:latin typeface="DM Sans" pitchFamily="34" charset="0"/>
                <a:ea typeface="DM Sans" pitchFamily="34" charset="-122"/>
                <a:cs typeface="DM Sans" pitchFamily="34" charset="-120"/>
              </a:rPr>
              <a:t>REMEMBER</a:t>
            </a:r>
            <a:endParaRPr lang="en-US" sz="1200" dirty="0"/>
          </a:p>
        </p:txBody>
      </p:sp>
      <p:sp>
        <p:nvSpPr>
          <p:cNvPr id="36" name="Text 30"/>
          <p:cNvSpPr/>
          <p:nvPr/>
        </p:nvSpPr>
        <p:spPr>
          <a:xfrm>
            <a:off x="8260715" y="4208780"/>
            <a:ext cx="3212040" cy="848360"/>
          </a:xfrm>
          <a:prstGeom prst="rect">
            <a:avLst/>
          </a:prstGeom>
          <a:noFill/>
          <a:ln/>
        </p:spPr>
        <p:txBody>
          <a:bodyPr wrap="square" lIns="0" tIns="0" rIns="0" bIns="0" rtlCol="0" anchor="t">
            <a:normAutofit/>
          </a:bodyPr>
          <a:lstStyle/>
          <a:p>
            <a:pPr marL="0" indent="0" algn="l">
              <a:lnSpc>
                <a:spcPts val="2160"/>
              </a:lnSpc>
              <a:buNone/>
            </a:pPr>
            <a:r>
              <a:rPr lang="en-US" sz="1800" i="1" dirty="0">
                <a:solidFill>
                  <a:srgbClr val="10202E"/>
                </a:solidFill>
                <a:latin typeface="DM Sans" pitchFamily="34" charset="0"/>
                <a:ea typeface="DM Sans" pitchFamily="34" charset="-122"/>
                <a:cs typeface="DM Sans" pitchFamily="34" charset="-120"/>
              </a:rPr>
              <a:t>We do not stop at prediction. We evaluate decisions.</a:t>
            </a:r>
            <a:endParaRPr lang="en-US" sz="1800" dirty="0"/>
          </a:p>
        </p:txBody>
      </p:sp>
      <p:sp>
        <p:nvSpPr>
          <p:cNvPr id="37" name="Text 31"/>
          <p:cNvSpPr/>
          <p:nvPr/>
        </p:nvSpPr>
        <p:spPr>
          <a:xfrm>
            <a:off x="812800" y="6238241"/>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Structure: Notebook §1–§9</a:t>
            </a:r>
            <a:endParaRPr lang="en-US" sz="1200" dirty="0"/>
          </a:p>
        </p:txBody>
      </p:sp>
      <p:sp>
        <p:nvSpPr>
          <p:cNvPr id="38" name="Text 32"/>
          <p:cNvSpPr/>
          <p:nvPr/>
        </p:nvSpPr>
        <p:spPr>
          <a:xfrm>
            <a:off x="4367784" y="6238241"/>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(2) </a:t>
            </a:r>
            <a:r>
              <a:rPr lang="en-US" sz="1200" dirty="0">
                <a:solidFill>
                  <a:srgbClr val="54606C"/>
                </a:solidFill>
                <a:latin typeface="DM Sans" pitchFamily="34" charset="0"/>
                <a:ea typeface="DM Sans" pitchFamily="34" charset="-122"/>
                <a:cs typeface="DM Sans" pitchFamily="34" charset="-120"/>
              </a:rPr>
              <a:t>Next → Why accuracy alone can mislead us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PART I · THE ACCURACY PARADOX</a:t>
            </a:r>
            <a:endParaRPr lang="en-US" sz="1200" dirty="0"/>
          </a:p>
        </p:txBody>
      </p:sp>
      <p:sp>
        <p:nvSpPr>
          <p:cNvPr id="3" name="Text 1"/>
          <p:cNvSpPr>
            <a:spLocks noGrp="1"/>
          </p:cNvSpPr>
          <p:nvPr>
            <p:ph type="title"/>
          </p:nvPr>
        </p:nvSpPr>
        <p:spPr>
          <a:xfrm>
            <a:off x="812800" y="11023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F5F2EC"/>
                </a:solidFill>
                <a:latin typeface="DM Sans" pitchFamily="34" charset="0"/>
                <a:ea typeface="DM Sans" pitchFamily="34" charset="-122"/>
                <a:cs typeface="DM Sans" pitchFamily="34" charset="-120"/>
              </a:rPr>
              <a:t>98.72% Accuracy — Yet Zero Fraud Detected?</a:t>
            </a:r>
            <a:endParaRPr lang="en-US" sz="2600" dirty="0"/>
          </a:p>
        </p:txBody>
      </p:sp>
      <p:sp>
        <p:nvSpPr>
          <p:cNvPr id="4" name="Text 2"/>
          <p:cNvSpPr/>
          <p:nvPr/>
        </p:nvSpPr>
        <p:spPr>
          <a:xfrm>
            <a:off x="812800" y="5148580"/>
            <a:ext cx="5659576" cy="6350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F5F2EC"/>
                </a:solidFill>
                <a:latin typeface="DM Sans" pitchFamily="34" charset="0"/>
                <a:ea typeface="DM Sans" pitchFamily="34" charset="-122"/>
                <a:cs typeface="DM Sans" pitchFamily="34" charset="-120"/>
              </a:rPr>
              <a:t>“Would you trust a fraud detection model with 98.72% accuracy?”</a:t>
            </a:r>
            <a:endParaRPr lang="en-US" sz="2000" dirty="0"/>
          </a:p>
        </p:txBody>
      </p:sp>
      <p:sp>
        <p:nvSpPr>
          <p:cNvPr id="5" name="Shape 3"/>
          <p:cNvSpPr/>
          <p:nvPr/>
        </p:nvSpPr>
        <p:spPr>
          <a:xfrm>
            <a:off x="6631384" y="5064761"/>
            <a:ext cx="0" cy="777240"/>
          </a:xfrm>
          <a:prstGeom prst="line">
            <a:avLst/>
          </a:prstGeom>
          <a:noFill/>
          <a:ln w="38100">
            <a:solidFill>
              <a:srgbClr val="FF8A5C"/>
            </a:solidFill>
            <a:prstDash val="solid"/>
          </a:ln>
        </p:spPr>
        <p:txBody>
          <a:bodyPr/>
          <a:lstStyle/>
          <a:p>
            <a:endParaRPr lang="en-US"/>
          </a:p>
        </p:txBody>
      </p:sp>
      <p:sp>
        <p:nvSpPr>
          <p:cNvPr id="6" name="Text 4"/>
          <p:cNvSpPr/>
          <p:nvPr/>
        </p:nvSpPr>
        <p:spPr>
          <a:xfrm>
            <a:off x="6800294" y="5090161"/>
            <a:ext cx="471627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TAKEAWAY</a:t>
            </a:r>
            <a:endParaRPr lang="en-US" sz="1200" dirty="0"/>
          </a:p>
        </p:txBody>
      </p:sp>
      <p:sp>
        <p:nvSpPr>
          <p:cNvPr id="7" name="Text 5"/>
          <p:cNvSpPr/>
          <p:nvPr/>
        </p:nvSpPr>
        <p:spPr>
          <a:xfrm>
            <a:off x="6800294" y="5354320"/>
            <a:ext cx="4716273"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2EC"/>
                </a:solidFill>
                <a:latin typeface="DM Sans" pitchFamily="34" charset="0"/>
                <a:ea typeface="DM Sans" pitchFamily="34" charset="-122"/>
                <a:cs typeface="DM Sans" pitchFamily="34" charset="-120"/>
              </a:rPr>
              <a:t>With extreme class imbalance, accuracy is the wrong primary metric. We use PR-AUC, F1 and dollars saved.</a:t>
            </a:r>
            <a:endParaRPr lang="en-US" sz="1400" dirty="0"/>
          </a:p>
        </p:txBody>
      </p:sp>
      <p:sp>
        <p:nvSpPr>
          <p:cNvPr id="8" name="Text 6"/>
          <p:cNvSpPr/>
          <p:nvPr/>
        </p:nvSpPr>
        <p:spPr>
          <a:xfrm>
            <a:off x="812800" y="1905000"/>
            <a:ext cx="4970780"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6FC1EA"/>
                </a:solidFill>
                <a:latin typeface="DM Sans" pitchFamily="34" charset="0"/>
                <a:ea typeface="DM Sans" pitchFamily="34" charset="-122"/>
                <a:cs typeface="DM Sans" pitchFamily="34" charset="-120"/>
              </a:rPr>
              <a:t>98.72%</a:t>
            </a:r>
            <a:endParaRPr lang="en-US" sz="10000" dirty="0"/>
          </a:p>
        </p:txBody>
      </p:sp>
      <p:sp>
        <p:nvSpPr>
          <p:cNvPr id="9" name="Text 7"/>
          <p:cNvSpPr/>
          <p:nvPr/>
        </p:nvSpPr>
        <p:spPr>
          <a:xfrm>
            <a:off x="812800" y="3225800"/>
            <a:ext cx="49707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5F2EC"/>
                </a:solidFill>
                <a:latin typeface="DM Sans" pitchFamily="34" charset="0"/>
                <a:ea typeface="DM Sans" pitchFamily="34" charset="-122"/>
                <a:cs typeface="DM Sans" pitchFamily="34" charset="-120"/>
              </a:rPr>
              <a:t>Accuracy</a:t>
            </a:r>
            <a:endParaRPr lang="en-US" sz="2200" dirty="0"/>
          </a:p>
        </p:txBody>
      </p:sp>
      <p:sp>
        <p:nvSpPr>
          <p:cNvPr id="10" name="Text 8"/>
          <p:cNvSpPr/>
          <p:nvPr/>
        </p:nvSpPr>
        <p:spPr>
          <a:xfrm>
            <a:off x="812800" y="3667761"/>
            <a:ext cx="497078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EBBC7"/>
                </a:solidFill>
                <a:latin typeface="DM Sans" pitchFamily="34" charset="0"/>
                <a:ea typeface="DM Sans" pitchFamily="34" charset="-122"/>
                <a:cs typeface="DM Sans" pitchFamily="34" charset="-120"/>
              </a:rPr>
              <a:t>A model that always predicts “legitimate”</a:t>
            </a:r>
            <a:endParaRPr lang="en-US" sz="1400" dirty="0"/>
          </a:p>
        </p:txBody>
      </p:sp>
      <p:sp>
        <p:nvSpPr>
          <p:cNvPr id="11" name="Text 9"/>
          <p:cNvSpPr/>
          <p:nvPr/>
        </p:nvSpPr>
        <p:spPr>
          <a:xfrm>
            <a:off x="6553200" y="1905000"/>
            <a:ext cx="4970780"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FF8A5C"/>
                </a:solidFill>
                <a:latin typeface="DM Sans" pitchFamily="34" charset="0"/>
                <a:ea typeface="DM Sans" pitchFamily="34" charset="-122"/>
                <a:cs typeface="DM Sans" pitchFamily="34" charset="-120"/>
              </a:rPr>
              <a:t>0</a:t>
            </a:r>
            <a:endParaRPr lang="en-US" sz="10000" dirty="0"/>
          </a:p>
        </p:txBody>
      </p:sp>
      <p:sp>
        <p:nvSpPr>
          <p:cNvPr id="12" name="Text 10"/>
          <p:cNvSpPr/>
          <p:nvPr/>
        </p:nvSpPr>
        <p:spPr>
          <a:xfrm>
            <a:off x="6553200" y="3225800"/>
            <a:ext cx="49707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5F2EC"/>
                </a:solidFill>
                <a:latin typeface="DM Sans" pitchFamily="34" charset="0"/>
                <a:ea typeface="DM Sans" pitchFamily="34" charset="-122"/>
                <a:cs typeface="DM Sans" pitchFamily="34" charset="-120"/>
              </a:rPr>
              <a:t>Frauds detected</a:t>
            </a:r>
            <a:endParaRPr lang="en-US" sz="2200" dirty="0"/>
          </a:p>
        </p:txBody>
      </p:sp>
      <p:sp>
        <p:nvSpPr>
          <p:cNvPr id="13" name="Text 11"/>
          <p:cNvSpPr/>
          <p:nvPr/>
        </p:nvSpPr>
        <p:spPr>
          <a:xfrm>
            <a:off x="6553200" y="3667761"/>
            <a:ext cx="497078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EBBC7"/>
                </a:solidFill>
                <a:latin typeface="DM Sans" pitchFamily="34" charset="0"/>
                <a:ea typeface="DM Sans" pitchFamily="34" charset="-122"/>
                <a:cs typeface="DM Sans" pitchFamily="34" charset="-120"/>
              </a:rPr>
              <a:t>Not one fraudulent transaction is caught</a:t>
            </a:r>
            <a:endParaRPr lang="en-US" sz="1400" dirty="0"/>
          </a:p>
        </p:txBody>
      </p:sp>
      <p:sp>
        <p:nvSpPr>
          <p:cNvPr id="14" name="Text 12"/>
          <p:cNvSpPr/>
          <p:nvPr/>
        </p:nvSpPr>
        <p:spPr>
          <a:xfrm>
            <a:off x="812800" y="6238241"/>
            <a:ext cx="536321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Source: Notebook §3.1 · Train set, fraud rate 1.28%</a:t>
            </a:r>
            <a:endParaRPr lang="en-US" sz="1200" dirty="0"/>
          </a:p>
        </p:txBody>
      </p:sp>
      <p:sp>
        <p:nvSpPr>
          <p:cNvPr id="15" name="Text 13"/>
          <p:cNvSpPr/>
          <p:nvPr/>
        </p:nvSpPr>
        <p:spPr>
          <a:xfrm>
            <a:off x="5937504" y="6238241"/>
            <a:ext cx="544169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AEBBC7"/>
                </a:solidFill>
                <a:latin typeface="DM Sans" pitchFamily="34" charset="0"/>
                <a:ea typeface="DM Sans" pitchFamily="34" charset="-122"/>
                <a:cs typeface="DM Sans" pitchFamily="34" charset="-120"/>
              </a:rPr>
              <a:t>(3) </a:t>
            </a:r>
            <a:r>
              <a:rPr lang="en-US" sz="1200" dirty="0">
                <a:solidFill>
                  <a:srgbClr val="AEBBC7"/>
                </a:solidFill>
                <a:latin typeface="DM Sans" pitchFamily="34" charset="0"/>
                <a:ea typeface="DM Sans" pitchFamily="34" charset="-122"/>
                <a:cs typeface="DM Sans" pitchFamily="34" charset="-120"/>
              </a:rPr>
              <a:t>Next → The data behind the problem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 · DATASET &amp; TEMPORAL SPLIT</a:t>
            </a:r>
            <a:endParaRPr lang="en-US" sz="1200" dirty="0"/>
          </a:p>
        </p:txBody>
      </p:sp>
      <p:sp>
        <p:nvSpPr>
          <p:cNvPr id="3" name="Text 1"/>
          <p:cNvSpPr>
            <a:spLocks noGrp="1"/>
          </p:cNvSpPr>
          <p:nvPr>
            <p:ph type="title"/>
          </p:nvPr>
        </p:nvSpPr>
        <p:spPr>
          <a:xfrm>
            <a:off x="812800" y="1102361"/>
            <a:ext cx="11379200"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594,643 Transactions — But Not All Data Should Be Seen at Once</a:t>
            </a:r>
            <a:endParaRPr lang="en-US" sz="2600" dirty="0"/>
          </a:p>
        </p:txBody>
      </p:sp>
      <p:sp>
        <p:nvSpPr>
          <p:cNvPr id="4" name="Shape 2"/>
          <p:cNvSpPr/>
          <p:nvPr/>
        </p:nvSpPr>
        <p:spPr>
          <a:xfrm>
            <a:off x="819150" y="1675130"/>
            <a:ext cx="3407807" cy="1013460"/>
          </a:xfrm>
          <a:prstGeom prst="roundRect">
            <a:avLst>
              <a:gd name="adj" fmla="val 11905"/>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26160" y="1831341"/>
            <a:ext cx="3083600"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10202E"/>
                </a:solidFill>
                <a:latin typeface="DM Sans" pitchFamily="34" charset="0"/>
                <a:ea typeface="DM Sans" pitchFamily="34" charset="-122"/>
                <a:cs typeface="DM Sans" pitchFamily="34" charset="-120"/>
              </a:rPr>
              <a:t>594,643</a:t>
            </a:r>
            <a:endParaRPr lang="en-US" sz="3200" dirty="0"/>
          </a:p>
        </p:txBody>
      </p:sp>
      <p:sp>
        <p:nvSpPr>
          <p:cNvPr id="6" name="Text 4"/>
          <p:cNvSpPr/>
          <p:nvPr/>
        </p:nvSpPr>
        <p:spPr>
          <a:xfrm>
            <a:off x="1026160" y="2283461"/>
            <a:ext cx="3083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Transactions (BankSim)</a:t>
            </a:r>
            <a:endParaRPr lang="en-US" sz="1400" dirty="0"/>
          </a:p>
        </p:txBody>
      </p:sp>
      <p:sp>
        <p:nvSpPr>
          <p:cNvPr id="7" name="Shape 5"/>
          <p:cNvSpPr/>
          <p:nvPr/>
        </p:nvSpPr>
        <p:spPr>
          <a:xfrm>
            <a:off x="4392057" y="1675130"/>
            <a:ext cx="3407886" cy="1013460"/>
          </a:xfrm>
          <a:prstGeom prst="roundRect">
            <a:avLst>
              <a:gd name="adj" fmla="val 11905"/>
            </a:avLst>
          </a:prstGeom>
          <a:solidFill>
            <a:srgbClr val="FBF9F5"/>
          </a:solidFill>
          <a:ln w="12700">
            <a:solidFill>
              <a:srgbClr val="DAD4C8"/>
            </a:solidFill>
            <a:prstDash val="solid"/>
          </a:ln>
        </p:spPr>
        <p:txBody>
          <a:bodyPr/>
          <a:lstStyle/>
          <a:p>
            <a:endParaRPr lang="en-US"/>
          </a:p>
        </p:txBody>
      </p:sp>
      <p:sp>
        <p:nvSpPr>
          <p:cNvPr id="8" name="Text 6"/>
          <p:cNvSpPr/>
          <p:nvPr/>
        </p:nvSpPr>
        <p:spPr>
          <a:xfrm>
            <a:off x="4599067" y="1831341"/>
            <a:ext cx="3083682"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C2410C"/>
                </a:solidFill>
                <a:latin typeface="DM Sans" pitchFamily="34" charset="0"/>
                <a:ea typeface="DM Sans" pitchFamily="34" charset="-122"/>
                <a:cs typeface="DM Sans" pitchFamily="34" charset="-120"/>
              </a:rPr>
              <a:t>7,200</a:t>
            </a:r>
            <a:endParaRPr lang="en-US" sz="3200" dirty="0"/>
          </a:p>
        </p:txBody>
      </p:sp>
      <p:sp>
        <p:nvSpPr>
          <p:cNvPr id="9" name="Text 7"/>
          <p:cNvSpPr/>
          <p:nvPr/>
        </p:nvSpPr>
        <p:spPr>
          <a:xfrm>
            <a:off x="4599067" y="2283461"/>
            <a:ext cx="308368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Fraud cases (1.21%)</a:t>
            </a:r>
            <a:endParaRPr lang="en-US" sz="1400" dirty="0"/>
          </a:p>
        </p:txBody>
      </p:sp>
      <p:sp>
        <p:nvSpPr>
          <p:cNvPr id="10" name="Shape 8"/>
          <p:cNvSpPr/>
          <p:nvPr/>
        </p:nvSpPr>
        <p:spPr>
          <a:xfrm>
            <a:off x="7965043" y="1675130"/>
            <a:ext cx="3407807" cy="1013460"/>
          </a:xfrm>
          <a:prstGeom prst="roundRect">
            <a:avLst>
              <a:gd name="adj" fmla="val 11905"/>
            </a:avLst>
          </a:prstGeom>
          <a:solidFill>
            <a:srgbClr val="FBF9F5"/>
          </a:solidFill>
          <a:ln w="12700">
            <a:solidFill>
              <a:srgbClr val="DAD4C8"/>
            </a:solidFill>
            <a:prstDash val="solid"/>
          </a:ln>
        </p:spPr>
        <p:txBody>
          <a:bodyPr/>
          <a:lstStyle/>
          <a:p>
            <a:endParaRPr lang="en-US"/>
          </a:p>
        </p:txBody>
      </p:sp>
      <p:sp>
        <p:nvSpPr>
          <p:cNvPr id="11" name="Text 9"/>
          <p:cNvSpPr/>
          <p:nvPr/>
        </p:nvSpPr>
        <p:spPr>
          <a:xfrm>
            <a:off x="8172053" y="1831341"/>
            <a:ext cx="3083600"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10202E"/>
                </a:solidFill>
                <a:latin typeface="DM Sans" pitchFamily="34" charset="0"/>
                <a:ea typeface="DM Sans" pitchFamily="34" charset="-122"/>
                <a:cs typeface="DM Sans" pitchFamily="34" charset="-120"/>
              </a:rPr>
              <a:t>180</a:t>
            </a:r>
            <a:endParaRPr lang="en-US" sz="3200" dirty="0"/>
          </a:p>
        </p:txBody>
      </p:sp>
      <p:sp>
        <p:nvSpPr>
          <p:cNvPr id="12" name="Text 10"/>
          <p:cNvSpPr/>
          <p:nvPr/>
        </p:nvSpPr>
        <p:spPr>
          <a:xfrm>
            <a:off x="8172053" y="2283461"/>
            <a:ext cx="30836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Time steps (about 6 months)</a:t>
            </a:r>
            <a:endParaRPr lang="en-US" sz="1400" dirty="0"/>
          </a:p>
        </p:txBody>
      </p:sp>
      <p:sp>
        <p:nvSpPr>
          <p:cNvPr id="13" name="Text 11"/>
          <p:cNvSpPr/>
          <p:nvPr/>
        </p:nvSpPr>
        <p:spPr>
          <a:xfrm>
            <a:off x="812800" y="28981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TIME-ORDERED SPLIT · TRAIN → VALIDATION → TEST</a:t>
            </a:r>
            <a:endParaRPr lang="en-US" sz="1200" dirty="0"/>
          </a:p>
        </p:txBody>
      </p:sp>
      <p:sp>
        <p:nvSpPr>
          <p:cNvPr id="14" name="Shape 12"/>
          <p:cNvSpPr/>
          <p:nvPr/>
        </p:nvSpPr>
        <p:spPr>
          <a:xfrm>
            <a:off x="812800" y="3175000"/>
            <a:ext cx="6661150" cy="609600"/>
          </a:xfrm>
          <a:custGeom>
            <a:avLst/>
            <a:gdLst/>
            <a:ahLst/>
            <a:cxnLst/>
            <a:rect l="l" t="t" r="r" b="b"/>
            <a:pathLst>
              <a:path w="6661150" h="609600">
                <a:moveTo>
                  <a:pt x="0" y="101600"/>
                </a:moveTo>
                <a:arcTo wR="101600" hR="101600" stAng="10800000" swAng="5400000"/>
                <a:lnTo>
                  <a:pt x="6661150" y="0"/>
                </a:lnTo>
                <a:lnTo>
                  <a:pt x="6661150" y="609600"/>
                </a:lnTo>
                <a:lnTo>
                  <a:pt x="101600" y="609600"/>
                </a:lnTo>
                <a:arcTo wR="101600" hR="101600" stAng="5400000" swAng="5400000"/>
                <a:close/>
              </a:path>
            </a:pathLst>
          </a:custGeom>
          <a:solidFill>
            <a:srgbClr val="1D6A96"/>
          </a:solidFill>
          <a:ln/>
        </p:spPr>
        <p:txBody>
          <a:bodyPr/>
          <a:lstStyle/>
          <a:p>
            <a:endParaRPr lang="en-US"/>
          </a:p>
        </p:txBody>
      </p:sp>
      <p:sp>
        <p:nvSpPr>
          <p:cNvPr id="15" name="Text 13"/>
          <p:cNvSpPr/>
          <p:nvPr/>
        </p:nvSpPr>
        <p:spPr>
          <a:xfrm>
            <a:off x="990600" y="3230880"/>
            <a:ext cx="6494717"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2EC"/>
                </a:solidFill>
                <a:latin typeface="DM Sans" pitchFamily="34" charset="0"/>
                <a:ea typeface="DM Sans" pitchFamily="34" charset="-122"/>
                <a:cs typeface="DM Sans" pitchFamily="34" charset="-120"/>
              </a:rPr>
              <a:t>Train · 374,914</a:t>
            </a:r>
            <a:endParaRPr lang="en-US" sz="1600" dirty="0"/>
          </a:p>
        </p:txBody>
      </p:sp>
      <p:sp>
        <p:nvSpPr>
          <p:cNvPr id="16" name="Text 14"/>
          <p:cNvSpPr/>
          <p:nvPr/>
        </p:nvSpPr>
        <p:spPr>
          <a:xfrm>
            <a:off x="990600" y="3515361"/>
            <a:ext cx="649471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C"/>
                </a:solidFill>
                <a:latin typeface="DM Sans" pitchFamily="34" charset="0"/>
                <a:ea typeface="DM Sans" pitchFamily="34" charset="-122"/>
                <a:cs typeface="DM Sans" pitchFamily="34" charset="-120"/>
              </a:rPr>
              <a:t>steps 0–119 · 4,800 frauds</a:t>
            </a:r>
            <a:endParaRPr lang="en-US" sz="1200" dirty="0"/>
          </a:p>
        </p:txBody>
      </p:sp>
      <p:sp>
        <p:nvSpPr>
          <p:cNvPr id="17" name="Shape 15"/>
          <p:cNvSpPr/>
          <p:nvPr/>
        </p:nvSpPr>
        <p:spPr>
          <a:xfrm>
            <a:off x="7473950" y="3175000"/>
            <a:ext cx="1924050" cy="609600"/>
          </a:xfrm>
          <a:prstGeom prst="rect">
            <a:avLst/>
          </a:prstGeom>
          <a:solidFill>
            <a:srgbClr val="7FB8D6"/>
          </a:solidFill>
          <a:ln/>
        </p:spPr>
        <p:txBody>
          <a:bodyPr/>
          <a:lstStyle/>
          <a:p>
            <a:endParaRPr lang="en-US"/>
          </a:p>
        </p:txBody>
      </p:sp>
      <p:sp>
        <p:nvSpPr>
          <p:cNvPr id="18" name="Text 16"/>
          <p:cNvSpPr/>
          <p:nvPr/>
        </p:nvSpPr>
        <p:spPr>
          <a:xfrm>
            <a:off x="7600950" y="3230880"/>
            <a:ext cx="172085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202E"/>
                </a:solidFill>
                <a:latin typeface="DM Sans" pitchFamily="34" charset="0"/>
                <a:ea typeface="DM Sans" pitchFamily="34" charset="-122"/>
                <a:cs typeface="DM Sans" pitchFamily="34" charset="-120"/>
              </a:rPr>
              <a:t>Val · 108,423</a:t>
            </a:r>
            <a:endParaRPr lang="en-US" sz="1600" dirty="0"/>
          </a:p>
        </p:txBody>
      </p:sp>
      <p:sp>
        <p:nvSpPr>
          <p:cNvPr id="19" name="Text 17"/>
          <p:cNvSpPr/>
          <p:nvPr/>
        </p:nvSpPr>
        <p:spPr>
          <a:xfrm>
            <a:off x="7600950" y="3515361"/>
            <a:ext cx="17208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steps 120–149</a:t>
            </a:r>
            <a:endParaRPr lang="en-US" sz="1200" dirty="0"/>
          </a:p>
        </p:txBody>
      </p:sp>
      <p:sp>
        <p:nvSpPr>
          <p:cNvPr id="20" name="Shape 18"/>
          <p:cNvSpPr/>
          <p:nvPr/>
        </p:nvSpPr>
        <p:spPr>
          <a:xfrm>
            <a:off x="9410700" y="3187700"/>
            <a:ext cx="1955800" cy="584200"/>
          </a:xfrm>
          <a:custGeom>
            <a:avLst/>
            <a:gdLst/>
            <a:ahLst/>
            <a:cxnLst/>
            <a:rect l="l" t="t" r="r" b="b"/>
            <a:pathLst>
              <a:path w="1955800" h="584200">
                <a:moveTo>
                  <a:pt x="0" y="0"/>
                </a:moveTo>
                <a:lnTo>
                  <a:pt x="1866900" y="0"/>
                </a:lnTo>
                <a:arcTo wR="88900" hR="88900" stAng="16200000" swAng="5400000"/>
                <a:lnTo>
                  <a:pt x="1955800" y="495300"/>
                </a:lnTo>
                <a:arcTo wR="88900" hR="88900" stAng="0" swAng="5400000"/>
                <a:lnTo>
                  <a:pt x="0" y="584200"/>
                </a:lnTo>
                <a:lnTo>
                  <a:pt x="0" y="0"/>
                </a:lnTo>
                <a:close/>
              </a:path>
            </a:pathLst>
          </a:custGeom>
          <a:solidFill>
            <a:srgbClr val="10202E"/>
          </a:solidFill>
          <a:ln w="25400">
            <a:solidFill>
              <a:srgbClr val="C2410C"/>
            </a:solidFill>
            <a:prstDash val="solid"/>
          </a:ln>
        </p:spPr>
        <p:txBody>
          <a:bodyPr/>
          <a:lstStyle/>
          <a:p>
            <a:endParaRPr lang="en-US"/>
          </a:p>
        </p:txBody>
      </p:sp>
      <p:sp>
        <p:nvSpPr>
          <p:cNvPr id="21" name="Text 19"/>
          <p:cNvSpPr/>
          <p:nvPr/>
        </p:nvSpPr>
        <p:spPr>
          <a:xfrm>
            <a:off x="9550400" y="3230880"/>
            <a:ext cx="1727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2EC"/>
                </a:solidFill>
                <a:latin typeface="DM Sans" pitchFamily="34" charset="0"/>
                <a:ea typeface="DM Sans" pitchFamily="34" charset="-122"/>
                <a:cs typeface="DM Sans" pitchFamily="34" charset="-120"/>
              </a:rPr>
              <a:t>Test · 111,306</a:t>
            </a:r>
            <a:endParaRPr lang="en-US" sz="1600" dirty="0"/>
          </a:p>
        </p:txBody>
      </p:sp>
      <p:sp>
        <p:nvSpPr>
          <p:cNvPr id="22" name="Text 20"/>
          <p:cNvSpPr/>
          <p:nvPr/>
        </p:nvSpPr>
        <p:spPr>
          <a:xfrm>
            <a:off x="9550400" y="3515361"/>
            <a:ext cx="17272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2EC"/>
                </a:solidFill>
                <a:latin typeface="DM Sans" pitchFamily="34" charset="0"/>
                <a:ea typeface="DM Sans" pitchFamily="34" charset="-122"/>
                <a:cs typeface="DM Sans" pitchFamily="34" charset="-120"/>
              </a:rPr>
              <a:t>steps 150–179 · locked</a:t>
            </a:r>
            <a:endParaRPr lang="en-US" sz="1200" dirty="0"/>
          </a:p>
        </p:txBody>
      </p:sp>
      <p:sp>
        <p:nvSpPr>
          <p:cNvPr id="23" name="Shape 21"/>
          <p:cNvSpPr/>
          <p:nvPr/>
        </p:nvSpPr>
        <p:spPr>
          <a:xfrm>
            <a:off x="812800" y="3987800"/>
            <a:ext cx="4476750" cy="1168400"/>
          </a:xfrm>
          <a:prstGeom prst="roundRect">
            <a:avLst>
              <a:gd name="adj" fmla="val 10870"/>
            </a:avLst>
          </a:prstGeom>
          <a:solidFill>
            <a:srgbClr val="10202E"/>
          </a:solidFill>
          <a:ln/>
        </p:spPr>
        <p:txBody>
          <a:bodyPr/>
          <a:lstStyle/>
          <a:p>
            <a:endParaRPr lang="en-US"/>
          </a:p>
        </p:txBody>
      </p:sp>
      <p:sp>
        <p:nvSpPr>
          <p:cNvPr id="24" name="Text 22"/>
          <p:cNvSpPr/>
          <p:nvPr/>
        </p:nvSpPr>
        <p:spPr>
          <a:xfrm>
            <a:off x="1016000" y="4165600"/>
            <a:ext cx="419246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REMEMBER</a:t>
            </a:r>
            <a:endParaRPr lang="en-US" sz="1200" dirty="0"/>
          </a:p>
        </p:txBody>
      </p:sp>
      <p:sp>
        <p:nvSpPr>
          <p:cNvPr id="25" name="Text 23"/>
          <p:cNvSpPr/>
          <p:nvPr/>
        </p:nvSpPr>
        <p:spPr>
          <a:xfrm>
            <a:off x="1016000" y="4429761"/>
            <a:ext cx="4192460" cy="574040"/>
          </a:xfrm>
          <a:prstGeom prst="rect">
            <a:avLst/>
          </a:prstGeom>
          <a:noFill/>
          <a:ln/>
        </p:spPr>
        <p:txBody>
          <a:bodyPr wrap="square" lIns="0" tIns="0" rIns="0" bIns="0" rtlCol="0" anchor="t">
            <a:normAutofit/>
          </a:bodyPr>
          <a:lstStyle/>
          <a:p>
            <a:pPr marL="0" indent="0" algn="l">
              <a:lnSpc>
                <a:spcPts val="2160"/>
              </a:lnSpc>
              <a:buNone/>
            </a:pPr>
            <a:r>
              <a:rPr lang="en-US" sz="1800" i="1" dirty="0">
                <a:solidFill>
                  <a:srgbClr val="F5F2EC"/>
                </a:solidFill>
                <a:latin typeface="DM Sans" pitchFamily="34" charset="0"/>
                <a:ea typeface="DM Sans" pitchFamily="34" charset="-122"/>
                <a:cs typeface="DM Sans" pitchFamily="34" charset="-120"/>
              </a:rPr>
              <a:t>To predict the future, we must not train on it.</a:t>
            </a:r>
            <a:endParaRPr lang="en-US" sz="1800" dirty="0"/>
          </a:p>
        </p:txBody>
      </p:sp>
      <p:sp>
        <p:nvSpPr>
          <p:cNvPr id="26" name="Shape 24"/>
          <p:cNvSpPr/>
          <p:nvPr/>
        </p:nvSpPr>
        <p:spPr>
          <a:xfrm>
            <a:off x="5511800" y="3987800"/>
            <a:ext cx="0" cy="1168400"/>
          </a:xfrm>
          <a:prstGeom prst="line">
            <a:avLst/>
          </a:prstGeom>
          <a:noFill/>
          <a:ln w="38100">
            <a:solidFill>
              <a:srgbClr val="1D6A96"/>
            </a:solidFill>
            <a:prstDash val="solid"/>
          </a:ln>
        </p:spPr>
        <p:txBody>
          <a:bodyPr/>
          <a:lstStyle/>
          <a:p>
            <a:endParaRPr lang="en-US"/>
          </a:p>
        </p:txBody>
      </p:sp>
      <p:sp>
        <p:nvSpPr>
          <p:cNvPr id="27" name="Text 25"/>
          <p:cNvSpPr/>
          <p:nvPr/>
        </p:nvSpPr>
        <p:spPr>
          <a:xfrm>
            <a:off x="5680710" y="4093211"/>
            <a:ext cx="5869445"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WHY NOT A RANDOM SPLIT?</a:t>
            </a:r>
            <a:endParaRPr lang="en-US" sz="1200" dirty="0"/>
          </a:p>
        </p:txBody>
      </p:sp>
      <p:sp>
        <p:nvSpPr>
          <p:cNvPr id="28" name="Text 26"/>
          <p:cNvSpPr/>
          <p:nvPr/>
        </p:nvSpPr>
        <p:spPr>
          <a:xfrm>
            <a:off x="5680710" y="4357370"/>
            <a:ext cx="5869445"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Fraud on one stolen card is repeated across days. Mixing days lets the model memorise a fraud campaign and look better than it really is.</a:t>
            </a:r>
            <a:endParaRPr lang="en-US" sz="1400" dirty="0"/>
          </a:p>
        </p:txBody>
      </p:sp>
      <p:sp>
        <p:nvSpPr>
          <p:cNvPr id="29" name="Text 27"/>
          <p:cNvSpPr/>
          <p:nvPr/>
        </p:nvSpPr>
        <p:spPr>
          <a:xfrm>
            <a:off x="812800" y="6238239"/>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§2</a:t>
            </a:r>
            <a:endParaRPr lang="en-US" sz="1200" dirty="0"/>
          </a:p>
        </p:txBody>
      </p:sp>
      <p:sp>
        <p:nvSpPr>
          <p:cNvPr id="30" name="Text 28"/>
          <p:cNvSpPr/>
          <p:nvPr/>
        </p:nvSpPr>
        <p:spPr>
          <a:xfrm>
            <a:off x="4367784" y="6238239"/>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(4) </a:t>
            </a:r>
            <a:r>
              <a:rPr lang="en-US" sz="1200" dirty="0">
                <a:solidFill>
                  <a:srgbClr val="54606C"/>
                </a:solidFill>
                <a:latin typeface="DM Sans" pitchFamily="34" charset="0"/>
                <a:ea typeface="DM Sans" pitchFamily="34" charset="-122"/>
                <a:cs typeface="DM Sans" pitchFamily="34" charset="-120"/>
              </a:rPr>
              <a:t>Next → How rare is fraud, and does rare mean small?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 · CLASS IMBALANCE</a:t>
            </a:r>
            <a:endParaRPr lang="en-US" sz="1200" dirty="0"/>
          </a:p>
        </p:txBody>
      </p:sp>
      <p:sp>
        <p:nvSpPr>
          <p:cNvPr id="3" name="Text 1"/>
          <p:cNvSpPr>
            <a:spLocks noGrp="1"/>
          </p:cNvSpPr>
          <p:nvPr>
            <p:ph type="title"/>
          </p:nvPr>
        </p:nvSpPr>
        <p:spPr>
          <a:xfrm>
            <a:off x="812800" y="11023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Only 1.28% of Transactions — 18% of Transaction Value</a:t>
            </a:r>
            <a:endParaRPr lang="en-US" sz="2600" dirty="0"/>
          </a:p>
        </p:txBody>
      </p:sp>
      <p:sp>
        <p:nvSpPr>
          <p:cNvPr id="4" name="Text 2"/>
          <p:cNvSpPr/>
          <p:nvPr/>
        </p:nvSpPr>
        <p:spPr>
          <a:xfrm>
            <a:off x="812800" y="1932939"/>
            <a:ext cx="72207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Share of transactions that are fraudulent</a:t>
            </a:r>
            <a:endParaRPr lang="en-US" sz="1400" dirty="0"/>
          </a:p>
        </p:txBody>
      </p:sp>
      <p:sp>
        <p:nvSpPr>
          <p:cNvPr id="5" name="Shape 3"/>
          <p:cNvSpPr/>
          <p:nvPr/>
        </p:nvSpPr>
        <p:spPr>
          <a:xfrm>
            <a:off x="812800" y="2291082"/>
            <a:ext cx="368300" cy="406400"/>
          </a:xfrm>
          <a:prstGeom prst="roundRect">
            <a:avLst>
              <a:gd name="adj" fmla="val 10345"/>
            </a:avLst>
          </a:prstGeom>
          <a:solidFill>
            <a:srgbClr val="C2410C"/>
          </a:solidFill>
          <a:ln/>
        </p:spPr>
        <p:txBody>
          <a:bodyPr/>
          <a:lstStyle/>
          <a:p>
            <a:endParaRPr lang="en-US"/>
          </a:p>
        </p:txBody>
      </p:sp>
      <p:sp>
        <p:nvSpPr>
          <p:cNvPr id="6" name="Text 4"/>
          <p:cNvSpPr/>
          <p:nvPr/>
        </p:nvSpPr>
        <p:spPr>
          <a:xfrm>
            <a:off x="1308100" y="2245361"/>
            <a:ext cx="1160716"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DM Sans" pitchFamily="34" charset="0"/>
                <a:ea typeface="DM Sans" pitchFamily="34" charset="-122"/>
                <a:cs typeface="DM Sans" pitchFamily="34" charset="-120"/>
              </a:rPr>
              <a:t>1.28%</a:t>
            </a:r>
            <a:endParaRPr lang="en-US" sz="2800" dirty="0"/>
          </a:p>
        </p:txBody>
      </p:sp>
      <p:sp>
        <p:nvSpPr>
          <p:cNvPr id="7" name="Text 5"/>
          <p:cNvSpPr/>
          <p:nvPr/>
        </p:nvSpPr>
        <p:spPr>
          <a:xfrm>
            <a:off x="812800" y="2933700"/>
            <a:ext cx="722071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Share of total transaction value from fraud</a:t>
            </a:r>
            <a:endParaRPr lang="en-US" sz="1400" dirty="0"/>
          </a:p>
        </p:txBody>
      </p:sp>
      <p:sp>
        <p:nvSpPr>
          <p:cNvPr id="8" name="Shape 6"/>
          <p:cNvSpPr/>
          <p:nvPr/>
        </p:nvSpPr>
        <p:spPr>
          <a:xfrm>
            <a:off x="812800" y="3291839"/>
            <a:ext cx="5143500" cy="406400"/>
          </a:xfrm>
          <a:prstGeom prst="roundRect">
            <a:avLst>
              <a:gd name="adj" fmla="val 9375"/>
            </a:avLst>
          </a:prstGeom>
          <a:solidFill>
            <a:srgbClr val="C2410C"/>
          </a:solidFill>
          <a:ln/>
        </p:spPr>
        <p:txBody>
          <a:bodyPr/>
          <a:lstStyle/>
          <a:p>
            <a:endParaRPr lang="en-US"/>
          </a:p>
        </p:txBody>
      </p:sp>
      <p:sp>
        <p:nvSpPr>
          <p:cNvPr id="9" name="Text 7"/>
          <p:cNvSpPr/>
          <p:nvPr/>
        </p:nvSpPr>
        <p:spPr>
          <a:xfrm>
            <a:off x="6083300" y="3246121"/>
            <a:ext cx="810006"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2410C"/>
                </a:solidFill>
                <a:latin typeface="DM Sans" pitchFamily="34" charset="0"/>
                <a:ea typeface="DM Sans" pitchFamily="34" charset="-122"/>
                <a:cs typeface="DM Sans" pitchFamily="34" charset="-120"/>
              </a:rPr>
              <a:t>18%</a:t>
            </a:r>
            <a:endParaRPr lang="en-US" sz="2800" dirty="0"/>
          </a:p>
        </p:txBody>
      </p:sp>
      <p:sp>
        <p:nvSpPr>
          <p:cNvPr id="10" name="Shape 8"/>
          <p:cNvSpPr/>
          <p:nvPr/>
        </p:nvSpPr>
        <p:spPr>
          <a:xfrm>
            <a:off x="812800" y="3934461"/>
            <a:ext cx="5715000" cy="25400"/>
          </a:xfrm>
          <a:prstGeom prst="rect">
            <a:avLst/>
          </a:prstGeom>
          <a:solidFill>
            <a:srgbClr val="8B95A0"/>
          </a:solidFill>
          <a:ln/>
        </p:spPr>
        <p:txBody>
          <a:bodyPr/>
          <a:lstStyle/>
          <a:p>
            <a:endParaRPr lang="en-US"/>
          </a:p>
        </p:txBody>
      </p:sp>
      <p:sp>
        <p:nvSpPr>
          <p:cNvPr id="11" name="Text 9"/>
          <p:cNvSpPr/>
          <p:nvPr/>
        </p:nvSpPr>
        <p:spPr>
          <a:xfrm>
            <a:off x="812800" y="3997961"/>
            <a:ext cx="27487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0%</a:t>
            </a:r>
            <a:endParaRPr lang="en-US" sz="1200" dirty="0"/>
          </a:p>
        </p:txBody>
      </p:sp>
      <p:sp>
        <p:nvSpPr>
          <p:cNvPr id="12" name="Text 10"/>
          <p:cNvSpPr/>
          <p:nvPr/>
        </p:nvSpPr>
        <p:spPr>
          <a:xfrm>
            <a:off x="2145824" y="3997961"/>
            <a:ext cx="2636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5%</a:t>
            </a:r>
            <a:endParaRPr lang="en-US" sz="1200" dirty="0"/>
          </a:p>
        </p:txBody>
      </p:sp>
      <p:sp>
        <p:nvSpPr>
          <p:cNvPr id="13" name="Text 11"/>
          <p:cNvSpPr/>
          <p:nvPr/>
        </p:nvSpPr>
        <p:spPr>
          <a:xfrm>
            <a:off x="3467576" y="3997961"/>
            <a:ext cx="32594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10%</a:t>
            </a:r>
            <a:endParaRPr lang="en-US" sz="1200" dirty="0"/>
          </a:p>
        </p:txBody>
      </p:sp>
      <p:sp>
        <p:nvSpPr>
          <p:cNvPr id="14" name="Text 12"/>
          <p:cNvSpPr/>
          <p:nvPr/>
        </p:nvSpPr>
        <p:spPr>
          <a:xfrm>
            <a:off x="4848146" y="3997961"/>
            <a:ext cx="31242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15%</a:t>
            </a:r>
            <a:endParaRPr lang="en-US" sz="1200" dirty="0"/>
          </a:p>
        </p:txBody>
      </p:sp>
      <p:sp>
        <p:nvSpPr>
          <p:cNvPr id="15" name="Text 13"/>
          <p:cNvSpPr/>
          <p:nvPr/>
        </p:nvSpPr>
        <p:spPr>
          <a:xfrm>
            <a:off x="6155373" y="3997961"/>
            <a:ext cx="37242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4606C"/>
                </a:solidFill>
                <a:latin typeface="DM Sans" pitchFamily="34" charset="0"/>
                <a:ea typeface="DM Sans" pitchFamily="34" charset="-122"/>
                <a:cs typeface="DM Sans" pitchFamily="34" charset="-120"/>
              </a:rPr>
              <a:t>20%</a:t>
            </a:r>
            <a:endParaRPr lang="en-US" sz="1200" dirty="0"/>
          </a:p>
        </p:txBody>
      </p:sp>
      <p:sp>
        <p:nvSpPr>
          <p:cNvPr id="16" name="Text 14"/>
          <p:cNvSpPr/>
          <p:nvPr/>
        </p:nvSpPr>
        <p:spPr>
          <a:xfrm>
            <a:off x="812800" y="4249421"/>
            <a:ext cx="722071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Same 0–20% scale for both bars</a:t>
            </a:r>
            <a:endParaRPr lang="en-US" sz="1200" dirty="0"/>
          </a:p>
        </p:txBody>
      </p:sp>
      <p:sp>
        <p:nvSpPr>
          <p:cNvPr id="17" name="Shape 15"/>
          <p:cNvSpPr/>
          <p:nvPr/>
        </p:nvSpPr>
        <p:spPr>
          <a:xfrm>
            <a:off x="8083550" y="1675132"/>
            <a:ext cx="3289300" cy="3045460"/>
          </a:xfrm>
          <a:prstGeom prst="roundRect">
            <a:avLst>
              <a:gd name="adj" fmla="val 3962"/>
            </a:avLst>
          </a:prstGeom>
          <a:solidFill>
            <a:srgbClr val="FBF9F5"/>
          </a:solidFill>
          <a:ln w="12700">
            <a:solidFill>
              <a:srgbClr val="DAD4C8"/>
            </a:solidFill>
            <a:prstDash val="solid"/>
          </a:ln>
        </p:spPr>
        <p:txBody>
          <a:bodyPr/>
          <a:lstStyle/>
          <a:p>
            <a:endParaRPr lang="en-US"/>
          </a:p>
        </p:txBody>
      </p:sp>
      <p:sp>
        <p:nvSpPr>
          <p:cNvPr id="18" name="Text 16"/>
          <p:cNvSpPr/>
          <p:nvPr/>
        </p:nvSpPr>
        <p:spPr>
          <a:xfrm>
            <a:off x="8265160" y="1831339"/>
            <a:ext cx="3013863" cy="227489"/>
          </a:xfrm>
          <a:prstGeom prst="rect">
            <a:avLst/>
          </a:prstGeom>
          <a:noFill/>
          <a:ln/>
        </p:spPr>
        <p:txBody>
          <a:bodyPr wrap="square" lIns="0" tIns="0" rIns="0" bIns="0" rtlCol="0" anchor="t">
            <a:normAutofit/>
          </a:bodyPr>
          <a:lstStyle/>
          <a:p>
            <a:pPr marL="0" indent="0" algn="l">
              <a:lnSpc>
                <a:spcPts val="1622"/>
              </a:lnSpc>
              <a:buNone/>
            </a:pPr>
            <a:r>
              <a:rPr lang="en-US" sz="1159" b="1" kern="0" spc="50" dirty="0">
                <a:solidFill>
                  <a:srgbClr val="54606C"/>
                </a:solidFill>
                <a:latin typeface="DM Sans" pitchFamily="34" charset="0"/>
                <a:ea typeface="DM Sans" pitchFamily="34" charset="-122"/>
                <a:cs typeface="DM Sans" pitchFamily="34" charset="-120"/>
              </a:rPr>
              <a:t>IN ABSOLUTE TERMS · TRAIN</a:t>
            </a:r>
            <a:endParaRPr lang="en-US" sz="1159" dirty="0"/>
          </a:p>
        </p:txBody>
      </p:sp>
      <p:sp>
        <p:nvSpPr>
          <p:cNvPr id="19" name="Text 17"/>
          <p:cNvSpPr/>
          <p:nvPr/>
        </p:nvSpPr>
        <p:spPr>
          <a:xfrm>
            <a:off x="8265160" y="2122329"/>
            <a:ext cx="3013863" cy="244396"/>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0202E"/>
                </a:solidFill>
                <a:latin typeface="DM Sans" pitchFamily="34" charset="0"/>
                <a:ea typeface="DM Sans" pitchFamily="34" charset="-122"/>
                <a:cs typeface="DM Sans" pitchFamily="34" charset="-120"/>
              </a:rPr>
              <a:t>Transactions</a:t>
            </a:r>
            <a:endParaRPr lang="en-US" sz="1231" dirty="0"/>
          </a:p>
        </p:txBody>
      </p:sp>
      <p:sp>
        <p:nvSpPr>
          <p:cNvPr id="20" name="Shape 18"/>
          <p:cNvSpPr/>
          <p:nvPr/>
        </p:nvSpPr>
        <p:spPr>
          <a:xfrm>
            <a:off x="8265160" y="2436019"/>
            <a:ext cx="2032000" cy="190500"/>
          </a:xfrm>
          <a:prstGeom prst="roundRect">
            <a:avLst>
              <a:gd name="adj" fmla="val 13333"/>
            </a:avLst>
          </a:prstGeom>
          <a:solidFill>
            <a:srgbClr val="1D6A96"/>
          </a:solidFill>
          <a:ln/>
        </p:spPr>
        <p:txBody>
          <a:bodyPr/>
          <a:lstStyle/>
          <a:p>
            <a:endParaRPr lang="en-US"/>
          </a:p>
        </p:txBody>
      </p:sp>
      <p:sp>
        <p:nvSpPr>
          <p:cNvPr id="21" name="Text 19"/>
          <p:cNvSpPr/>
          <p:nvPr/>
        </p:nvSpPr>
        <p:spPr>
          <a:xfrm>
            <a:off x="10373360" y="2424668"/>
            <a:ext cx="57816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370,114</a:t>
            </a:r>
            <a:endParaRPr lang="en-US" sz="1200" dirty="0"/>
          </a:p>
        </p:txBody>
      </p:sp>
      <p:sp>
        <p:nvSpPr>
          <p:cNvPr id="22" name="Shape 20"/>
          <p:cNvSpPr/>
          <p:nvPr/>
        </p:nvSpPr>
        <p:spPr>
          <a:xfrm>
            <a:off x="8265160" y="2727086"/>
            <a:ext cx="38100" cy="190500"/>
          </a:xfrm>
          <a:prstGeom prst="roundRect">
            <a:avLst>
              <a:gd name="adj" fmla="val 50000"/>
            </a:avLst>
          </a:prstGeom>
          <a:solidFill>
            <a:srgbClr val="C2410C"/>
          </a:solidFill>
          <a:ln/>
        </p:spPr>
        <p:txBody>
          <a:bodyPr/>
          <a:lstStyle/>
          <a:p>
            <a:endParaRPr lang="en-US"/>
          </a:p>
        </p:txBody>
      </p:sp>
      <p:sp>
        <p:nvSpPr>
          <p:cNvPr id="23" name="Text 21"/>
          <p:cNvSpPr/>
          <p:nvPr/>
        </p:nvSpPr>
        <p:spPr>
          <a:xfrm>
            <a:off x="8379460" y="2715657"/>
            <a:ext cx="106241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DM Sans" pitchFamily="34" charset="0"/>
                <a:ea typeface="DM Sans" pitchFamily="34" charset="-122"/>
                <a:cs typeface="DM Sans" pitchFamily="34" charset="-120"/>
              </a:rPr>
              <a:t>4,800 fraud</a:t>
            </a:r>
            <a:endParaRPr lang="en-US" sz="1200" dirty="0"/>
          </a:p>
        </p:txBody>
      </p:sp>
      <p:sp>
        <p:nvSpPr>
          <p:cNvPr id="24" name="Shape 22"/>
          <p:cNvSpPr/>
          <p:nvPr/>
        </p:nvSpPr>
        <p:spPr>
          <a:xfrm>
            <a:off x="8265160" y="3018631"/>
            <a:ext cx="2926080" cy="0"/>
          </a:xfrm>
          <a:prstGeom prst="line">
            <a:avLst/>
          </a:prstGeom>
          <a:noFill/>
          <a:ln w="12700">
            <a:solidFill>
              <a:srgbClr val="DAD4C8"/>
            </a:solidFill>
            <a:prstDash val="solid"/>
          </a:ln>
        </p:spPr>
        <p:txBody>
          <a:bodyPr/>
          <a:lstStyle/>
          <a:p>
            <a:endParaRPr lang="en-US"/>
          </a:p>
        </p:txBody>
      </p:sp>
      <p:sp>
        <p:nvSpPr>
          <p:cNvPr id="25" name="Text 23"/>
          <p:cNvSpPr/>
          <p:nvPr/>
        </p:nvSpPr>
        <p:spPr>
          <a:xfrm>
            <a:off x="8265160" y="3111341"/>
            <a:ext cx="3013863" cy="244396"/>
          </a:xfrm>
          <a:prstGeom prst="rect">
            <a:avLst/>
          </a:prstGeom>
          <a:noFill/>
          <a:ln/>
        </p:spPr>
        <p:txBody>
          <a:bodyPr wrap="square" lIns="0" tIns="0" rIns="0" bIns="0" rtlCol="0" anchor="t">
            <a:normAutofit/>
          </a:bodyPr>
          <a:lstStyle/>
          <a:p>
            <a:pPr marL="0" indent="0" algn="l">
              <a:lnSpc>
                <a:spcPts val="1740"/>
              </a:lnSpc>
              <a:buNone/>
            </a:pPr>
            <a:r>
              <a:rPr lang="en-US" sz="1243" b="1" dirty="0">
                <a:solidFill>
                  <a:srgbClr val="10202E"/>
                </a:solidFill>
                <a:latin typeface="DM Sans" pitchFamily="34" charset="0"/>
                <a:ea typeface="DM Sans" pitchFamily="34" charset="-122"/>
                <a:cs typeface="DM Sans" pitchFamily="34" charset="-120"/>
              </a:rPr>
              <a:t>Transaction value</a:t>
            </a:r>
            <a:endParaRPr lang="en-US" sz="1243" dirty="0"/>
          </a:p>
        </p:txBody>
      </p:sp>
      <p:sp>
        <p:nvSpPr>
          <p:cNvPr id="26" name="Shape 24"/>
          <p:cNvSpPr/>
          <p:nvPr/>
        </p:nvSpPr>
        <p:spPr>
          <a:xfrm>
            <a:off x="8265160" y="3425031"/>
            <a:ext cx="2032000" cy="190500"/>
          </a:xfrm>
          <a:prstGeom prst="roundRect">
            <a:avLst>
              <a:gd name="adj" fmla="val 13333"/>
            </a:avLst>
          </a:prstGeom>
          <a:solidFill>
            <a:srgbClr val="1D6A96"/>
          </a:solidFill>
          <a:ln/>
        </p:spPr>
        <p:txBody>
          <a:bodyPr/>
          <a:lstStyle/>
          <a:p>
            <a:endParaRPr lang="en-US"/>
          </a:p>
        </p:txBody>
      </p:sp>
      <p:sp>
        <p:nvSpPr>
          <p:cNvPr id="27" name="Text 25"/>
          <p:cNvSpPr/>
          <p:nvPr/>
        </p:nvSpPr>
        <p:spPr>
          <a:xfrm>
            <a:off x="10373360" y="3413602"/>
            <a:ext cx="5213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$11.8M</a:t>
            </a:r>
            <a:endParaRPr lang="en-US" sz="1200" dirty="0"/>
          </a:p>
        </p:txBody>
      </p:sp>
      <p:sp>
        <p:nvSpPr>
          <p:cNvPr id="28" name="Shape 26"/>
          <p:cNvSpPr/>
          <p:nvPr/>
        </p:nvSpPr>
        <p:spPr>
          <a:xfrm>
            <a:off x="8265160" y="3716021"/>
            <a:ext cx="444500" cy="190500"/>
          </a:xfrm>
          <a:prstGeom prst="roundRect">
            <a:avLst>
              <a:gd name="adj" fmla="val 13333"/>
            </a:avLst>
          </a:prstGeom>
          <a:solidFill>
            <a:srgbClr val="C2410C"/>
          </a:solidFill>
          <a:ln/>
        </p:spPr>
        <p:txBody>
          <a:bodyPr/>
          <a:lstStyle/>
          <a:p>
            <a:endParaRPr lang="en-US"/>
          </a:p>
        </p:txBody>
      </p:sp>
      <p:sp>
        <p:nvSpPr>
          <p:cNvPr id="29" name="Text 27"/>
          <p:cNvSpPr/>
          <p:nvPr/>
        </p:nvSpPr>
        <p:spPr>
          <a:xfrm>
            <a:off x="8785860" y="3704670"/>
            <a:ext cx="106003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DM Sans" pitchFamily="34" charset="0"/>
                <a:ea typeface="DM Sans" pitchFamily="34" charset="-122"/>
                <a:cs typeface="DM Sans" pitchFamily="34" charset="-120"/>
              </a:rPr>
              <a:t>$2.6M fraud</a:t>
            </a:r>
            <a:endParaRPr lang="en-US" sz="1200" dirty="0"/>
          </a:p>
        </p:txBody>
      </p:sp>
      <p:sp>
        <p:nvSpPr>
          <p:cNvPr id="30" name="Text 28"/>
          <p:cNvSpPr/>
          <p:nvPr/>
        </p:nvSpPr>
        <p:spPr>
          <a:xfrm>
            <a:off x="8265160" y="4001294"/>
            <a:ext cx="3013863" cy="588486"/>
          </a:xfrm>
          <a:prstGeom prst="rect">
            <a:avLst/>
          </a:prstGeom>
          <a:noFill/>
          <a:ln/>
        </p:spPr>
        <p:txBody>
          <a:bodyPr wrap="square" lIns="0" tIns="0" rIns="0" bIns="0" rtlCol="0" anchor="t">
            <a:normAutofit/>
          </a:bodyPr>
          <a:lstStyle/>
          <a:p>
            <a:pPr marL="0" indent="0" algn="l">
              <a:lnSpc>
                <a:spcPts val="1492"/>
              </a:lnSpc>
              <a:buNone/>
            </a:pPr>
            <a:r>
              <a:rPr lang="en-US" sz="1148" dirty="0">
                <a:solidFill>
                  <a:srgbClr val="54606C"/>
                </a:solidFill>
                <a:latin typeface="DM Sans" pitchFamily="34" charset="0"/>
                <a:ea typeface="DM Sans" pitchFamily="34" charset="-122"/>
                <a:cs typeface="DM Sans" pitchFamily="34" charset="-120"/>
              </a:rPr>
              <a:t>Train: 374,914 transactions, 4,800 frauds. Legitimate bars shown on the same scale per row.</a:t>
            </a:r>
            <a:endParaRPr lang="en-US" sz="1148" dirty="0"/>
          </a:p>
        </p:txBody>
      </p:sp>
      <p:sp>
        <p:nvSpPr>
          <p:cNvPr id="31" name="Shape 29"/>
          <p:cNvSpPr/>
          <p:nvPr/>
        </p:nvSpPr>
        <p:spPr>
          <a:xfrm>
            <a:off x="812800" y="4930139"/>
            <a:ext cx="4653756" cy="911860"/>
          </a:xfrm>
          <a:prstGeom prst="roundRect">
            <a:avLst>
              <a:gd name="adj" fmla="val 13928"/>
            </a:avLst>
          </a:prstGeom>
          <a:solidFill>
            <a:srgbClr val="10202E"/>
          </a:solidFill>
          <a:ln/>
        </p:spPr>
        <p:txBody>
          <a:bodyPr/>
          <a:lstStyle/>
          <a:p>
            <a:endParaRPr lang="en-US"/>
          </a:p>
        </p:txBody>
      </p:sp>
      <p:sp>
        <p:nvSpPr>
          <p:cNvPr id="32" name="Text 30"/>
          <p:cNvSpPr/>
          <p:nvPr/>
        </p:nvSpPr>
        <p:spPr>
          <a:xfrm>
            <a:off x="1016000" y="5082539"/>
            <a:ext cx="4374777"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REMEMBER</a:t>
            </a:r>
            <a:endParaRPr lang="en-US" sz="1200" dirty="0"/>
          </a:p>
        </p:txBody>
      </p:sp>
      <p:sp>
        <p:nvSpPr>
          <p:cNvPr id="33" name="Text 31"/>
          <p:cNvSpPr/>
          <p:nvPr/>
        </p:nvSpPr>
        <p:spPr>
          <a:xfrm>
            <a:off x="1016000" y="5334000"/>
            <a:ext cx="4374777" cy="381000"/>
          </a:xfrm>
          <a:prstGeom prst="rect">
            <a:avLst/>
          </a:prstGeom>
          <a:noFill/>
          <a:ln/>
        </p:spPr>
        <p:txBody>
          <a:bodyPr wrap="square" lIns="0" tIns="0" rIns="0" bIns="0" rtlCol="0" anchor="t">
            <a:normAutofit/>
          </a:bodyPr>
          <a:lstStyle/>
          <a:p>
            <a:pPr marL="0" indent="0" algn="l">
              <a:lnSpc>
                <a:spcPts val="2800"/>
              </a:lnSpc>
              <a:buNone/>
            </a:pPr>
            <a:r>
              <a:rPr lang="en-US" sz="2000" i="1" dirty="0">
                <a:solidFill>
                  <a:srgbClr val="F5F2EC"/>
                </a:solidFill>
                <a:latin typeface="DM Sans" pitchFamily="34" charset="0"/>
                <a:ea typeface="DM Sans" pitchFamily="34" charset="-122"/>
                <a:cs typeface="DM Sans" pitchFamily="34" charset="-120"/>
              </a:rPr>
              <a:t>Rare does not mean insignificant.</a:t>
            </a:r>
            <a:endParaRPr lang="en-US" sz="2000" dirty="0"/>
          </a:p>
        </p:txBody>
      </p:sp>
      <p:sp>
        <p:nvSpPr>
          <p:cNvPr id="34" name="Shape 32"/>
          <p:cNvSpPr/>
          <p:nvPr/>
        </p:nvSpPr>
        <p:spPr>
          <a:xfrm>
            <a:off x="5688806" y="4930139"/>
            <a:ext cx="0" cy="911860"/>
          </a:xfrm>
          <a:prstGeom prst="line">
            <a:avLst/>
          </a:prstGeom>
          <a:noFill/>
          <a:ln w="38100">
            <a:solidFill>
              <a:srgbClr val="1D6A96"/>
            </a:solidFill>
            <a:prstDash val="solid"/>
          </a:ln>
        </p:spPr>
        <p:txBody>
          <a:bodyPr/>
          <a:lstStyle/>
          <a:p>
            <a:endParaRPr lang="en-US"/>
          </a:p>
        </p:txBody>
      </p:sp>
      <p:sp>
        <p:nvSpPr>
          <p:cNvPr id="35" name="Text 33"/>
          <p:cNvSpPr/>
          <p:nvPr/>
        </p:nvSpPr>
        <p:spPr>
          <a:xfrm>
            <a:off x="5857716" y="5029200"/>
            <a:ext cx="568712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TAKEAWAY</a:t>
            </a:r>
            <a:endParaRPr lang="en-US" sz="1200" dirty="0"/>
          </a:p>
        </p:txBody>
      </p:sp>
      <p:sp>
        <p:nvSpPr>
          <p:cNvPr id="36" name="Text 34"/>
          <p:cNvSpPr/>
          <p:nvPr/>
        </p:nvSpPr>
        <p:spPr>
          <a:xfrm>
            <a:off x="5857716" y="5280661"/>
            <a:ext cx="5687128"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Fraud is rare in count but heavy in value, so every missed case is expensive. About 1 in 78 Train transactions is fraud.</a:t>
            </a:r>
            <a:endParaRPr lang="en-US" sz="1400" dirty="0"/>
          </a:p>
        </p:txBody>
      </p:sp>
      <p:sp>
        <p:nvSpPr>
          <p:cNvPr id="37" name="Text 35"/>
          <p:cNvSpPr/>
          <p:nvPr/>
        </p:nvSpPr>
        <p:spPr>
          <a:xfrm>
            <a:off x="812800" y="6238239"/>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§3.1 (Train only)</a:t>
            </a:r>
            <a:endParaRPr lang="en-US" sz="1200" dirty="0"/>
          </a:p>
        </p:txBody>
      </p:sp>
      <p:sp>
        <p:nvSpPr>
          <p:cNvPr id="38" name="Text 36"/>
          <p:cNvSpPr/>
          <p:nvPr/>
        </p:nvSpPr>
        <p:spPr>
          <a:xfrm>
            <a:off x="4367784" y="6238239"/>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(5) </a:t>
            </a:r>
            <a:r>
              <a:rPr lang="en-US" sz="1200" dirty="0">
                <a:solidFill>
                  <a:srgbClr val="54606C"/>
                </a:solidFill>
                <a:latin typeface="DM Sans" pitchFamily="34" charset="0"/>
                <a:ea typeface="DM Sans" pitchFamily="34" charset="-122"/>
                <a:cs typeface="DM Sans" pitchFamily="34" charset="-120"/>
              </a:rPr>
              <a:t>Next → What do fraudulent transactions look like?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 · EDA · AMOUNT &amp; MERCHANT</a:t>
            </a:r>
            <a:endParaRPr lang="en-US" sz="1200" dirty="0"/>
          </a:p>
        </p:txBody>
      </p:sp>
      <p:sp>
        <p:nvSpPr>
          <p:cNvPr id="3" name="Text 1"/>
          <p:cNvSpPr>
            <a:spLocks noGrp="1"/>
          </p:cNvSpPr>
          <p:nvPr>
            <p:ph type="title"/>
          </p:nvPr>
        </p:nvSpPr>
        <p:spPr>
          <a:xfrm>
            <a:off x="812800" y="11023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Fraud Leaves Patterns — But Are They Reliable?</a:t>
            </a:r>
            <a:endParaRPr lang="en-US" sz="2600" dirty="0"/>
          </a:p>
        </p:txBody>
      </p:sp>
      <p:sp>
        <p:nvSpPr>
          <p:cNvPr id="4" name="Shape 2"/>
          <p:cNvSpPr/>
          <p:nvPr/>
        </p:nvSpPr>
        <p:spPr>
          <a:xfrm>
            <a:off x="819150" y="1675132"/>
            <a:ext cx="5168900" cy="2852420"/>
          </a:xfrm>
          <a:prstGeom prst="roundRect">
            <a:avLst>
              <a:gd name="adj" fmla="val 4230"/>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26160" y="1882139"/>
            <a:ext cx="4897526" cy="229711"/>
          </a:xfrm>
          <a:prstGeom prst="rect">
            <a:avLst/>
          </a:prstGeom>
          <a:noFill/>
          <a:ln/>
        </p:spPr>
        <p:txBody>
          <a:bodyPr wrap="square" lIns="0" tIns="0" rIns="0" bIns="0" rtlCol="0" anchor="t">
            <a:normAutofit/>
          </a:bodyPr>
          <a:lstStyle/>
          <a:p>
            <a:pPr marL="0" indent="0" algn="l">
              <a:lnSpc>
                <a:spcPts val="1622"/>
              </a:lnSpc>
              <a:buNone/>
            </a:pPr>
            <a:r>
              <a:rPr lang="en-US" sz="1159" b="1" kern="0" spc="50" dirty="0">
                <a:solidFill>
                  <a:srgbClr val="54606C"/>
                </a:solidFill>
                <a:latin typeface="DM Sans" pitchFamily="34" charset="0"/>
                <a:ea typeface="DM Sans" pitchFamily="34" charset="-122"/>
                <a:cs typeface="DM Sans" pitchFamily="34" charset="-120"/>
              </a:rPr>
              <a:t>AVERAGE TRANSACTION AMOUNT · TRAIN</a:t>
            </a:r>
            <a:endParaRPr lang="en-US" sz="1159" dirty="0"/>
          </a:p>
        </p:txBody>
      </p:sp>
      <p:sp>
        <p:nvSpPr>
          <p:cNvPr id="6" name="Text 4"/>
          <p:cNvSpPr/>
          <p:nvPr/>
        </p:nvSpPr>
        <p:spPr>
          <a:xfrm>
            <a:off x="1026160" y="2213452"/>
            <a:ext cx="4897526" cy="263128"/>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10202E"/>
                </a:solidFill>
                <a:latin typeface="DM Sans" pitchFamily="34" charset="0"/>
                <a:ea typeface="DM Sans" pitchFamily="34" charset="-122"/>
                <a:cs typeface="DM Sans" pitchFamily="34" charset="-120"/>
              </a:rPr>
              <a:t>Fraudulent</a:t>
            </a:r>
            <a:endParaRPr lang="en-US" sz="1339" dirty="0"/>
          </a:p>
        </p:txBody>
      </p:sp>
      <p:sp>
        <p:nvSpPr>
          <p:cNvPr id="7" name="Shape 5"/>
          <p:cNvSpPr/>
          <p:nvPr/>
        </p:nvSpPr>
        <p:spPr>
          <a:xfrm>
            <a:off x="1026160" y="2498251"/>
            <a:ext cx="3302000" cy="355600"/>
          </a:xfrm>
          <a:prstGeom prst="roundRect">
            <a:avLst>
              <a:gd name="adj" fmla="val 10714"/>
            </a:avLst>
          </a:prstGeom>
          <a:solidFill>
            <a:srgbClr val="C2410C"/>
          </a:solidFill>
          <a:ln/>
        </p:spPr>
        <p:txBody>
          <a:bodyPr/>
          <a:lstStyle/>
          <a:p>
            <a:endParaRPr lang="en-US"/>
          </a:p>
        </p:txBody>
      </p:sp>
      <p:sp>
        <p:nvSpPr>
          <p:cNvPr id="8" name="Text 6"/>
          <p:cNvSpPr/>
          <p:nvPr/>
        </p:nvSpPr>
        <p:spPr>
          <a:xfrm>
            <a:off x="4429760" y="2480469"/>
            <a:ext cx="1279493"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410C"/>
                </a:solidFill>
                <a:latin typeface="DM Sans" pitchFamily="34" charset="0"/>
                <a:ea typeface="DM Sans" pitchFamily="34" charset="-122"/>
                <a:cs typeface="DM Sans" pitchFamily="34" charset="-120"/>
              </a:rPr>
              <a:t>$537.03</a:t>
            </a:r>
            <a:endParaRPr lang="en-US" sz="2200" dirty="0"/>
          </a:p>
        </p:txBody>
      </p:sp>
      <p:sp>
        <p:nvSpPr>
          <p:cNvPr id="9" name="Text 7"/>
          <p:cNvSpPr/>
          <p:nvPr/>
        </p:nvSpPr>
        <p:spPr>
          <a:xfrm>
            <a:off x="1026160" y="2989818"/>
            <a:ext cx="4897526" cy="263128"/>
          </a:xfrm>
          <a:prstGeom prst="rect">
            <a:avLst/>
          </a:prstGeom>
          <a:noFill/>
          <a:ln/>
        </p:spPr>
        <p:txBody>
          <a:bodyPr wrap="square" lIns="0" tIns="0" rIns="0" bIns="0" rtlCol="0" anchor="t">
            <a:normAutofit/>
          </a:bodyPr>
          <a:lstStyle/>
          <a:p>
            <a:pPr marL="0" indent="0" algn="l">
              <a:lnSpc>
                <a:spcPts val="1874"/>
              </a:lnSpc>
              <a:buNone/>
            </a:pPr>
            <a:r>
              <a:rPr lang="en-US" sz="1339" dirty="0">
                <a:solidFill>
                  <a:srgbClr val="10202E"/>
                </a:solidFill>
                <a:latin typeface="DM Sans" pitchFamily="34" charset="0"/>
                <a:ea typeface="DM Sans" pitchFamily="34" charset="-122"/>
                <a:cs typeface="DM Sans" pitchFamily="34" charset="-120"/>
              </a:rPr>
              <a:t>Legitimate</a:t>
            </a:r>
            <a:endParaRPr lang="en-US" sz="1339" dirty="0"/>
          </a:p>
        </p:txBody>
      </p:sp>
      <p:sp>
        <p:nvSpPr>
          <p:cNvPr id="10" name="Shape 8"/>
          <p:cNvSpPr/>
          <p:nvPr/>
        </p:nvSpPr>
        <p:spPr>
          <a:xfrm>
            <a:off x="1026160" y="3274616"/>
            <a:ext cx="196850" cy="355600"/>
          </a:xfrm>
          <a:prstGeom prst="roundRect">
            <a:avLst>
              <a:gd name="adj" fmla="val 19355"/>
            </a:avLst>
          </a:prstGeom>
          <a:solidFill>
            <a:srgbClr val="1D6A96"/>
          </a:solidFill>
          <a:ln/>
        </p:spPr>
        <p:txBody>
          <a:bodyPr/>
          <a:lstStyle/>
          <a:p>
            <a:endParaRPr lang="en-US"/>
          </a:p>
        </p:txBody>
      </p:sp>
      <p:sp>
        <p:nvSpPr>
          <p:cNvPr id="11" name="Text 9"/>
          <p:cNvSpPr/>
          <p:nvPr/>
        </p:nvSpPr>
        <p:spPr>
          <a:xfrm>
            <a:off x="1324610" y="3256837"/>
            <a:ext cx="101193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D6A96"/>
                </a:solidFill>
                <a:latin typeface="DM Sans" pitchFamily="34" charset="0"/>
                <a:ea typeface="DM Sans" pitchFamily="34" charset="-122"/>
                <a:cs typeface="DM Sans" pitchFamily="34" charset="-120"/>
              </a:rPr>
              <a:t>$31.82</a:t>
            </a:r>
            <a:endParaRPr lang="en-US" sz="2200" dirty="0"/>
          </a:p>
        </p:txBody>
      </p:sp>
      <p:sp>
        <p:nvSpPr>
          <p:cNvPr id="12" name="Shape 10"/>
          <p:cNvSpPr/>
          <p:nvPr/>
        </p:nvSpPr>
        <p:spPr>
          <a:xfrm>
            <a:off x="1026160" y="3772536"/>
            <a:ext cx="4754880" cy="0"/>
          </a:xfrm>
          <a:prstGeom prst="line">
            <a:avLst/>
          </a:prstGeom>
          <a:noFill/>
          <a:ln w="12700">
            <a:solidFill>
              <a:srgbClr val="DAD4C8"/>
            </a:solidFill>
            <a:prstDash val="solid"/>
          </a:ln>
        </p:spPr>
        <p:txBody>
          <a:bodyPr/>
          <a:lstStyle/>
          <a:p>
            <a:endParaRPr lang="en-US"/>
          </a:p>
        </p:txBody>
      </p:sp>
      <p:sp>
        <p:nvSpPr>
          <p:cNvPr id="13" name="Text 11"/>
          <p:cNvSpPr/>
          <p:nvPr/>
        </p:nvSpPr>
        <p:spPr>
          <a:xfrm>
            <a:off x="1026160" y="3877946"/>
            <a:ext cx="4897526" cy="467995"/>
          </a:xfrm>
          <a:prstGeom prst="rect">
            <a:avLst/>
          </a:prstGeom>
          <a:noFill/>
          <a:ln/>
        </p:spPr>
        <p:txBody>
          <a:bodyPr wrap="square" lIns="0" tIns="0" rIns="0" bIns="0" rtlCol="0" anchor="t">
            <a:normAutofit/>
          </a:bodyPr>
          <a:lstStyle/>
          <a:p>
            <a:pPr marL="0" indent="0" algn="l">
              <a:lnSpc>
                <a:spcPts val="1746"/>
              </a:lnSpc>
              <a:buNone/>
            </a:pPr>
            <a:r>
              <a:rPr lang="en-US" sz="1343" dirty="0">
                <a:solidFill>
                  <a:srgbClr val="10202E"/>
                </a:solidFill>
                <a:latin typeface="DM Sans" pitchFamily="34" charset="0"/>
                <a:ea typeface="DM Sans" pitchFamily="34" charset="-122"/>
                <a:cs typeface="DM Sans" pitchFamily="34" charset="-120"/>
              </a:rPr>
              <a:t>Fraud is about 17× larger on average. Amount alone separates the classes.</a:t>
            </a:r>
            <a:endParaRPr lang="en-US" sz="1343" dirty="0"/>
          </a:p>
        </p:txBody>
      </p:sp>
      <p:sp>
        <p:nvSpPr>
          <p:cNvPr id="14" name="Shape 12"/>
          <p:cNvSpPr/>
          <p:nvPr/>
        </p:nvSpPr>
        <p:spPr>
          <a:xfrm>
            <a:off x="6203950" y="1675132"/>
            <a:ext cx="5168900" cy="2852420"/>
          </a:xfrm>
          <a:prstGeom prst="roundRect">
            <a:avLst>
              <a:gd name="adj" fmla="val 4230"/>
            </a:avLst>
          </a:prstGeom>
          <a:solidFill>
            <a:srgbClr val="FBF9F5"/>
          </a:solidFill>
          <a:ln w="12700">
            <a:solidFill>
              <a:srgbClr val="DAD4C8"/>
            </a:solidFill>
            <a:prstDash val="solid"/>
          </a:ln>
        </p:spPr>
        <p:txBody>
          <a:bodyPr/>
          <a:lstStyle/>
          <a:p>
            <a:endParaRPr lang="en-US"/>
          </a:p>
        </p:txBody>
      </p:sp>
      <p:sp>
        <p:nvSpPr>
          <p:cNvPr id="15" name="Text 13"/>
          <p:cNvSpPr/>
          <p:nvPr/>
        </p:nvSpPr>
        <p:spPr>
          <a:xfrm>
            <a:off x="6410960" y="1882139"/>
            <a:ext cx="489752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MERCHANT CONCENTRATION · TRAIN</a:t>
            </a:r>
            <a:endParaRPr lang="en-US" sz="1200" dirty="0"/>
          </a:p>
        </p:txBody>
      </p:sp>
      <p:sp>
        <p:nvSpPr>
          <p:cNvPr id="16" name="Text 14"/>
          <p:cNvSpPr/>
          <p:nvPr/>
        </p:nvSpPr>
        <p:spPr>
          <a:xfrm>
            <a:off x="6410960" y="2222500"/>
            <a:ext cx="48975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0202E"/>
                </a:solidFill>
                <a:latin typeface="DM Sans" pitchFamily="34" charset="0"/>
                <a:ea typeface="DM Sans" pitchFamily="34" charset="-122"/>
                <a:cs typeface="DM Sans" pitchFamily="34" charset="-120"/>
              </a:rPr>
              <a:t>Share of fraud cases in the top 5 merchants</a:t>
            </a:r>
            <a:endParaRPr lang="en-US" sz="1400" dirty="0"/>
          </a:p>
        </p:txBody>
      </p:sp>
      <p:sp>
        <p:nvSpPr>
          <p:cNvPr id="17" name="Shape 15"/>
          <p:cNvSpPr/>
          <p:nvPr/>
        </p:nvSpPr>
        <p:spPr>
          <a:xfrm>
            <a:off x="6410960" y="2509521"/>
            <a:ext cx="2743200" cy="355600"/>
          </a:xfrm>
          <a:custGeom>
            <a:avLst/>
            <a:gdLst/>
            <a:ahLst/>
            <a:cxnLst/>
            <a:rect l="l" t="t" r="r" b="b"/>
            <a:pathLst>
              <a:path w="2743200" h="355600">
                <a:moveTo>
                  <a:pt x="0" y="38100"/>
                </a:moveTo>
                <a:arcTo wR="38100" hR="38100" stAng="10800000" swAng="5400000"/>
                <a:lnTo>
                  <a:pt x="2743200" y="0"/>
                </a:lnTo>
                <a:lnTo>
                  <a:pt x="2743200" y="355600"/>
                </a:lnTo>
                <a:lnTo>
                  <a:pt x="38100" y="355600"/>
                </a:lnTo>
                <a:arcTo wR="38100" hR="38100" stAng="5400000" swAng="5400000"/>
                <a:close/>
              </a:path>
            </a:pathLst>
          </a:custGeom>
          <a:solidFill>
            <a:srgbClr val="C2410C"/>
          </a:solidFill>
          <a:ln/>
        </p:spPr>
        <p:txBody>
          <a:bodyPr/>
          <a:lstStyle/>
          <a:p>
            <a:endParaRPr lang="en-US"/>
          </a:p>
        </p:txBody>
      </p:sp>
      <p:sp>
        <p:nvSpPr>
          <p:cNvPr id="18" name="Shape 16"/>
          <p:cNvSpPr/>
          <p:nvPr/>
        </p:nvSpPr>
        <p:spPr>
          <a:xfrm>
            <a:off x="9154160" y="2509521"/>
            <a:ext cx="1828800" cy="355600"/>
          </a:xfrm>
          <a:custGeom>
            <a:avLst/>
            <a:gdLst/>
            <a:ahLst/>
            <a:cxnLst/>
            <a:rect l="l" t="t" r="r" b="b"/>
            <a:pathLst>
              <a:path w="1828800" h="355600">
                <a:moveTo>
                  <a:pt x="1790700" y="0"/>
                </a:moveTo>
                <a:arcTo wR="38100" hR="38100" stAng="16200000" swAng="5400000"/>
                <a:lnTo>
                  <a:pt x="1828800" y="317500"/>
                </a:lnTo>
                <a:arcTo wR="38100" hR="38100" stAng="0" swAng="5400000"/>
                <a:lnTo>
                  <a:pt x="0" y="355600"/>
                </a:lnTo>
                <a:lnTo>
                  <a:pt x="0" y="0"/>
                </a:lnTo>
                <a:close/>
              </a:path>
            </a:pathLst>
          </a:custGeom>
          <a:solidFill>
            <a:srgbClr val="DAD4C8"/>
          </a:solidFill>
          <a:ln/>
        </p:spPr>
        <p:txBody>
          <a:bodyPr/>
          <a:lstStyle/>
          <a:p>
            <a:endParaRPr lang="en-US"/>
          </a:p>
        </p:txBody>
      </p:sp>
      <p:sp>
        <p:nvSpPr>
          <p:cNvPr id="19" name="Text 17"/>
          <p:cNvSpPr/>
          <p:nvPr/>
        </p:nvSpPr>
        <p:spPr>
          <a:xfrm>
            <a:off x="6410960" y="2903221"/>
            <a:ext cx="4897526"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C2410C"/>
                </a:solidFill>
                <a:latin typeface="DM Sans" pitchFamily="34" charset="0"/>
                <a:ea typeface="DM Sans" pitchFamily="34" charset="-122"/>
                <a:cs typeface="DM Sans" pitchFamily="34" charset="-120"/>
              </a:rPr>
              <a:t>60%</a:t>
            </a:r>
            <a:endParaRPr lang="en-US" sz="2200" dirty="0"/>
          </a:p>
        </p:txBody>
      </p:sp>
      <p:sp>
        <p:nvSpPr>
          <p:cNvPr id="20" name="Shape 18"/>
          <p:cNvSpPr/>
          <p:nvPr/>
        </p:nvSpPr>
        <p:spPr>
          <a:xfrm>
            <a:off x="6410960" y="3427732"/>
            <a:ext cx="4754880" cy="0"/>
          </a:xfrm>
          <a:prstGeom prst="line">
            <a:avLst/>
          </a:prstGeom>
          <a:noFill/>
          <a:ln w="12700">
            <a:solidFill>
              <a:srgbClr val="DAD4C8"/>
            </a:solidFill>
            <a:prstDash val="solid"/>
          </a:ln>
        </p:spPr>
        <p:txBody>
          <a:bodyPr/>
          <a:lstStyle/>
          <a:p>
            <a:endParaRPr lang="en-US"/>
          </a:p>
        </p:txBody>
      </p:sp>
      <p:sp>
        <p:nvSpPr>
          <p:cNvPr id="21" name="Text 19"/>
          <p:cNvSpPr/>
          <p:nvPr/>
        </p:nvSpPr>
        <p:spPr>
          <a:xfrm>
            <a:off x="6410960" y="3533142"/>
            <a:ext cx="489752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30 of 50 merchants have at least one fraud case. Merchant ID is strongly tied to fraud.</a:t>
            </a:r>
            <a:endParaRPr lang="en-US" sz="1400" dirty="0"/>
          </a:p>
        </p:txBody>
      </p:sp>
      <p:sp>
        <p:nvSpPr>
          <p:cNvPr id="22" name="Shape 20"/>
          <p:cNvSpPr/>
          <p:nvPr/>
        </p:nvSpPr>
        <p:spPr>
          <a:xfrm>
            <a:off x="812800" y="4737100"/>
            <a:ext cx="5927884" cy="1104900"/>
          </a:xfrm>
          <a:prstGeom prst="roundRect">
            <a:avLst>
              <a:gd name="adj" fmla="val 11494"/>
            </a:avLst>
          </a:prstGeom>
          <a:solidFill>
            <a:srgbClr val="10202E"/>
          </a:solidFill>
          <a:ln/>
        </p:spPr>
        <p:txBody>
          <a:bodyPr/>
          <a:lstStyle/>
          <a:p>
            <a:endParaRPr lang="en-US"/>
          </a:p>
        </p:txBody>
      </p:sp>
      <p:sp>
        <p:nvSpPr>
          <p:cNvPr id="23" name="Text 21"/>
          <p:cNvSpPr/>
          <p:nvPr/>
        </p:nvSpPr>
        <p:spPr>
          <a:xfrm>
            <a:off x="1016000" y="4889500"/>
            <a:ext cx="568712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ASK YOURSELF</a:t>
            </a:r>
            <a:endParaRPr lang="en-US" sz="1200" dirty="0"/>
          </a:p>
        </p:txBody>
      </p:sp>
      <p:sp>
        <p:nvSpPr>
          <p:cNvPr id="24" name="Text 22"/>
          <p:cNvSpPr/>
          <p:nvPr/>
        </p:nvSpPr>
        <p:spPr>
          <a:xfrm>
            <a:off x="1016000" y="5140961"/>
            <a:ext cx="5687128" cy="574040"/>
          </a:xfrm>
          <a:prstGeom prst="rect">
            <a:avLst/>
          </a:prstGeom>
          <a:noFill/>
          <a:ln/>
        </p:spPr>
        <p:txBody>
          <a:bodyPr wrap="square" lIns="0" tIns="0" rIns="0" bIns="0" rtlCol="0" anchor="t">
            <a:normAutofit/>
          </a:bodyPr>
          <a:lstStyle/>
          <a:p>
            <a:pPr marL="0" indent="0" algn="l">
              <a:lnSpc>
                <a:spcPts val="2160"/>
              </a:lnSpc>
              <a:buNone/>
            </a:pPr>
            <a:r>
              <a:rPr lang="en-US" sz="1800" i="1" dirty="0">
                <a:solidFill>
                  <a:srgbClr val="F5F2EC"/>
                </a:solidFill>
                <a:latin typeface="DM Sans" pitchFamily="34" charset="0"/>
                <a:ea typeface="DM Sans" pitchFamily="34" charset="-122"/>
                <a:cs typeface="DM Sans" pitchFamily="34" charset="-120"/>
              </a:rPr>
              <a:t>Are we detecting fraudulent behavior — or just memorizing merchants?</a:t>
            </a:r>
            <a:endParaRPr lang="en-US" sz="1800" dirty="0"/>
          </a:p>
        </p:txBody>
      </p:sp>
      <p:sp>
        <p:nvSpPr>
          <p:cNvPr id="25" name="Shape 23"/>
          <p:cNvSpPr/>
          <p:nvPr/>
        </p:nvSpPr>
        <p:spPr>
          <a:xfrm>
            <a:off x="6962934" y="4737100"/>
            <a:ext cx="0" cy="1104900"/>
          </a:xfrm>
          <a:prstGeom prst="line">
            <a:avLst/>
          </a:prstGeom>
          <a:noFill/>
          <a:ln w="38100">
            <a:solidFill>
              <a:srgbClr val="1D6A96"/>
            </a:solidFill>
            <a:prstDash val="solid"/>
          </a:ln>
        </p:spPr>
        <p:txBody>
          <a:bodyPr/>
          <a:lstStyle/>
          <a:p>
            <a:endParaRPr lang="en-US"/>
          </a:p>
        </p:txBody>
      </p:sp>
      <p:sp>
        <p:nvSpPr>
          <p:cNvPr id="26" name="Text 24"/>
          <p:cNvSpPr/>
          <p:nvPr/>
        </p:nvSpPr>
        <p:spPr>
          <a:xfrm>
            <a:off x="7131844" y="4932682"/>
            <a:ext cx="4374777"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TAKEAWAY</a:t>
            </a:r>
            <a:endParaRPr lang="en-US" sz="1200" dirty="0"/>
          </a:p>
        </p:txBody>
      </p:sp>
      <p:sp>
        <p:nvSpPr>
          <p:cNvPr id="27" name="Text 25"/>
          <p:cNvSpPr/>
          <p:nvPr/>
        </p:nvSpPr>
        <p:spPr>
          <a:xfrm>
            <a:off x="7131844" y="5184139"/>
            <a:ext cx="4374777"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Strong signals, but merchant risk may not survive new merchants.</a:t>
            </a:r>
            <a:endParaRPr lang="en-US" sz="1400" dirty="0"/>
          </a:p>
        </p:txBody>
      </p:sp>
      <p:sp>
        <p:nvSpPr>
          <p:cNvPr id="28" name="Text 26"/>
          <p:cNvSpPr/>
          <p:nvPr/>
        </p:nvSpPr>
        <p:spPr>
          <a:xfrm>
            <a:off x="812800" y="6238239"/>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§3.3, §3.4, §3.5</a:t>
            </a:r>
            <a:endParaRPr lang="en-US" sz="1200" dirty="0"/>
          </a:p>
        </p:txBody>
      </p:sp>
      <p:sp>
        <p:nvSpPr>
          <p:cNvPr id="29" name="Text 27"/>
          <p:cNvSpPr/>
          <p:nvPr/>
        </p:nvSpPr>
        <p:spPr>
          <a:xfrm>
            <a:off x="4367784" y="6238239"/>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(6) </a:t>
            </a:r>
            <a:r>
              <a:rPr lang="en-US" sz="1200" dirty="0">
                <a:solidFill>
                  <a:srgbClr val="54606C"/>
                </a:solidFill>
                <a:latin typeface="DM Sans" pitchFamily="34" charset="0"/>
                <a:ea typeface="DM Sans" pitchFamily="34" charset="-122"/>
                <a:cs typeface="DM Sans" pitchFamily="34" charset="-120"/>
              </a:rPr>
              <a:t>Next → Turning these patterns into modeling decisions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 · FROM EDA TO DESIGN</a:t>
            </a:r>
            <a:endParaRPr lang="en-US" sz="1200" dirty="0"/>
          </a:p>
        </p:txBody>
      </p:sp>
      <p:sp>
        <p:nvSpPr>
          <p:cNvPr id="3" name="Text 1"/>
          <p:cNvSpPr>
            <a:spLocks noGrp="1"/>
          </p:cNvSpPr>
          <p:nvPr>
            <p:ph type="title"/>
          </p:nvPr>
        </p:nvSpPr>
        <p:spPr>
          <a:xfrm>
            <a:off x="812800" y="11023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From Observations to Feature Engineering</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53542"/>
          <a:ext cx="10556239" cy="2477770"/>
        </p:xfrm>
        <a:graphic>
          <a:graphicData uri="http://schemas.openxmlformats.org/drawingml/2006/table">
            <a:tbl>
              <a:tblPr/>
              <a:tblGrid>
                <a:gridCol w="2955747">
                  <a:extLst>
                    <a:ext uri="{9D8B030D-6E8A-4147-A177-3AD203B41FA5}">
                      <a16:colId xmlns:a16="http://schemas.microsoft.com/office/drawing/2014/main" val="20000"/>
                    </a:ext>
                  </a:extLst>
                </a:gridCol>
                <a:gridCol w="3800246">
                  <a:extLst>
                    <a:ext uri="{9D8B030D-6E8A-4147-A177-3AD203B41FA5}">
                      <a16:colId xmlns:a16="http://schemas.microsoft.com/office/drawing/2014/main" val="20001"/>
                    </a:ext>
                  </a:extLst>
                </a:gridCol>
                <a:gridCol w="380024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0202E"/>
                          </a:solidFill>
                          <a:latin typeface="DM Sans" pitchFamily="34" charset="0"/>
                          <a:ea typeface="DM Sans" pitchFamily="34" charset="-122"/>
                          <a:cs typeface="DM Sans" pitchFamily="34" charset="-120"/>
                        </a:rPr>
                        <a:t>EDA insight</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nSpc>
                          <a:spcPts val="1820"/>
                        </a:lnSpc>
                        <a:buNone/>
                      </a:pPr>
                      <a:r>
                        <a:rPr lang="en-US" sz="1300" b="1" dirty="0">
                          <a:solidFill>
                            <a:srgbClr val="10202E"/>
                          </a:solidFill>
                          <a:latin typeface="DM Sans" pitchFamily="34" charset="0"/>
                          <a:ea typeface="DM Sans" pitchFamily="34" charset="-122"/>
                          <a:cs typeface="DM Sans" pitchFamily="34" charset="-120"/>
                        </a:rPr>
                        <a:t>Evidence (Train)</a:t>
                      </a:r>
                      <a:endParaRPr lang="en-US" sz="1300" dirty="0">
                        <a:latin typeface="DM Sans" charset="0"/>
                        <a:ea typeface="DM Sans" charset="0"/>
                        <a:cs typeface="DM Sans"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nSpc>
                          <a:spcPts val="1820"/>
                        </a:lnSpc>
                        <a:buNone/>
                      </a:pPr>
                      <a:r>
                        <a:rPr lang="en-US" sz="1300" b="1" dirty="0">
                          <a:solidFill>
                            <a:srgbClr val="10202E"/>
                          </a:solidFill>
                          <a:latin typeface="DM Sans" pitchFamily="34" charset="0"/>
                          <a:ea typeface="DM Sans" pitchFamily="34" charset="-122"/>
                          <a:cs typeface="DM Sans" pitchFamily="34" charset="-120"/>
                        </a:rPr>
                        <a:t>Modeling decision</a:t>
                      </a:r>
                      <a:endParaRPr lang="en-US" sz="1300" dirty="0">
                        <a:latin typeface="DM Sans" charset="0"/>
                        <a:ea typeface="DM Sans" charset="0"/>
                        <a:cs typeface="DM Sans"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Fraud transactions have higher amounts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Mean $537 vs $32 · amount ROC-AUC 0.951</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log_amount, amt_z_in_category</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Fraud repeats for the same customer</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28.4% of customers hit (1,166 of 4,111)</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Customer-history features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Merchant and category carry risk</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Cramér’s V: merchant 0.713, category 0.566</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One-hot categorical features</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Behavior and fraud rate shift over time</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Fraud rate 1.28% → 1.11% (Train → Val)</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Past-only features; thresholds tuned on Val</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2800" y="4309111"/>
            <a:ext cx="5927884" cy="1104900"/>
          </a:xfrm>
          <a:prstGeom prst="roundRect">
            <a:avLst>
              <a:gd name="adj" fmla="val 11494"/>
            </a:avLst>
          </a:prstGeom>
          <a:solidFill>
            <a:srgbClr val="10202E"/>
          </a:solidFill>
          <a:ln/>
        </p:spPr>
        <p:txBody>
          <a:bodyPr/>
          <a:lstStyle/>
          <a:p>
            <a:endParaRPr lang="en-US"/>
          </a:p>
        </p:txBody>
      </p:sp>
      <p:sp>
        <p:nvSpPr>
          <p:cNvPr id="6" name="Text 3"/>
          <p:cNvSpPr/>
          <p:nvPr/>
        </p:nvSpPr>
        <p:spPr>
          <a:xfrm>
            <a:off x="1016000" y="4461511"/>
            <a:ext cx="568712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REMEMBER</a:t>
            </a:r>
            <a:endParaRPr lang="en-US" sz="1200" dirty="0"/>
          </a:p>
        </p:txBody>
      </p:sp>
      <p:sp>
        <p:nvSpPr>
          <p:cNvPr id="7" name="Text 4"/>
          <p:cNvSpPr/>
          <p:nvPr/>
        </p:nvSpPr>
        <p:spPr>
          <a:xfrm>
            <a:off x="1016000" y="4712971"/>
            <a:ext cx="5687128" cy="574040"/>
          </a:xfrm>
          <a:prstGeom prst="rect">
            <a:avLst/>
          </a:prstGeom>
          <a:noFill/>
          <a:ln/>
        </p:spPr>
        <p:txBody>
          <a:bodyPr wrap="square" lIns="0" tIns="0" rIns="0" bIns="0" rtlCol="0" anchor="t">
            <a:normAutofit/>
          </a:bodyPr>
          <a:lstStyle/>
          <a:p>
            <a:pPr marL="0" indent="0" algn="l">
              <a:lnSpc>
                <a:spcPts val="2160"/>
              </a:lnSpc>
              <a:buNone/>
            </a:pPr>
            <a:r>
              <a:rPr lang="en-US" sz="1800" i="1" dirty="0">
                <a:solidFill>
                  <a:srgbClr val="F5F2EC"/>
                </a:solidFill>
                <a:latin typeface="DM Sans" pitchFamily="34" charset="0"/>
                <a:ea typeface="DM Sans" pitchFamily="34" charset="-122"/>
                <a:cs typeface="DM Sans" pitchFamily="34" charset="-120"/>
              </a:rPr>
              <a:t>A good feature should explain behavior, not just memorize the dataset.</a:t>
            </a:r>
            <a:endParaRPr lang="en-US" sz="1800" dirty="0"/>
          </a:p>
        </p:txBody>
      </p:sp>
      <p:sp>
        <p:nvSpPr>
          <p:cNvPr id="8" name="Shape 5"/>
          <p:cNvSpPr/>
          <p:nvPr/>
        </p:nvSpPr>
        <p:spPr>
          <a:xfrm>
            <a:off x="6962934" y="4309111"/>
            <a:ext cx="0" cy="1104900"/>
          </a:xfrm>
          <a:prstGeom prst="line">
            <a:avLst/>
          </a:prstGeom>
          <a:noFill/>
          <a:ln w="38100">
            <a:solidFill>
              <a:srgbClr val="1D6A96"/>
            </a:solidFill>
            <a:prstDash val="solid"/>
          </a:ln>
        </p:spPr>
        <p:txBody>
          <a:bodyPr/>
          <a:lstStyle/>
          <a:p>
            <a:endParaRPr lang="en-US"/>
          </a:p>
        </p:txBody>
      </p:sp>
      <p:sp>
        <p:nvSpPr>
          <p:cNvPr id="9" name="Text 6"/>
          <p:cNvSpPr/>
          <p:nvPr/>
        </p:nvSpPr>
        <p:spPr>
          <a:xfrm>
            <a:off x="7131844" y="4620261"/>
            <a:ext cx="4374777"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TAKEAWAY</a:t>
            </a:r>
            <a:endParaRPr lang="en-US" sz="1200" dirty="0"/>
          </a:p>
        </p:txBody>
      </p:sp>
      <p:sp>
        <p:nvSpPr>
          <p:cNvPr id="10" name="Text 7"/>
          <p:cNvSpPr/>
          <p:nvPr/>
        </p:nvSpPr>
        <p:spPr>
          <a:xfrm>
            <a:off x="7131844" y="4871721"/>
            <a:ext cx="4374777" cy="25654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Every feature traces back to an observation.</a:t>
            </a:r>
            <a:endParaRPr lang="en-US" sz="1400" dirty="0"/>
          </a:p>
        </p:txBody>
      </p:sp>
      <p:sp>
        <p:nvSpPr>
          <p:cNvPr id="11" name="Text 8"/>
          <p:cNvSpPr/>
          <p:nvPr/>
        </p:nvSpPr>
        <p:spPr>
          <a:xfrm>
            <a:off x="812800" y="6238239"/>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§3.3–3.8, §4</a:t>
            </a:r>
            <a:endParaRPr lang="en-US" sz="1200" dirty="0"/>
          </a:p>
        </p:txBody>
      </p:sp>
      <p:sp>
        <p:nvSpPr>
          <p:cNvPr id="12" name="Text 9"/>
          <p:cNvSpPr/>
          <p:nvPr/>
        </p:nvSpPr>
        <p:spPr>
          <a:xfrm>
            <a:off x="4367784" y="6238239"/>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(7) </a:t>
            </a:r>
            <a:r>
              <a:rPr lang="en-US" sz="1200" dirty="0">
                <a:solidFill>
                  <a:srgbClr val="54606C"/>
                </a:solidFill>
                <a:latin typeface="DM Sans" pitchFamily="34" charset="0"/>
                <a:ea typeface="DM Sans" pitchFamily="34" charset="-122"/>
                <a:cs typeface="DM Sans" pitchFamily="34" charset="-120"/>
              </a:rPr>
              <a:t>Next → Features built from each customer’s own history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 · BEHAVIORAL FEATURE ENGINEERING</a:t>
            </a:r>
            <a:endParaRPr lang="en-US" sz="1200" dirty="0"/>
          </a:p>
        </p:txBody>
      </p:sp>
      <p:sp>
        <p:nvSpPr>
          <p:cNvPr id="3" name="Text 1"/>
          <p:cNvSpPr>
            <a:spLocks noGrp="1"/>
          </p:cNvSpPr>
          <p:nvPr>
            <p:ph type="title"/>
          </p:nvPr>
        </p:nvSpPr>
        <p:spPr>
          <a:xfrm>
            <a:off x="812800" y="1102361"/>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Can We Detect Fraud by Understanding Customer Behavior?</a:t>
            </a:r>
            <a:endParaRPr lang="en-US" sz="2600" dirty="0"/>
          </a:p>
        </p:txBody>
      </p:sp>
      <p:sp>
        <p:nvSpPr>
          <p:cNvPr id="4" name="Text 2"/>
          <p:cNvSpPr/>
          <p:nvPr/>
        </p:nvSpPr>
        <p:spPr>
          <a:xfrm>
            <a:off x="812800" y="1643382"/>
            <a:ext cx="729919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ILLUSTRATIVE FEATURE LOGIC — NOT ONE SPECIFIC CUSTOMER</a:t>
            </a:r>
            <a:endParaRPr lang="en-US" sz="1200" dirty="0"/>
          </a:p>
        </p:txBody>
      </p:sp>
      <p:sp>
        <p:nvSpPr>
          <p:cNvPr id="5" name="Shape 3"/>
          <p:cNvSpPr/>
          <p:nvPr/>
        </p:nvSpPr>
        <p:spPr>
          <a:xfrm>
            <a:off x="819150" y="2104389"/>
            <a:ext cx="2051447" cy="975360"/>
          </a:xfrm>
          <a:prstGeom prst="roundRect">
            <a:avLst>
              <a:gd name="adj" fmla="val 9766"/>
            </a:avLst>
          </a:prstGeom>
          <a:solidFill>
            <a:srgbClr val="FBF9F5"/>
          </a:solidFill>
          <a:ln w="12700">
            <a:solidFill>
              <a:srgbClr val="DAD4C8"/>
            </a:solidFill>
            <a:prstDash val="solid"/>
          </a:ln>
        </p:spPr>
        <p:txBody>
          <a:bodyPr/>
          <a:lstStyle/>
          <a:p>
            <a:endParaRPr lang="en-US"/>
          </a:p>
        </p:txBody>
      </p:sp>
      <p:sp>
        <p:nvSpPr>
          <p:cNvPr id="6" name="Text 4"/>
          <p:cNvSpPr/>
          <p:nvPr/>
        </p:nvSpPr>
        <p:spPr>
          <a:xfrm>
            <a:off x="949960" y="2235200"/>
            <a:ext cx="184352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202E"/>
                </a:solidFill>
                <a:latin typeface="DM Sans" pitchFamily="34" charset="0"/>
                <a:ea typeface="DM Sans" pitchFamily="34" charset="-122"/>
                <a:cs typeface="DM Sans" pitchFamily="34" charset="-120"/>
              </a:rPr>
              <a:t>Historical spending</a:t>
            </a:r>
            <a:endParaRPr lang="en-US" sz="1400" dirty="0"/>
          </a:p>
        </p:txBody>
      </p:sp>
      <p:sp>
        <p:nvSpPr>
          <p:cNvPr id="7" name="Text 5"/>
          <p:cNvSpPr/>
          <p:nvPr/>
        </p:nvSpPr>
        <p:spPr>
          <a:xfrm>
            <a:off x="949960" y="2522221"/>
            <a:ext cx="18435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Past transactions define normal behavior</a:t>
            </a:r>
            <a:endParaRPr lang="en-US" sz="1200" dirty="0"/>
          </a:p>
        </p:txBody>
      </p:sp>
      <p:pic>
        <p:nvPicPr>
          <p:cNvPr id="8" name="Image 0" descr="arrow-right"/>
          <p:cNvPicPr>
            <a:picLocks noChangeAspect="1"/>
          </p:cNvPicPr>
          <p:nvPr/>
        </p:nvPicPr>
        <p:blipFill>
          <a:blip r:embed="rId3"/>
          <a:srcRect/>
          <a:stretch/>
        </p:blipFill>
        <p:spPr>
          <a:xfrm>
            <a:off x="2978547" y="2509521"/>
            <a:ext cx="254000" cy="165100"/>
          </a:xfrm>
          <a:prstGeom prst="rect">
            <a:avLst/>
          </a:prstGeom>
        </p:spPr>
      </p:pic>
      <p:sp>
        <p:nvSpPr>
          <p:cNvPr id="9" name="Shape 6"/>
          <p:cNvSpPr/>
          <p:nvPr/>
        </p:nvSpPr>
        <p:spPr>
          <a:xfrm>
            <a:off x="3340497" y="1997711"/>
            <a:ext cx="2051526" cy="1188720"/>
          </a:xfrm>
          <a:prstGeom prst="roundRect">
            <a:avLst>
              <a:gd name="adj" fmla="val 8013"/>
            </a:avLst>
          </a:prstGeom>
          <a:solidFill>
            <a:srgbClr val="FBF9F5"/>
          </a:solidFill>
          <a:ln w="12700">
            <a:solidFill>
              <a:srgbClr val="DAD4C8"/>
            </a:solidFill>
            <a:prstDash val="solid"/>
          </a:ln>
        </p:spPr>
        <p:txBody>
          <a:bodyPr/>
          <a:lstStyle/>
          <a:p>
            <a:endParaRPr lang="en-US"/>
          </a:p>
        </p:txBody>
      </p:sp>
      <p:sp>
        <p:nvSpPr>
          <p:cNvPr id="10" name="Text 7"/>
          <p:cNvSpPr/>
          <p:nvPr/>
        </p:nvSpPr>
        <p:spPr>
          <a:xfrm>
            <a:off x="3471307" y="2128521"/>
            <a:ext cx="191436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202E"/>
                </a:solidFill>
                <a:latin typeface="DM Sans" pitchFamily="34" charset="0"/>
                <a:ea typeface="DM Sans" pitchFamily="34" charset="-122"/>
                <a:cs typeface="DM Sans" pitchFamily="34" charset="-120"/>
              </a:rPr>
              <a:t>Current transaction</a:t>
            </a:r>
            <a:endParaRPr lang="en-US" sz="1400" dirty="0"/>
          </a:p>
        </p:txBody>
      </p:sp>
      <p:sp>
        <p:nvSpPr>
          <p:cNvPr id="11" name="Text 8"/>
          <p:cNvSpPr/>
          <p:nvPr/>
        </p:nvSpPr>
        <p:spPr>
          <a:xfrm>
            <a:off x="3471307" y="2415539"/>
            <a:ext cx="1843603"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Amount · customer average · new merchant · new category</a:t>
            </a:r>
            <a:endParaRPr lang="en-US" sz="1200" dirty="0"/>
          </a:p>
        </p:txBody>
      </p:sp>
      <p:pic>
        <p:nvPicPr>
          <p:cNvPr id="12" name="Image 1" descr="arrow-right"/>
          <p:cNvPicPr>
            <a:picLocks noChangeAspect="1"/>
          </p:cNvPicPr>
          <p:nvPr/>
        </p:nvPicPr>
        <p:blipFill>
          <a:blip r:embed="rId3"/>
          <a:srcRect/>
          <a:stretch/>
        </p:blipFill>
        <p:spPr>
          <a:xfrm>
            <a:off x="5499973" y="2509521"/>
            <a:ext cx="254000" cy="165100"/>
          </a:xfrm>
          <a:prstGeom prst="rect">
            <a:avLst/>
          </a:prstGeom>
        </p:spPr>
      </p:pic>
      <p:sp>
        <p:nvSpPr>
          <p:cNvPr id="13" name="Shape 9"/>
          <p:cNvSpPr/>
          <p:nvPr/>
        </p:nvSpPr>
        <p:spPr>
          <a:xfrm>
            <a:off x="5855573" y="1983739"/>
            <a:ext cx="2043827" cy="1216660"/>
          </a:xfrm>
          <a:prstGeom prst="roundRect">
            <a:avLst>
              <a:gd name="adj" fmla="val 8351"/>
            </a:avLst>
          </a:prstGeom>
          <a:solidFill>
            <a:srgbClr val="10202E"/>
          </a:solidFill>
          <a:ln/>
        </p:spPr>
        <p:txBody>
          <a:bodyPr/>
          <a:lstStyle/>
          <a:p>
            <a:endParaRPr lang="en-US"/>
          </a:p>
        </p:txBody>
      </p:sp>
      <p:sp>
        <p:nvSpPr>
          <p:cNvPr id="14" name="Text 10"/>
          <p:cNvSpPr/>
          <p:nvPr/>
        </p:nvSpPr>
        <p:spPr>
          <a:xfrm>
            <a:off x="5982573" y="2110739"/>
            <a:ext cx="1843522"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8A5C"/>
                </a:solidFill>
                <a:latin typeface="DM Sans" pitchFamily="34" charset="0"/>
                <a:ea typeface="DM Sans" pitchFamily="34" charset="-122"/>
                <a:cs typeface="DM Sans" pitchFamily="34" charset="-120"/>
              </a:rPr>
              <a:t>Behavioral risk signals</a:t>
            </a:r>
            <a:endParaRPr lang="en-US" sz="1400" dirty="0"/>
          </a:p>
        </p:txBody>
      </p:sp>
      <p:sp>
        <p:nvSpPr>
          <p:cNvPr id="15" name="Text 11"/>
          <p:cNvSpPr/>
          <p:nvPr/>
        </p:nvSpPr>
        <p:spPr>
          <a:xfrm>
            <a:off x="5982573" y="2646682"/>
            <a:ext cx="184352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How unusual versus the customer’s own history</a:t>
            </a:r>
            <a:endParaRPr lang="en-US" sz="1200" dirty="0"/>
          </a:p>
        </p:txBody>
      </p:sp>
      <p:sp>
        <p:nvSpPr>
          <p:cNvPr id="16" name="Text 12"/>
          <p:cNvSpPr/>
          <p:nvPr/>
        </p:nvSpPr>
        <p:spPr>
          <a:xfrm>
            <a:off x="812800" y="3327400"/>
            <a:ext cx="7299198"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AVERAGE FEATURE VALUE IN TRAIN, BY CLASS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3677921"/>
          <a:ext cx="7076440" cy="2141220"/>
        </p:xfrm>
        <a:graphic>
          <a:graphicData uri="http://schemas.openxmlformats.org/drawingml/2006/table">
            <a:tbl>
              <a:tblPr/>
              <a:tblGrid>
                <a:gridCol w="3255162">
                  <a:extLst>
                    <a:ext uri="{9D8B030D-6E8A-4147-A177-3AD203B41FA5}">
                      <a16:colId xmlns:a16="http://schemas.microsoft.com/office/drawing/2014/main" val="20000"/>
                    </a:ext>
                  </a:extLst>
                </a:gridCol>
                <a:gridCol w="1910639">
                  <a:extLst>
                    <a:ext uri="{9D8B030D-6E8A-4147-A177-3AD203B41FA5}">
                      <a16:colId xmlns:a16="http://schemas.microsoft.com/office/drawing/2014/main" val="20001"/>
                    </a:ext>
                  </a:extLst>
                </a:gridCol>
                <a:gridCol w="1910639">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10202E"/>
                          </a:solidFill>
                          <a:latin typeface="DM Sans" pitchFamily="34" charset="0"/>
                          <a:ea typeface="DM Sans" pitchFamily="34" charset="-122"/>
                          <a:cs typeface="DM Sans" pitchFamily="34" charset="-120"/>
                        </a:rPr>
                        <a:t>Feature</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820"/>
                        </a:lnSpc>
                        <a:buNone/>
                      </a:pPr>
                      <a:r>
                        <a:rPr lang="en-US" sz="1300" b="1" dirty="0">
                          <a:solidFill>
                            <a:srgbClr val="10202E"/>
                          </a:solidFill>
                          <a:latin typeface="DM Sans" pitchFamily="34" charset="0"/>
                          <a:ea typeface="DM Sans" pitchFamily="34" charset="-122"/>
                          <a:cs typeface="DM Sans" pitchFamily="34" charset="-120"/>
                        </a:rPr>
                        <a:t>Legitimate</a:t>
                      </a:r>
                      <a:endParaRPr lang="en-US" sz="1300" dirty="0">
                        <a:latin typeface="DM Sans" charset="0"/>
                        <a:ea typeface="DM Sans" charset="0"/>
                        <a:cs typeface="DM Sans"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820"/>
                        </a:lnSpc>
                        <a:buNone/>
                      </a:pPr>
                      <a:r>
                        <a:rPr lang="en-US" sz="1300" b="1" dirty="0">
                          <a:solidFill>
                            <a:srgbClr val="10202E"/>
                          </a:solidFill>
                          <a:latin typeface="DM Sans" pitchFamily="34" charset="0"/>
                          <a:ea typeface="DM Sans" pitchFamily="34" charset="-122"/>
                          <a:cs typeface="DM Sans" pitchFamily="34" charset="-120"/>
                        </a:rPr>
                        <a:t>Fraud</a:t>
                      </a:r>
                      <a:endParaRPr lang="en-US" sz="1300" dirty="0">
                        <a:latin typeface="DM Sans" charset="0"/>
                        <a:ea typeface="DM Sans" charset="0"/>
                        <a:cs typeface="DM Sans" charset="0"/>
                      </a:endParaRPr>
                    </a:p>
                  </a:txBody>
                  <a:tcPr marL="57785" marR="57785" marT="57785" marB="57785">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log_n_prior_txn</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3.65</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2.85</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log_amt_to_cust_mean</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−0.41</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0.64</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log_amt_to_cust_max</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−1.77</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−0.82</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is_new_merchant</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8.1%</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53.6%</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0202E"/>
                          </a:solidFill>
                          <a:latin typeface="DM Sans" pitchFamily="34" charset="0"/>
                          <a:ea typeface="DM Sans" pitchFamily="34" charset="-122"/>
                          <a:cs typeface="DM Sans" pitchFamily="34" charset="-120"/>
                        </a:rPr>
                        <a:t>is_new_category</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5.6%</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820"/>
                        </a:lnSpc>
                        <a:buNone/>
                      </a:pPr>
                      <a:r>
                        <a:rPr lang="en-US" sz="1300" dirty="0">
                          <a:solidFill>
                            <a:srgbClr val="10202E"/>
                          </a:solidFill>
                          <a:latin typeface="DM Sans" pitchFamily="34" charset="0"/>
                          <a:ea typeface="DM Sans" pitchFamily="34" charset="-122"/>
                          <a:cs typeface="DM Sans" pitchFamily="34" charset="-120"/>
                        </a:rPr>
                        <a:t>39.9%</a:t>
                      </a:r>
                      <a:endParaRPr lang="en-US" sz="1300" dirty="0">
                        <a:latin typeface="DM Sans" charset="0"/>
                        <a:ea typeface="DM Sans" charset="0"/>
                        <a:cs typeface="DM Sans" charset="0"/>
                      </a:endParaRPr>
                    </a:p>
                  </a:txBody>
                  <a:tcPr marL="57785" marR="57785" marT="57785" marB="57785">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8" name="Shape 13"/>
          <p:cNvSpPr/>
          <p:nvPr/>
        </p:nvSpPr>
        <p:spPr>
          <a:xfrm>
            <a:off x="8204200" y="1643382"/>
            <a:ext cx="3175000" cy="1553210"/>
          </a:xfrm>
          <a:prstGeom prst="roundRect">
            <a:avLst>
              <a:gd name="adj" fmla="val 8177"/>
            </a:avLst>
          </a:prstGeom>
          <a:solidFill>
            <a:srgbClr val="10202E"/>
          </a:solidFill>
          <a:ln/>
        </p:spPr>
        <p:txBody>
          <a:bodyPr/>
          <a:lstStyle/>
          <a:p>
            <a:endParaRPr lang="en-US"/>
          </a:p>
        </p:txBody>
      </p:sp>
      <p:sp>
        <p:nvSpPr>
          <p:cNvPr id="19" name="Text 14"/>
          <p:cNvSpPr/>
          <p:nvPr/>
        </p:nvSpPr>
        <p:spPr>
          <a:xfrm>
            <a:off x="8407400" y="1846582"/>
            <a:ext cx="285165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REMEMBER</a:t>
            </a:r>
            <a:endParaRPr lang="en-US" sz="1200" dirty="0"/>
          </a:p>
        </p:txBody>
      </p:sp>
      <p:sp>
        <p:nvSpPr>
          <p:cNvPr id="20" name="Text 15"/>
          <p:cNvSpPr/>
          <p:nvPr/>
        </p:nvSpPr>
        <p:spPr>
          <a:xfrm>
            <a:off x="8407400" y="2136139"/>
            <a:ext cx="2851658" cy="882650"/>
          </a:xfrm>
          <a:prstGeom prst="rect">
            <a:avLst/>
          </a:prstGeom>
          <a:noFill/>
          <a:ln/>
        </p:spPr>
        <p:txBody>
          <a:bodyPr wrap="square" lIns="0" tIns="0" rIns="0" bIns="0" rtlCol="0" anchor="t">
            <a:normAutofit/>
          </a:bodyPr>
          <a:lstStyle/>
          <a:p>
            <a:pPr marL="0" indent="0" algn="l">
              <a:lnSpc>
                <a:spcPts val="2250"/>
              </a:lnSpc>
              <a:buNone/>
            </a:pPr>
            <a:r>
              <a:rPr lang="en-US" sz="1800" i="1" dirty="0">
                <a:solidFill>
                  <a:srgbClr val="F5F2EC"/>
                </a:solidFill>
                <a:latin typeface="DM Sans" pitchFamily="34" charset="0"/>
                <a:ea typeface="DM Sans" pitchFamily="34" charset="-122"/>
                <a:cs typeface="DM Sans" pitchFamily="34" charset="-120"/>
              </a:rPr>
              <a:t>The same amount can be normal for one customer and unusual for another.</a:t>
            </a:r>
            <a:endParaRPr lang="en-US" sz="1800" dirty="0"/>
          </a:p>
        </p:txBody>
      </p:sp>
      <p:sp>
        <p:nvSpPr>
          <p:cNvPr id="21" name="Shape 16"/>
          <p:cNvSpPr/>
          <p:nvPr/>
        </p:nvSpPr>
        <p:spPr>
          <a:xfrm>
            <a:off x="8223250" y="3348989"/>
            <a:ext cx="0" cy="1008380"/>
          </a:xfrm>
          <a:prstGeom prst="line">
            <a:avLst/>
          </a:prstGeom>
          <a:noFill/>
          <a:ln w="38100">
            <a:solidFill>
              <a:srgbClr val="1D6A96"/>
            </a:solidFill>
            <a:prstDash val="solid"/>
          </a:ln>
        </p:spPr>
        <p:txBody>
          <a:bodyPr/>
          <a:lstStyle/>
          <a:p>
            <a:endParaRPr lang="en-US"/>
          </a:p>
        </p:txBody>
      </p:sp>
      <p:sp>
        <p:nvSpPr>
          <p:cNvPr id="22" name="Text 17"/>
          <p:cNvSpPr/>
          <p:nvPr/>
        </p:nvSpPr>
        <p:spPr>
          <a:xfrm>
            <a:off x="8392160" y="3374389"/>
            <a:ext cx="307665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TAKEAWAY</a:t>
            </a:r>
            <a:endParaRPr lang="en-US" sz="1200" dirty="0"/>
          </a:p>
        </p:txBody>
      </p:sp>
      <p:sp>
        <p:nvSpPr>
          <p:cNvPr id="23" name="Text 18"/>
          <p:cNvSpPr/>
          <p:nvPr/>
        </p:nvSpPr>
        <p:spPr>
          <a:xfrm>
            <a:off x="8392160" y="3638550"/>
            <a:ext cx="3076651"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Fraud is far more often a first-time merchant (53.6% vs 8.1%), so context beats raw columns.</a:t>
            </a:r>
            <a:endParaRPr lang="en-US" sz="1400" dirty="0"/>
          </a:p>
        </p:txBody>
      </p:sp>
      <p:sp>
        <p:nvSpPr>
          <p:cNvPr id="24" name="Text 19"/>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§4 (Train)</a:t>
            </a:r>
            <a:endParaRPr lang="en-US" sz="1200" dirty="0"/>
          </a:p>
        </p:txBody>
      </p:sp>
      <p:sp>
        <p:nvSpPr>
          <p:cNvPr id="25" name="Text 20"/>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(8) </a:t>
            </a:r>
            <a:r>
              <a:rPr lang="en-US" sz="1200" dirty="0">
                <a:solidFill>
                  <a:srgbClr val="54606C"/>
                </a:solidFill>
                <a:latin typeface="DM Sans" pitchFamily="34" charset="0"/>
                <a:ea typeface="DM Sans" pitchFamily="34" charset="-122"/>
                <a:cs typeface="DM Sans" pitchFamily="34" charset="-120"/>
              </a:rPr>
              <a:t>Next → But are these features free of future information?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 · DATA LEAKAGE AUDIT</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A Model Must Not Know Tomorrow’s Transactions Today</a:t>
            </a:r>
            <a:endParaRPr lang="en-US" sz="2600" dirty="0"/>
          </a:p>
        </p:txBody>
      </p:sp>
      <p:sp>
        <p:nvSpPr>
          <p:cNvPr id="4" name="Shape 2"/>
          <p:cNvSpPr/>
          <p:nvPr/>
        </p:nvSpPr>
        <p:spPr>
          <a:xfrm>
            <a:off x="819150" y="1649729"/>
            <a:ext cx="5168900" cy="2169160"/>
          </a:xfrm>
          <a:prstGeom prst="roundRect">
            <a:avLst>
              <a:gd name="adj" fmla="val 5562"/>
            </a:avLst>
          </a:prstGeom>
          <a:solidFill>
            <a:srgbClr val="FBF9F5"/>
          </a:solidFill>
          <a:ln w="12700">
            <a:solidFill>
              <a:srgbClr val="C2410C"/>
            </a:solidFill>
            <a:prstDash val="solid"/>
          </a:ln>
        </p:spPr>
        <p:txBody>
          <a:bodyPr/>
          <a:lstStyle/>
          <a:p>
            <a:endParaRPr lang="en-US"/>
          </a:p>
        </p:txBody>
      </p:sp>
      <p:sp>
        <p:nvSpPr>
          <p:cNvPr id="5" name="Text 3"/>
          <p:cNvSpPr/>
          <p:nvPr/>
        </p:nvSpPr>
        <p:spPr>
          <a:xfrm>
            <a:off x="1026160" y="1831342"/>
            <a:ext cx="489752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INCORRECT</a:t>
            </a:r>
            <a:endParaRPr lang="en-US" sz="1200" dirty="0"/>
          </a:p>
        </p:txBody>
      </p:sp>
      <p:sp>
        <p:nvSpPr>
          <p:cNvPr id="6" name="Shape 4"/>
          <p:cNvSpPr/>
          <p:nvPr/>
        </p:nvSpPr>
        <p:spPr>
          <a:xfrm>
            <a:off x="1026160" y="2159000"/>
            <a:ext cx="215900" cy="215900"/>
          </a:xfrm>
          <a:prstGeom prst="roundRect">
            <a:avLst>
              <a:gd name="adj" fmla="val 50000"/>
            </a:avLst>
          </a:prstGeom>
          <a:solidFill>
            <a:srgbClr val="1D6A96"/>
          </a:solidFill>
          <a:ln/>
        </p:spPr>
        <p:txBody>
          <a:bodyPr/>
          <a:lstStyle/>
          <a:p>
            <a:endParaRPr lang="en-US"/>
          </a:p>
        </p:txBody>
      </p:sp>
      <p:sp>
        <p:nvSpPr>
          <p:cNvPr id="7" name="Shape 5"/>
          <p:cNvSpPr/>
          <p:nvPr/>
        </p:nvSpPr>
        <p:spPr>
          <a:xfrm>
            <a:off x="1305560" y="2159000"/>
            <a:ext cx="215900" cy="215900"/>
          </a:xfrm>
          <a:prstGeom prst="roundRect">
            <a:avLst>
              <a:gd name="adj" fmla="val 50000"/>
            </a:avLst>
          </a:prstGeom>
          <a:solidFill>
            <a:srgbClr val="1D6A96"/>
          </a:solidFill>
          <a:ln/>
        </p:spPr>
        <p:txBody>
          <a:bodyPr/>
          <a:lstStyle/>
          <a:p>
            <a:endParaRPr lang="en-US"/>
          </a:p>
        </p:txBody>
      </p:sp>
      <p:sp>
        <p:nvSpPr>
          <p:cNvPr id="8" name="Shape 6"/>
          <p:cNvSpPr/>
          <p:nvPr/>
        </p:nvSpPr>
        <p:spPr>
          <a:xfrm>
            <a:off x="1584960" y="2159000"/>
            <a:ext cx="215900" cy="215900"/>
          </a:xfrm>
          <a:prstGeom prst="roundRect">
            <a:avLst>
              <a:gd name="adj" fmla="val 50000"/>
            </a:avLst>
          </a:prstGeom>
          <a:solidFill>
            <a:srgbClr val="1D6A96"/>
          </a:solidFill>
          <a:ln/>
        </p:spPr>
        <p:txBody>
          <a:bodyPr/>
          <a:lstStyle/>
          <a:p>
            <a:endParaRPr lang="en-US"/>
          </a:p>
        </p:txBody>
      </p:sp>
      <p:sp>
        <p:nvSpPr>
          <p:cNvPr id="9" name="Shape 7"/>
          <p:cNvSpPr/>
          <p:nvPr/>
        </p:nvSpPr>
        <p:spPr>
          <a:xfrm>
            <a:off x="1864360" y="2159000"/>
            <a:ext cx="215900" cy="215900"/>
          </a:xfrm>
          <a:prstGeom prst="roundRect">
            <a:avLst>
              <a:gd name="adj" fmla="val 50000"/>
            </a:avLst>
          </a:prstGeom>
          <a:solidFill>
            <a:srgbClr val="1D6A96"/>
          </a:solidFill>
          <a:ln/>
        </p:spPr>
        <p:txBody>
          <a:bodyPr/>
          <a:lstStyle/>
          <a:p>
            <a:endParaRPr lang="en-US"/>
          </a:p>
        </p:txBody>
      </p:sp>
      <p:sp>
        <p:nvSpPr>
          <p:cNvPr id="10" name="Shape 8"/>
          <p:cNvSpPr/>
          <p:nvPr/>
        </p:nvSpPr>
        <p:spPr>
          <a:xfrm>
            <a:off x="2143760" y="2159000"/>
            <a:ext cx="215900" cy="215900"/>
          </a:xfrm>
          <a:prstGeom prst="roundRect">
            <a:avLst>
              <a:gd name="adj" fmla="val 50000"/>
            </a:avLst>
          </a:prstGeom>
          <a:solidFill>
            <a:srgbClr val="1D6A96"/>
          </a:solidFill>
          <a:ln/>
        </p:spPr>
        <p:txBody>
          <a:bodyPr/>
          <a:lstStyle/>
          <a:p>
            <a:endParaRPr lang="en-US"/>
          </a:p>
        </p:txBody>
      </p:sp>
      <p:sp>
        <p:nvSpPr>
          <p:cNvPr id="11" name="Text 9"/>
          <p:cNvSpPr/>
          <p:nvPr/>
        </p:nvSpPr>
        <p:spPr>
          <a:xfrm>
            <a:off x="1026160" y="2413000"/>
            <a:ext cx="138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Past</a:t>
            </a:r>
            <a:endParaRPr lang="en-US" sz="1200" dirty="0"/>
          </a:p>
        </p:txBody>
      </p:sp>
      <p:sp>
        <p:nvSpPr>
          <p:cNvPr id="12" name="Shape 10"/>
          <p:cNvSpPr/>
          <p:nvPr/>
        </p:nvSpPr>
        <p:spPr>
          <a:xfrm>
            <a:off x="2600960" y="2171700"/>
            <a:ext cx="190500" cy="190500"/>
          </a:xfrm>
          <a:prstGeom prst="roundRect">
            <a:avLst>
              <a:gd name="adj" fmla="val 50000"/>
            </a:avLst>
          </a:prstGeom>
          <a:solidFill>
            <a:srgbClr val="10202E"/>
          </a:solidFill>
          <a:ln w="25400">
            <a:solidFill>
              <a:srgbClr val="C2410C"/>
            </a:solidFill>
            <a:prstDash val="solid"/>
          </a:ln>
        </p:spPr>
        <p:txBody>
          <a:bodyPr/>
          <a:lstStyle/>
          <a:p>
            <a:endParaRPr lang="en-US"/>
          </a:p>
        </p:txBody>
      </p:sp>
      <p:sp>
        <p:nvSpPr>
          <p:cNvPr id="13" name="Text 11"/>
          <p:cNvSpPr/>
          <p:nvPr/>
        </p:nvSpPr>
        <p:spPr>
          <a:xfrm>
            <a:off x="2588260" y="2413000"/>
            <a:ext cx="3709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Now</a:t>
            </a:r>
            <a:endParaRPr lang="en-US" sz="1200" dirty="0"/>
          </a:p>
        </p:txBody>
      </p:sp>
      <p:sp>
        <p:nvSpPr>
          <p:cNvPr id="14" name="Shape 12"/>
          <p:cNvSpPr/>
          <p:nvPr/>
        </p:nvSpPr>
        <p:spPr>
          <a:xfrm>
            <a:off x="3125946" y="2159000"/>
            <a:ext cx="215900" cy="215900"/>
          </a:xfrm>
          <a:prstGeom prst="roundRect">
            <a:avLst>
              <a:gd name="adj" fmla="val 50000"/>
            </a:avLst>
          </a:prstGeom>
          <a:solidFill>
            <a:srgbClr val="C2410C"/>
          </a:solidFill>
          <a:ln/>
        </p:spPr>
        <p:txBody>
          <a:bodyPr/>
          <a:lstStyle/>
          <a:p>
            <a:endParaRPr lang="en-US"/>
          </a:p>
        </p:txBody>
      </p:sp>
      <p:sp>
        <p:nvSpPr>
          <p:cNvPr id="15" name="Shape 13"/>
          <p:cNvSpPr/>
          <p:nvPr/>
        </p:nvSpPr>
        <p:spPr>
          <a:xfrm>
            <a:off x="3405346" y="2159000"/>
            <a:ext cx="215900" cy="215900"/>
          </a:xfrm>
          <a:prstGeom prst="roundRect">
            <a:avLst>
              <a:gd name="adj" fmla="val 50000"/>
            </a:avLst>
          </a:prstGeom>
          <a:solidFill>
            <a:srgbClr val="C2410C"/>
          </a:solidFill>
          <a:ln/>
        </p:spPr>
        <p:txBody>
          <a:bodyPr/>
          <a:lstStyle/>
          <a:p>
            <a:endParaRPr lang="en-US"/>
          </a:p>
        </p:txBody>
      </p:sp>
      <p:sp>
        <p:nvSpPr>
          <p:cNvPr id="16" name="Shape 14"/>
          <p:cNvSpPr/>
          <p:nvPr/>
        </p:nvSpPr>
        <p:spPr>
          <a:xfrm>
            <a:off x="3684746" y="2159000"/>
            <a:ext cx="215900" cy="215900"/>
          </a:xfrm>
          <a:prstGeom prst="roundRect">
            <a:avLst>
              <a:gd name="adj" fmla="val 50000"/>
            </a:avLst>
          </a:prstGeom>
          <a:solidFill>
            <a:srgbClr val="C2410C"/>
          </a:solidFill>
          <a:ln/>
        </p:spPr>
        <p:txBody>
          <a:bodyPr/>
          <a:lstStyle/>
          <a:p>
            <a:endParaRPr lang="en-US"/>
          </a:p>
        </p:txBody>
      </p:sp>
      <p:sp>
        <p:nvSpPr>
          <p:cNvPr id="17" name="Text 15"/>
          <p:cNvSpPr/>
          <p:nvPr/>
        </p:nvSpPr>
        <p:spPr>
          <a:xfrm>
            <a:off x="3125946" y="2413000"/>
            <a:ext cx="127711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DM Sans" pitchFamily="34" charset="0"/>
                <a:ea typeface="DM Sans" pitchFamily="34" charset="-122"/>
                <a:cs typeface="DM Sans" pitchFamily="34" charset="-120"/>
              </a:rPr>
              <a:t>Future (used!)</a:t>
            </a:r>
            <a:endParaRPr lang="en-US" sz="1200" dirty="0"/>
          </a:p>
        </p:txBody>
      </p:sp>
      <p:sp>
        <p:nvSpPr>
          <p:cNvPr id="18" name="Text 16"/>
          <p:cNvSpPr/>
          <p:nvPr/>
        </p:nvSpPr>
        <p:spPr>
          <a:xfrm>
            <a:off x="1026160" y="2740664"/>
            <a:ext cx="489752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Past + Future → Feature</a:t>
            </a:r>
            <a:endParaRPr lang="en-US" sz="1800" dirty="0"/>
          </a:p>
        </p:txBody>
      </p:sp>
      <p:sp>
        <p:nvSpPr>
          <p:cNvPr id="19" name="Text 17"/>
          <p:cNvSpPr/>
          <p:nvPr/>
        </p:nvSpPr>
        <p:spPr>
          <a:xfrm>
            <a:off x="1026160" y="3175000"/>
            <a:ext cx="489752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Statistics computed on the whole history, including future transactions.</a:t>
            </a:r>
            <a:endParaRPr lang="en-US" sz="1400" dirty="0"/>
          </a:p>
        </p:txBody>
      </p:sp>
      <p:sp>
        <p:nvSpPr>
          <p:cNvPr id="20" name="Shape 18"/>
          <p:cNvSpPr/>
          <p:nvPr/>
        </p:nvSpPr>
        <p:spPr>
          <a:xfrm>
            <a:off x="6203950" y="1649729"/>
            <a:ext cx="5168900" cy="2169160"/>
          </a:xfrm>
          <a:prstGeom prst="roundRect">
            <a:avLst>
              <a:gd name="adj" fmla="val 5562"/>
            </a:avLst>
          </a:prstGeom>
          <a:solidFill>
            <a:srgbClr val="FBF9F5"/>
          </a:solidFill>
          <a:ln w="12700">
            <a:solidFill>
              <a:srgbClr val="1D6A96"/>
            </a:solidFill>
            <a:prstDash val="solid"/>
          </a:ln>
        </p:spPr>
        <p:txBody>
          <a:bodyPr/>
          <a:lstStyle/>
          <a:p>
            <a:endParaRPr lang="en-US"/>
          </a:p>
        </p:txBody>
      </p:sp>
      <p:sp>
        <p:nvSpPr>
          <p:cNvPr id="21" name="Text 19"/>
          <p:cNvSpPr/>
          <p:nvPr/>
        </p:nvSpPr>
        <p:spPr>
          <a:xfrm>
            <a:off x="6410960" y="1831342"/>
            <a:ext cx="489752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A96"/>
                </a:solidFill>
                <a:latin typeface="DM Sans" pitchFamily="34" charset="0"/>
                <a:ea typeface="DM Sans" pitchFamily="34" charset="-122"/>
                <a:cs typeface="DM Sans" pitchFamily="34" charset="-120"/>
              </a:rPr>
              <a:t>CORRECT</a:t>
            </a:r>
            <a:endParaRPr lang="en-US" sz="1200" dirty="0"/>
          </a:p>
        </p:txBody>
      </p:sp>
      <p:sp>
        <p:nvSpPr>
          <p:cNvPr id="22" name="Shape 20"/>
          <p:cNvSpPr/>
          <p:nvPr/>
        </p:nvSpPr>
        <p:spPr>
          <a:xfrm>
            <a:off x="6410960" y="2159000"/>
            <a:ext cx="215900" cy="215900"/>
          </a:xfrm>
          <a:prstGeom prst="roundRect">
            <a:avLst>
              <a:gd name="adj" fmla="val 50000"/>
            </a:avLst>
          </a:prstGeom>
          <a:solidFill>
            <a:srgbClr val="1D6A96"/>
          </a:solidFill>
          <a:ln/>
        </p:spPr>
        <p:txBody>
          <a:bodyPr/>
          <a:lstStyle/>
          <a:p>
            <a:endParaRPr lang="en-US"/>
          </a:p>
        </p:txBody>
      </p:sp>
      <p:sp>
        <p:nvSpPr>
          <p:cNvPr id="23" name="Shape 21"/>
          <p:cNvSpPr/>
          <p:nvPr/>
        </p:nvSpPr>
        <p:spPr>
          <a:xfrm>
            <a:off x="6690360" y="2159000"/>
            <a:ext cx="215900" cy="215900"/>
          </a:xfrm>
          <a:prstGeom prst="roundRect">
            <a:avLst>
              <a:gd name="adj" fmla="val 50000"/>
            </a:avLst>
          </a:prstGeom>
          <a:solidFill>
            <a:srgbClr val="1D6A96"/>
          </a:solidFill>
          <a:ln/>
        </p:spPr>
        <p:txBody>
          <a:bodyPr/>
          <a:lstStyle/>
          <a:p>
            <a:endParaRPr lang="en-US"/>
          </a:p>
        </p:txBody>
      </p:sp>
      <p:sp>
        <p:nvSpPr>
          <p:cNvPr id="24" name="Shape 22"/>
          <p:cNvSpPr/>
          <p:nvPr/>
        </p:nvSpPr>
        <p:spPr>
          <a:xfrm>
            <a:off x="6969760" y="2159000"/>
            <a:ext cx="215900" cy="215900"/>
          </a:xfrm>
          <a:prstGeom prst="roundRect">
            <a:avLst>
              <a:gd name="adj" fmla="val 50000"/>
            </a:avLst>
          </a:prstGeom>
          <a:solidFill>
            <a:srgbClr val="1D6A96"/>
          </a:solidFill>
          <a:ln/>
        </p:spPr>
        <p:txBody>
          <a:bodyPr/>
          <a:lstStyle/>
          <a:p>
            <a:endParaRPr lang="en-US"/>
          </a:p>
        </p:txBody>
      </p:sp>
      <p:sp>
        <p:nvSpPr>
          <p:cNvPr id="25" name="Shape 23"/>
          <p:cNvSpPr/>
          <p:nvPr/>
        </p:nvSpPr>
        <p:spPr>
          <a:xfrm>
            <a:off x="7249160" y="2159000"/>
            <a:ext cx="215900" cy="215900"/>
          </a:xfrm>
          <a:prstGeom prst="roundRect">
            <a:avLst>
              <a:gd name="adj" fmla="val 50000"/>
            </a:avLst>
          </a:prstGeom>
          <a:solidFill>
            <a:srgbClr val="1D6A96"/>
          </a:solidFill>
          <a:ln/>
        </p:spPr>
        <p:txBody>
          <a:bodyPr/>
          <a:lstStyle/>
          <a:p>
            <a:endParaRPr lang="en-US"/>
          </a:p>
        </p:txBody>
      </p:sp>
      <p:sp>
        <p:nvSpPr>
          <p:cNvPr id="26" name="Shape 24"/>
          <p:cNvSpPr/>
          <p:nvPr/>
        </p:nvSpPr>
        <p:spPr>
          <a:xfrm>
            <a:off x="7528560" y="2159000"/>
            <a:ext cx="215900" cy="215900"/>
          </a:xfrm>
          <a:prstGeom prst="roundRect">
            <a:avLst>
              <a:gd name="adj" fmla="val 50000"/>
            </a:avLst>
          </a:prstGeom>
          <a:solidFill>
            <a:srgbClr val="1D6A96"/>
          </a:solidFill>
          <a:ln/>
        </p:spPr>
        <p:txBody>
          <a:bodyPr/>
          <a:lstStyle/>
          <a:p>
            <a:endParaRPr lang="en-US"/>
          </a:p>
        </p:txBody>
      </p:sp>
      <p:sp>
        <p:nvSpPr>
          <p:cNvPr id="27" name="Text 25"/>
          <p:cNvSpPr/>
          <p:nvPr/>
        </p:nvSpPr>
        <p:spPr>
          <a:xfrm>
            <a:off x="6410960" y="2413000"/>
            <a:ext cx="1384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Past</a:t>
            </a:r>
            <a:endParaRPr lang="en-US" sz="1200" dirty="0"/>
          </a:p>
        </p:txBody>
      </p:sp>
      <p:sp>
        <p:nvSpPr>
          <p:cNvPr id="28" name="Shape 26"/>
          <p:cNvSpPr/>
          <p:nvPr/>
        </p:nvSpPr>
        <p:spPr>
          <a:xfrm>
            <a:off x="7985760" y="2171700"/>
            <a:ext cx="190500" cy="190500"/>
          </a:xfrm>
          <a:prstGeom prst="roundRect">
            <a:avLst>
              <a:gd name="adj" fmla="val 50000"/>
            </a:avLst>
          </a:prstGeom>
          <a:solidFill>
            <a:srgbClr val="10202E"/>
          </a:solidFill>
          <a:ln w="25400">
            <a:solidFill>
              <a:srgbClr val="1D6A96"/>
            </a:solidFill>
            <a:prstDash val="solid"/>
          </a:ln>
        </p:spPr>
        <p:txBody>
          <a:bodyPr/>
          <a:lstStyle/>
          <a:p>
            <a:endParaRPr lang="en-US"/>
          </a:p>
        </p:txBody>
      </p:sp>
      <p:sp>
        <p:nvSpPr>
          <p:cNvPr id="29" name="Text 27"/>
          <p:cNvSpPr/>
          <p:nvPr/>
        </p:nvSpPr>
        <p:spPr>
          <a:xfrm>
            <a:off x="7973060" y="2413000"/>
            <a:ext cx="37090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Now</a:t>
            </a:r>
            <a:endParaRPr lang="en-US" sz="1200" dirty="0"/>
          </a:p>
        </p:txBody>
      </p:sp>
      <p:sp>
        <p:nvSpPr>
          <p:cNvPr id="30" name="Shape 28"/>
          <p:cNvSpPr/>
          <p:nvPr/>
        </p:nvSpPr>
        <p:spPr>
          <a:xfrm>
            <a:off x="8520271" y="2168525"/>
            <a:ext cx="196850" cy="196850"/>
          </a:xfrm>
          <a:prstGeom prst="roundRect">
            <a:avLst>
              <a:gd name="adj" fmla="val 50000"/>
            </a:avLst>
          </a:prstGeom>
          <a:noFill/>
          <a:ln w="19050">
            <a:solidFill>
              <a:srgbClr val="8B95A0"/>
            </a:solidFill>
            <a:prstDash val="dash"/>
          </a:ln>
        </p:spPr>
        <p:txBody>
          <a:bodyPr/>
          <a:lstStyle/>
          <a:p>
            <a:endParaRPr lang="en-US"/>
          </a:p>
        </p:txBody>
      </p:sp>
      <p:sp>
        <p:nvSpPr>
          <p:cNvPr id="31" name="Shape 29"/>
          <p:cNvSpPr/>
          <p:nvPr/>
        </p:nvSpPr>
        <p:spPr>
          <a:xfrm>
            <a:off x="8799671" y="2168525"/>
            <a:ext cx="196850" cy="196850"/>
          </a:xfrm>
          <a:prstGeom prst="roundRect">
            <a:avLst>
              <a:gd name="adj" fmla="val 50000"/>
            </a:avLst>
          </a:prstGeom>
          <a:noFill/>
          <a:ln w="19050">
            <a:solidFill>
              <a:srgbClr val="8B95A0"/>
            </a:solidFill>
            <a:prstDash val="dash"/>
          </a:ln>
        </p:spPr>
        <p:txBody>
          <a:bodyPr/>
          <a:lstStyle/>
          <a:p>
            <a:endParaRPr lang="en-US"/>
          </a:p>
        </p:txBody>
      </p:sp>
      <p:sp>
        <p:nvSpPr>
          <p:cNvPr id="32" name="Shape 30"/>
          <p:cNvSpPr/>
          <p:nvPr/>
        </p:nvSpPr>
        <p:spPr>
          <a:xfrm>
            <a:off x="9079071" y="2168525"/>
            <a:ext cx="196850" cy="196850"/>
          </a:xfrm>
          <a:prstGeom prst="roundRect">
            <a:avLst>
              <a:gd name="adj" fmla="val 50000"/>
            </a:avLst>
          </a:prstGeom>
          <a:noFill/>
          <a:ln w="19050">
            <a:solidFill>
              <a:srgbClr val="8B95A0"/>
            </a:solidFill>
            <a:prstDash val="dash"/>
          </a:ln>
        </p:spPr>
        <p:txBody>
          <a:bodyPr/>
          <a:lstStyle/>
          <a:p>
            <a:endParaRPr lang="en-US"/>
          </a:p>
        </p:txBody>
      </p:sp>
      <p:sp>
        <p:nvSpPr>
          <p:cNvPr id="33" name="Text 31"/>
          <p:cNvSpPr/>
          <p:nvPr/>
        </p:nvSpPr>
        <p:spPr>
          <a:xfrm>
            <a:off x="8510746" y="2413000"/>
            <a:ext cx="131949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Future (hidden)</a:t>
            </a:r>
            <a:endParaRPr lang="en-US" sz="1200" dirty="0"/>
          </a:p>
        </p:txBody>
      </p:sp>
      <p:sp>
        <p:nvSpPr>
          <p:cNvPr id="34" name="Text 32"/>
          <p:cNvSpPr/>
          <p:nvPr/>
        </p:nvSpPr>
        <p:spPr>
          <a:xfrm>
            <a:off x="6410960" y="2740664"/>
            <a:ext cx="489752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Past only → Feature</a:t>
            </a:r>
            <a:endParaRPr lang="en-US" sz="1800" dirty="0"/>
          </a:p>
        </p:txBody>
      </p:sp>
      <p:sp>
        <p:nvSpPr>
          <p:cNvPr id="35" name="Text 33"/>
          <p:cNvSpPr/>
          <p:nvPr/>
        </p:nvSpPr>
        <p:spPr>
          <a:xfrm>
            <a:off x="6410960" y="3175000"/>
            <a:ext cx="4897526" cy="25654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Each transaction sees only what appeared before it.</a:t>
            </a:r>
            <a:endParaRPr lang="en-US" sz="1400" dirty="0"/>
          </a:p>
        </p:txBody>
      </p:sp>
      <p:sp>
        <p:nvSpPr>
          <p:cNvPr id="36" name="Shape 34"/>
          <p:cNvSpPr/>
          <p:nvPr/>
        </p:nvSpPr>
        <p:spPr>
          <a:xfrm>
            <a:off x="812800" y="4003042"/>
            <a:ext cx="5207000" cy="967740"/>
          </a:xfrm>
          <a:prstGeom prst="roundRect">
            <a:avLst>
              <a:gd name="adj" fmla="val 10499"/>
            </a:avLst>
          </a:prstGeom>
          <a:solidFill>
            <a:srgbClr val="10202E"/>
          </a:solidFill>
          <a:ln/>
        </p:spPr>
        <p:txBody>
          <a:bodyPr/>
          <a:lstStyle/>
          <a:p>
            <a:endParaRPr lang="en-US"/>
          </a:p>
        </p:txBody>
      </p:sp>
      <p:sp>
        <p:nvSpPr>
          <p:cNvPr id="37" name="Text 35"/>
          <p:cNvSpPr/>
          <p:nvPr/>
        </p:nvSpPr>
        <p:spPr>
          <a:xfrm>
            <a:off x="990600" y="4130042"/>
            <a:ext cx="499694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EVIDENCE 1</a:t>
            </a:r>
            <a:endParaRPr lang="en-US" sz="1200" dirty="0"/>
          </a:p>
        </p:txBody>
      </p:sp>
      <p:sp>
        <p:nvSpPr>
          <p:cNvPr id="38" name="Text 36"/>
          <p:cNvSpPr/>
          <p:nvPr/>
        </p:nvSpPr>
        <p:spPr>
          <a:xfrm>
            <a:off x="990600" y="4381500"/>
            <a:ext cx="499694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2EC"/>
                </a:solidFill>
                <a:latin typeface="DM Sans" pitchFamily="34" charset="0"/>
                <a:ea typeface="DM Sans" pitchFamily="34" charset="-122"/>
                <a:cs typeface="DM Sans" pitchFamily="34" charset="-120"/>
              </a:rPr>
              <a:t>Features checked at 3 time cut-points: past-only values matched full-series values.</a:t>
            </a:r>
            <a:endParaRPr lang="en-US" sz="1400" dirty="0"/>
          </a:p>
        </p:txBody>
      </p:sp>
      <p:sp>
        <p:nvSpPr>
          <p:cNvPr id="39" name="Shape 37"/>
          <p:cNvSpPr/>
          <p:nvPr/>
        </p:nvSpPr>
        <p:spPr>
          <a:xfrm>
            <a:off x="6172200" y="4003042"/>
            <a:ext cx="5207000" cy="967740"/>
          </a:xfrm>
          <a:prstGeom prst="roundRect">
            <a:avLst>
              <a:gd name="adj" fmla="val 10499"/>
            </a:avLst>
          </a:prstGeom>
          <a:solidFill>
            <a:srgbClr val="10202E"/>
          </a:solidFill>
          <a:ln/>
        </p:spPr>
        <p:txBody>
          <a:bodyPr/>
          <a:lstStyle/>
          <a:p>
            <a:endParaRPr lang="en-US"/>
          </a:p>
        </p:txBody>
      </p:sp>
      <p:sp>
        <p:nvSpPr>
          <p:cNvPr id="40" name="Text 38"/>
          <p:cNvSpPr/>
          <p:nvPr/>
        </p:nvSpPr>
        <p:spPr>
          <a:xfrm>
            <a:off x="6350000" y="4130042"/>
            <a:ext cx="499694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EVIDENCE 2</a:t>
            </a:r>
            <a:endParaRPr lang="en-US" sz="1200" dirty="0"/>
          </a:p>
        </p:txBody>
      </p:sp>
      <p:sp>
        <p:nvSpPr>
          <p:cNvPr id="41" name="Text 39"/>
          <p:cNvSpPr/>
          <p:nvPr/>
        </p:nvSpPr>
        <p:spPr>
          <a:xfrm>
            <a:off x="6350000" y="4381500"/>
            <a:ext cx="4996942"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5F2EC"/>
                </a:solidFill>
                <a:latin typeface="DM Sans" pitchFamily="34" charset="0"/>
                <a:ea typeface="DM Sans" pitchFamily="34" charset="-122"/>
                <a:cs typeface="DM Sans" pitchFamily="34" charset="-120"/>
              </a:rPr>
              <a:t>Adding Test rows did not change any Train/Val feature value (assert passed).</a:t>
            </a:r>
            <a:endParaRPr lang="en-US" sz="1400" dirty="0"/>
          </a:p>
        </p:txBody>
      </p:sp>
      <p:sp>
        <p:nvSpPr>
          <p:cNvPr id="42" name="Text 40"/>
          <p:cNvSpPr/>
          <p:nvPr/>
        </p:nvSpPr>
        <p:spPr>
          <a:xfrm>
            <a:off x="812800" y="5148579"/>
            <a:ext cx="5240249" cy="574040"/>
          </a:xfrm>
          <a:prstGeom prst="rect">
            <a:avLst/>
          </a:prstGeom>
          <a:noFill/>
          <a:ln/>
        </p:spPr>
        <p:txBody>
          <a:bodyPr wrap="square" lIns="0" tIns="0" rIns="0" bIns="0" rtlCol="0" anchor="t">
            <a:normAutofit/>
          </a:bodyPr>
          <a:lstStyle/>
          <a:p>
            <a:pPr marL="0" indent="0" algn="l">
              <a:lnSpc>
                <a:spcPts val="2160"/>
              </a:lnSpc>
              <a:buNone/>
            </a:pPr>
            <a:r>
              <a:rPr lang="en-US" sz="1800" i="1" dirty="0">
                <a:solidFill>
                  <a:srgbClr val="10202E"/>
                </a:solidFill>
                <a:latin typeface="DM Sans" pitchFamily="34" charset="0"/>
                <a:ea typeface="DM Sans" pitchFamily="34" charset="-122"/>
                <a:cs typeface="DM Sans" pitchFamily="34" charset="-120"/>
              </a:rPr>
              <a:t>“Data leakage can make a bad model look brilliant.”</a:t>
            </a:r>
            <a:endParaRPr lang="en-US" sz="1800" dirty="0"/>
          </a:p>
        </p:txBody>
      </p:sp>
      <p:sp>
        <p:nvSpPr>
          <p:cNvPr id="43" name="Shape 41"/>
          <p:cNvSpPr/>
          <p:nvPr/>
        </p:nvSpPr>
        <p:spPr>
          <a:xfrm>
            <a:off x="6122670" y="5166364"/>
            <a:ext cx="0" cy="513080"/>
          </a:xfrm>
          <a:prstGeom prst="line">
            <a:avLst/>
          </a:prstGeom>
          <a:noFill/>
          <a:ln w="38100">
            <a:solidFill>
              <a:srgbClr val="1D6A96"/>
            </a:solidFill>
            <a:prstDash val="solid"/>
          </a:ln>
        </p:spPr>
        <p:txBody>
          <a:bodyPr/>
          <a:lstStyle/>
          <a:p>
            <a:endParaRPr lang="en-US"/>
          </a:p>
        </p:txBody>
      </p:sp>
      <p:sp>
        <p:nvSpPr>
          <p:cNvPr id="44" name="Text 42"/>
          <p:cNvSpPr/>
          <p:nvPr/>
        </p:nvSpPr>
        <p:spPr>
          <a:xfrm>
            <a:off x="6291580" y="5191764"/>
            <a:ext cx="5240249"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6A96"/>
                </a:solidFill>
                <a:latin typeface="DM Sans" pitchFamily="34" charset="0"/>
                <a:ea typeface="DM Sans" pitchFamily="34" charset="-122"/>
                <a:cs typeface="DM Sans" pitchFamily="34" charset="-120"/>
              </a:rPr>
              <a:t>Takeaway:</a:t>
            </a:r>
            <a:r>
              <a:rPr lang="en-US" sz="1400" dirty="0">
                <a:solidFill>
                  <a:srgbClr val="10202E"/>
                </a:solidFill>
                <a:latin typeface="DM Sans" pitchFamily="34" charset="0"/>
                <a:ea typeface="DM Sans" pitchFamily="34" charset="-122"/>
                <a:cs typeface="DM Sans" pitchFamily="34" charset="-120"/>
              </a:rPr>
              <a:t> Good results only count if evaluation never uses future information.</a:t>
            </a:r>
            <a:endParaRPr lang="en-US" sz="1400" dirty="0"/>
          </a:p>
        </p:txBody>
      </p:sp>
      <p:sp>
        <p:nvSpPr>
          <p:cNvPr id="45" name="Text 43"/>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§4, §7</a:t>
            </a:r>
            <a:endParaRPr lang="en-US" sz="1200" dirty="0"/>
          </a:p>
        </p:txBody>
      </p:sp>
      <p:sp>
        <p:nvSpPr>
          <p:cNvPr id="46" name="Text 44"/>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(9) </a:t>
            </a:r>
            <a:r>
              <a:rPr lang="en-US" sz="1200" dirty="0">
                <a:solidFill>
                  <a:srgbClr val="54606C"/>
                </a:solidFill>
                <a:latin typeface="DM Sans" pitchFamily="34" charset="0"/>
                <a:ea typeface="DM Sans" pitchFamily="34" charset="-122"/>
                <a:cs typeface="DM Sans" pitchFamily="34" charset="-120"/>
              </a:rPr>
              <a:t>Next → Which models will we test, and against what?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 · MODELS &amp; TRAINING STRATEGY</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Three Models. Two Baselines. One Fair Evaluation Framework.</a:t>
            </a:r>
            <a:endParaRPr lang="en-US" sz="2600" dirty="0"/>
          </a:p>
        </p:txBody>
      </p:sp>
      <p:sp>
        <p:nvSpPr>
          <p:cNvPr id="4" name="Shape 2"/>
          <p:cNvSpPr/>
          <p:nvPr/>
        </p:nvSpPr>
        <p:spPr>
          <a:xfrm>
            <a:off x="819150" y="1649729"/>
            <a:ext cx="2281714" cy="1084580"/>
          </a:xfrm>
          <a:prstGeom prst="roundRect">
            <a:avLst>
              <a:gd name="adj" fmla="val 8782"/>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962660" y="1793242"/>
            <a:ext cx="2054535"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202E"/>
                </a:solidFill>
                <a:latin typeface="DM Sans" pitchFamily="34" charset="0"/>
                <a:ea typeface="DM Sans" pitchFamily="34" charset="-122"/>
                <a:cs typeface="DM Sans" pitchFamily="34" charset="-120"/>
              </a:rPr>
              <a:t>Logistic Regression</a:t>
            </a:r>
            <a:endParaRPr lang="en-US" sz="1600" dirty="0"/>
          </a:p>
        </p:txBody>
      </p:sp>
      <p:sp>
        <p:nvSpPr>
          <p:cNvPr id="6" name="Text 4"/>
          <p:cNvSpPr/>
          <p:nvPr/>
        </p:nvSpPr>
        <p:spPr>
          <a:xfrm>
            <a:off x="962660" y="2128521"/>
            <a:ext cx="2054535"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Interpretable linear classifier</a:t>
            </a:r>
            <a:endParaRPr lang="en-US" sz="1300" dirty="0"/>
          </a:p>
        </p:txBody>
      </p:sp>
      <p:sp>
        <p:nvSpPr>
          <p:cNvPr id="7" name="Shape 5"/>
          <p:cNvSpPr/>
          <p:nvPr/>
        </p:nvSpPr>
        <p:spPr>
          <a:xfrm>
            <a:off x="3215164" y="1649729"/>
            <a:ext cx="2281793" cy="1084580"/>
          </a:xfrm>
          <a:prstGeom prst="roundRect">
            <a:avLst>
              <a:gd name="adj" fmla="val 8782"/>
            </a:avLst>
          </a:prstGeom>
          <a:solidFill>
            <a:srgbClr val="FBF9F5"/>
          </a:solidFill>
          <a:ln w="12700">
            <a:solidFill>
              <a:srgbClr val="DAD4C8"/>
            </a:solidFill>
            <a:prstDash val="solid"/>
          </a:ln>
        </p:spPr>
        <p:txBody>
          <a:bodyPr/>
          <a:lstStyle/>
          <a:p>
            <a:endParaRPr lang="en-US"/>
          </a:p>
        </p:txBody>
      </p:sp>
      <p:sp>
        <p:nvSpPr>
          <p:cNvPr id="8" name="Text 6"/>
          <p:cNvSpPr/>
          <p:nvPr/>
        </p:nvSpPr>
        <p:spPr>
          <a:xfrm>
            <a:off x="3358674" y="1793242"/>
            <a:ext cx="20546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202E"/>
                </a:solidFill>
                <a:latin typeface="DM Sans" pitchFamily="34" charset="0"/>
                <a:ea typeface="DM Sans" pitchFamily="34" charset="-122"/>
                <a:cs typeface="DM Sans" pitchFamily="34" charset="-120"/>
              </a:rPr>
              <a:t>SVM (RBF)</a:t>
            </a:r>
            <a:endParaRPr lang="en-US" sz="1600" dirty="0"/>
          </a:p>
        </p:txBody>
      </p:sp>
      <p:sp>
        <p:nvSpPr>
          <p:cNvPr id="9" name="Text 7"/>
          <p:cNvSpPr/>
          <p:nvPr/>
        </p:nvSpPr>
        <p:spPr>
          <a:xfrm>
            <a:off x="3358674" y="2128521"/>
            <a:ext cx="205461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Nonlinear decision boundary</a:t>
            </a:r>
            <a:endParaRPr lang="en-US" sz="1300" dirty="0"/>
          </a:p>
        </p:txBody>
      </p:sp>
      <p:sp>
        <p:nvSpPr>
          <p:cNvPr id="10" name="Shape 8"/>
          <p:cNvSpPr/>
          <p:nvPr/>
        </p:nvSpPr>
        <p:spPr>
          <a:xfrm>
            <a:off x="5611257" y="1649729"/>
            <a:ext cx="2281793" cy="1084580"/>
          </a:xfrm>
          <a:prstGeom prst="roundRect">
            <a:avLst>
              <a:gd name="adj" fmla="val 8782"/>
            </a:avLst>
          </a:prstGeom>
          <a:solidFill>
            <a:srgbClr val="FBF9F5"/>
          </a:solidFill>
          <a:ln w="12700">
            <a:solidFill>
              <a:srgbClr val="DAD4C8"/>
            </a:solidFill>
            <a:prstDash val="solid"/>
          </a:ln>
        </p:spPr>
        <p:txBody>
          <a:bodyPr/>
          <a:lstStyle/>
          <a:p>
            <a:endParaRPr lang="en-US"/>
          </a:p>
        </p:txBody>
      </p:sp>
      <p:sp>
        <p:nvSpPr>
          <p:cNvPr id="11" name="Text 9"/>
          <p:cNvSpPr/>
          <p:nvPr/>
        </p:nvSpPr>
        <p:spPr>
          <a:xfrm>
            <a:off x="5754767" y="1793242"/>
            <a:ext cx="2054616"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202E"/>
                </a:solidFill>
                <a:latin typeface="DM Sans" pitchFamily="34" charset="0"/>
                <a:ea typeface="DM Sans" pitchFamily="34" charset="-122"/>
                <a:cs typeface="DM Sans" pitchFamily="34" charset="-120"/>
              </a:rPr>
              <a:t>Decision Tree</a:t>
            </a:r>
            <a:endParaRPr lang="en-US" sz="1600" dirty="0"/>
          </a:p>
        </p:txBody>
      </p:sp>
      <p:sp>
        <p:nvSpPr>
          <p:cNvPr id="12" name="Text 10"/>
          <p:cNvSpPr/>
          <p:nvPr/>
        </p:nvSpPr>
        <p:spPr>
          <a:xfrm>
            <a:off x="5754767" y="2128521"/>
            <a:ext cx="205461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Rule-based, explainable</a:t>
            </a:r>
            <a:endParaRPr lang="en-US" sz="1300" dirty="0"/>
          </a:p>
        </p:txBody>
      </p:sp>
      <p:sp>
        <p:nvSpPr>
          <p:cNvPr id="13" name="Shape 11"/>
          <p:cNvSpPr/>
          <p:nvPr/>
        </p:nvSpPr>
        <p:spPr>
          <a:xfrm>
            <a:off x="819150" y="2874014"/>
            <a:ext cx="3479800" cy="779780"/>
          </a:xfrm>
          <a:prstGeom prst="roundRect">
            <a:avLst>
              <a:gd name="adj" fmla="val 12215"/>
            </a:avLst>
          </a:prstGeom>
          <a:solidFill>
            <a:srgbClr val="FBF9F5"/>
          </a:solidFill>
          <a:ln w="12700">
            <a:solidFill>
              <a:srgbClr val="8B95A0"/>
            </a:solidFill>
            <a:prstDash val="dash"/>
          </a:ln>
        </p:spPr>
        <p:txBody>
          <a:bodyPr/>
          <a:lstStyle/>
          <a:p>
            <a:endParaRPr lang="en-US"/>
          </a:p>
        </p:txBody>
      </p:sp>
      <p:sp>
        <p:nvSpPr>
          <p:cNvPr id="14" name="Text 12"/>
          <p:cNvSpPr/>
          <p:nvPr/>
        </p:nvSpPr>
        <p:spPr>
          <a:xfrm>
            <a:off x="962660" y="3004821"/>
            <a:ext cx="328856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202E"/>
                </a:solidFill>
                <a:latin typeface="DM Sans" pitchFamily="34" charset="0"/>
                <a:ea typeface="DM Sans" pitchFamily="34" charset="-122"/>
                <a:cs typeface="DM Sans" pitchFamily="34" charset="-120"/>
              </a:rPr>
              <a:t>Baseline: Price rule</a:t>
            </a:r>
            <a:endParaRPr lang="en-US" sz="1400" dirty="0"/>
          </a:p>
        </p:txBody>
      </p:sp>
      <p:sp>
        <p:nvSpPr>
          <p:cNvPr id="15" name="Text 13"/>
          <p:cNvSpPr/>
          <p:nvPr/>
        </p:nvSpPr>
        <p:spPr>
          <a:xfrm>
            <a:off x="962660" y="3291842"/>
            <a:ext cx="328856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Score = transaction amount</a:t>
            </a:r>
            <a:endParaRPr lang="en-US" sz="1300" dirty="0"/>
          </a:p>
        </p:txBody>
      </p:sp>
      <p:sp>
        <p:nvSpPr>
          <p:cNvPr id="16" name="Shape 14"/>
          <p:cNvSpPr/>
          <p:nvPr/>
        </p:nvSpPr>
        <p:spPr>
          <a:xfrm>
            <a:off x="4413250" y="2874014"/>
            <a:ext cx="3479800" cy="779780"/>
          </a:xfrm>
          <a:prstGeom prst="roundRect">
            <a:avLst>
              <a:gd name="adj" fmla="val 12215"/>
            </a:avLst>
          </a:prstGeom>
          <a:solidFill>
            <a:srgbClr val="FBF9F5"/>
          </a:solidFill>
          <a:ln w="12700">
            <a:solidFill>
              <a:srgbClr val="8B95A0"/>
            </a:solidFill>
            <a:prstDash val="dash"/>
          </a:ln>
        </p:spPr>
        <p:txBody>
          <a:bodyPr/>
          <a:lstStyle/>
          <a:p>
            <a:endParaRPr lang="en-US"/>
          </a:p>
        </p:txBody>
      </p:sp>
      <p:sp>
        <p:nvSpPr>
          <p:cNvPr id="17" name="Text 15"/>
          <p:cNvSpPr/>
          <p:nvPr/>
        </p:nvSpPr>
        <p:spPr>
          <a:xfrm>
            <a:off x="4556760" y="3004821"/>
            <a:ext cx="3288564"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202E"/>
                </a:solidFill>
                <a:latin typeface="DM Sans" pitchFamily="34" charset="0"/>
                <a:ea typeface="DM Sans" pitchFamily="34" charset="-122"/>
                <a:cs typeface="DM Sans" pitchFamily="34" charset="-120"/>
              </a:rPr>
              <a:t>Baseline: Category rule</a:t>
            </a:r>
            <a:endParaRPr lang="en-US" sz="1400" dirty="0"/>
          </a:p>
        </p:txBody>
      </p:sp>
      <p:sp>
        <p:nvSpPr>
          <p:cNvPr id="18" name="Text 16"/>
          <p:cNvSpPr/>
          <p:nvPr/>
        </p:nvSpPr>
        <p:spPr>
          <a:xfrm>
            <a:off x="4556760" y="3291842"/>
            <a:ext cx="3288564"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Score = Train fraud rate of the category</a:t>
            </a:r>
            <a:endParaRPr lang="en-US" sz="1300" dirty="0"/>
          </a:p>
        </p:txBody>
      </p:sp>
      <p:sp>
        <p:nvSpPr>
          <p:cNvPr id="19" name="Shape 17"/>
          <p:cNvSpPr/>
          <p:nvPr/>
        </p:nvSpPr>
        <p:spPr>
          <a:xfrm>
            <a:off x="812800" y="3787142"/>
            <a:ext cx="7086600" cy="1263015"/>
          </a:xfrm>
          <a:prstGeom prst="roundRect">
            <a:avLst>
              <a:gd name="adj" fmla="val 8044"/>
            </a:avLst>
          </a:prstGeom>
          <a:solidFill>
            <a:srgbClr val="10202E"/>
          </a:solidFill>
          <a:ln/>
        </p:spPr>
        <p:txBody>
          <a:bodyPr/>
          <a:lstStyle/>
          <a:p>
            <a:endParaRPr lang="en-US"/>
          </a:p>
        </p:txBody>
      </p:sp>
      <p:sp>
        <p:nvSpPr>
          <p:cNvPr id="20" name="Text 18"/>
          <p:cNvSpPr/>
          <p:nvPr/>
        </p:nvSpPr>
        <p:spPr>
          <a:xfrm>
            <a:off x="990600" y="3926842"/>
            <a:ext cx="693293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SAME RULES FOR EVERYONE</a:t>
            </a:r>
            <a:endParaRPr lang="en-US" sz="1200" dirty="0"/>
          </a:p>
        </p:txBody>
      </p:sp>
      <p:sp>
        <p:nvSpPr>
          <p:cNvPr id="21" name="Text 19"/>
          <p:cNvSpPr/>
          <p:nvPr/>
        </p:nvSpPr>
        <p:spPr>
          <a:xfrm>
            <a:off x="990600" y="4191000"/>
            <a:ext cx="6932930" cy="24828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5F2EC"/>
                </a:solidFill>
                <a:latin typeface="DM Sans" pitchFamily="34" charset="0"/>
                <a:ea typeface="DM Sans" pitchFamily="34" charset="-122"/>
                <a:cs typeface="DM Sans" pitchFamily="34" charset="-120"/>
              </a:rPr>
              <a:t>Shared preprocessing fit on Train only: StandardScaler + </a:t>
            </a:r>
            <a:r>
              <a:rPr lang="en-US" sz="1300" dirty="0" err="1">
                <a:solidFill>
                  <a:srgbClr val="F5F2EC"/>
                </a:solidFill>
                <a:latin typeface="DM Sans" pitchFamily="34" charset="0"/>
                <a:ea typeface="DM Sans" pitchFamily="34" charset="-122"/>
                <a:cs typeface="DM Sans" pitchFamily="34" charset="-120"/>
              </a:rPr>
              <a:t>OneHotEncoder</a:t>
            </a:r>
            <a:r>
              <a:rPr lang="en-US" sz="1300" dirty="0">
                <a:solidFill>
                  <a:srgbClr val="F5F2EC"/>
                </a:solidFill>
                <a:latin typeface="DM Sans" pitchFamily="34" charset="0"/>
                <a:ea typeface="DM Sans" pitchFamily="34" charset="-122"/>
                <a:cs typeface="DM Sans" pitchFamily="34" charset="-120"/>
              </a:rPr>
              <a:t>.</a:t>
            </a:r>
            <a:endParaRPr lang="en-US" sz="1300" dirty="0"/>
          </a:p>
        </p:txBody>
      </p:sp>
      <p:sp>
        <p:nvSpPr>
          <p:cNvPr id="22" name="Text 20"/>
          <p:cNvSpPr/>
          <p:nvPr/>
        </p:nvSpPr>
        <p:spPr>
          <a:xfrm>
            <a:off x="990600" y="4464689"/>
            <a:ext cx="6932930" cy="471170"/>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5F2EC"/>
                </a:solidFill>
                <a:latin typeface="DM Sans" pitchFamily="34" charset="0"/>
                <a:ea typeface="DM Sans" pitchFamily="34" charset="-122"/>
                <a:cs typeface="DM Sans" pitchFamily="34" charset="-120"/>
              </a:rPr>
              <a:t>SVM trains on 44,800 rows (all Train frauds + 40,000 legitimate, 10.7% fraud); thresholds are re-tuned on Validation.</a:t>
            </a:r>
            <a:endParaRPr lang="en-US" sz="1300" dirty="0"/>
          </a:p>
        </p:txBody>
      </p:sp>
      <p:sp>
        <p:nvSpPr>
          <p:cNvPr id="23" name="Shape 21"/>
          <p:cNvSpPr/>
          <p:nvPr/>
        </p:nvSpPr>
        <p:spPr>
          <a:xfrm>
            <a:off x="8204200" y="1643379"/>
            <a:ext cx="3175000" cy="1553210"/>
          </a:xfrm>
          <a:prstGeom prst="roundRect">
            <a:avLst>
              <a:gd name="adj" fmla="val 8177"/>
            </a:avLst>
          </a:prstGeom>
          <a:solidFill>
            <a:srgbClr val="10202E"/>
          </a:solidFill>
          <a:ln/>
        </p:spPr>
        <p:txBody>
          <a:bodyPr/>
          <a:lstStyle/>
          <a:p>
            <a:endParaRPr lang="en-US"/>
          </a:p>
        </p:txBody>
      </p:sp>
      <p:sp>
        <p:nvSpPr>
          <p:cNvPr id="24" name="Text 22"/>
          <p:cNvSpPr/>
          <p:nvPr/>
        </p:nvSpPr>
        <p:spPr>
          <a:xfrm>
            <a:off x="8407400" y="1846579"/>
            <a:ext cx="285165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ASK YOURSELF</a:t>
            </a:r>
            <a:endParaRPr lang="en-US" sz="1200" dirty="0"/>
          </a:p>
        </p:txBody>
      </p:sp>
      <p:sp>
        <p:nvSpPr>
          <p:cNvPr id="25" name="Text 23"/>
          <p:cNvSpPr/>
          <p:nvPr/>
        </p:nvSpPr>
        <p:spPr>
          <a:xfrm>
            <a:off x="8407400" y="2136142"/>
            <a:ext cx="2851658" cy="882650"/>
          </a:xfrm>
          <a:prstGeom prst="rect">
            <a:avLst/>
          </a:prstGeom>
          <a:noFill/>
          <a:ln/>
        </p:spPr>
        <p:txBody>
          <a:bodyPr wrap="square" lIns="0" tIns="0" rIns="0" bIns="0" rtlCol="0" anchor="t">
            <a:normAutofit/>
          </a:bodyPr>
          <a:lstStyle/>
          <a:p>
            <a:pPr marL="0" indent="0" algn="l">
              <a:lnSpc>
                <a:spcPts val="2250"/>
              </a:lnSpc>
              <a:buNone/>
            </a:pPr>
            <a:r>
              <a:rPr lang="en-US" sz="1800" i="1" dirty="0">
                <a:solidFill>
                  <a:srgbClr val="F5F2EC"/>
                </a:solidFill>
                <a:latin typeface="DM Sans" pitchFamily="34" charset="0"/>
                <a:ea typeface="DM Sans" pitchFamily="34" charset="-122"/>
                <a:cs typeface="DM Sans" pitchFamily="34" charset="-120"/>
              </a:rPr>
              <a:t>If Machine Learning cannot beat a simple rule, why deploy it?</a:t>
            </a:r>
            <a:endParaRPr lang="en-US" sz="1800" dirty="0"/>
          </a:p>
        </p:txBody>
      </p:sp>
      <p:sp>
        <p:nvSpPr>
          <p:cNvPr id="26" name="Shape 24"/>
          <p:cNvSpPr/>
          <p:nvPr/>
        </p:nvSpPr>
        <p:spPr>
          <a:xfrm>
            <a:off x="8223250" y="3348992"/>
            <a:ext cx="0" cy="1008380"/>
          </a:xfrm>
          <a:prstGeom prst="line">
            <a:avLst/>
          </a:prstGeom>
          <a:noFill/>
          <a:ln w="38100">
            <a:solidFill>
              <a:srgbClr val="1D6A96"/>
            </a:solidFill>
            <a:prstDash val="solid"/>
          </a:ln>
        </p:spPr>
        <p:txBody>
          <a:bodyPr/>
          <a:lstStyle/>
          <a:p>
            <a:endParaRPr lang="en-US"/>
          </a:p>
        </p:txBody>
      </p:sp>
      <p:sp>
        <p:nvSpPr>
          <p:cNvPr id="27" name="Text 25"/>
          <p:cNvSpPr/>
          <p:nvPr/>
        </p:nvSpPr>
        <p:spPr>
          <a:xfrm>
            <a:off x="8392160" y="3374392"/>
            <a:ext cx="307665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TAKEAWAY</a:t>
            </a:r>
            <a:endParaRPr lang="en-US" sz="1200" dirty="0"/>
          </a:p>
        </p:txBody>
      </p:sp>
      <p:sp>
        <p:nvSpPr>
          <p:cNvPr id="28" name="Text 26"/>
          <p:cNvSpPr/>
          <p:nvPr/>
        </p:nvSpPr>
        <p:spPr>
          <a:xfrm>
            <a:off x="8392160" y="3638550"/>
            <a:ext cx="3076651"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0202E"/>
                </a:solidFill>
                <a:latin typeface="DM Sans" pitchFamily="34" charset="0"/>
                <a:ea typeface="DM Sans" pitchFamily="34" charset="-122"/>
                <a:cs typeface="DM Sans" pitchFamily="34" charset="-120"/>
              </a:rPr>
              <a:t>The baselines are the real bar: a model must beat them, not just score well alone.</a:t>
            </a:r>
            <a:endParaRPr lang="en-US" sz="1400" dirty="0"/>
          </a:p>
        </p:txBody>
      </p:sp>
      <p:sp>
        <p:nvSpPr>
          <p:cNvPr id="29" name="Text 27"/>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§5.1–5.4</a:t>
            </a:r>
            <a:endParaRPr lang="en-US" sz="1200" dirty="0"/>
          </a:p>
        </p:txBody>
      </p:sp>
      <p:sp>
        <p:nvSpPr>
          <p:cNvPr id="30" name="Text 28"/>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(10) </a:t>
            </a:r>
            <a:r>
              <a:rPr lang="en-US" sz="1200" dirty="0">
                <a:solidFill>
                  <a:srgbClr val="54606C"/>
                </a:solidFill>
                <a:latin typeface="DM Sans" pitchFamily="34" charset="0"/>
                <a:ea typeface="DM Sans" pitchFamily="34" charset="-122"/>
                <a:cs typeface="DM Sans" pitchFamily="34" charset="-120"/>
              </a:rPr>
              <a:t>Next → Do more features really help? We test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 · FEATURE EXPERIMENT &amp; TUNING</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Do More Features Always Mean Better Predictions?</a:t>
            </a:r>
            <a:endParaRPr lang="en-US" sz="2600" dirty="0"/>
          </a:p>
        </p:txBody>
      </p:sp>
      <p:sp>
        <p:nvSpPr>
          <p:cNvPr id="4" name="Shape 2"/>
          <p:cNvSpPr/>
          <p:nvPr/>
        </p:nvSpPr>
        <p:spPr>
          <a:xfrm>
            <a:off x="819150" y="1649729"/>
            <a:ext cx="5705237" cy="3495040"/>
          </a:xfrm>
          <a:prstGeom prst="roundRect">
            <a:avLst>
              <a:gd name="adj" fmla="val 3452"/>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00760" y="1831342"/>
            <a:ext cx="5502277" cy="227171"/>
          </a:xfrm>
          <a:prstGeom prst="rect">
            <a:avLst/>
          </a:prstGeom>
          <a:noFill/>
          <a:ln/>
        </p:spPr>
        <p:txBody>
          <a:bodyPr wrap="square" lIns="0" tIns="0" rIns="0" bIns="0" rtlCol="0" anchor="t">
            <a:normAutofit/>
          </a:bodyPr>
          <a:lstStyle/>
          <a:p>
            <a:pPr marL="0" indent="0" algn="l">
              <a:lnSpc>
                <a:spcPts val="1622"/>
              </a:lnSpc>
              <a:buNone/>
            </a:pPr>
            <a:r>
              <a:rPr lang="en-US" sz="1159" b="1" kern="0" spc="50" dirty="0">
                <a:solidFill>
                  <a:srgbClr val="54606C"/>
                </a:solidFill>
                <a:latin typeface="DM Sans" pitchFamily="34" charset="0"/>
                <a:ea typeface="DM Sans" pitchFamily="34" charset="-122"/>
                <a:cs typeface="DM Sans" pitchFamily="34" charset="-120"/>
              </a:rPr>
              <a:t>VALIDATION PR-AUC · DEFAULT SETTINGS</a:t>
            </a:r>
            <a:endParaRPr lang="en-US" sz="1159" dirty="0"/>
          </a:p>
        </p:txBody>
      </p:sp>
      <p:sp>
        <p:nvSpPr>
          <p:cNvPr id="6" name="Text 4"/>
          <p:cNvSpPr/>
          <p:nvPr/>
        </p:nvSpPr>
        <p:spPr>
          <a:xfrm>
            <a:off x="1000760" y="2122010"/>
            <a:ext cx="654082" cy="22709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B95A0"/>
                </a:solidFill>
                <a:latin typeface="DM Sans" pitchFamily="34" charset="0"/>
                <a:ea typeface="DM Sans" pitchFamily="34" charset="-122"/>
                <a:cs typeface="DM Sans" pitchFamily="34" charset="-120"/>
              </a:rPr>
              <a:t>■</a:t>
            </a:r>
            <a:r>
              <a:rPr lang="en-US" sz="1200" dirty="0">
                <a:solidFill>
                  <a:srgbClr val="54606C"/>
                </a:solidFill>
                <a:latin typeface="DM Sans" pitchFamily="34" charset="0"/>
                <a:ea typeface="DM Sans" pitchFamily="34" charset="-122"/>
                <a:cs typeface="DM Sans" pitchFamily="34" charset="-120"/>
              </a:rPr>
              <a:t> Static</a:t>
            </a:r>
            <a:endParaRPr lang="en-US" sz="1200" dirty="0"/>
          </a:p>
        </p:txBody>
      </p:sp>
      <p:sp>
        <p:nvSpPr>
          <p:cNvPr id="7" name="Text 5"/>
          <p:cNvSpPr/>
          <p:nvPr/>
        </p:nvSpPr>
        <p:spPr>
          <a:xfrm>
            <a:off x="1698228" y="2122010"/>
            <a:ext cx="1723930" cy="22709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A96"/>
                </a:solidFill>
                <a:latin typeface="DM Sans" pitchFamily="34" charset="0"/>
                <a:ea typeface="DM Sans" pitchFamily="34" charset="-122"/>
                <a:cs typeface="DM Sans" pitchFamily="34" charset="-120"/>
              </a:rPr>
              <a:t>■</a:t>
            </a:r>
            <a:r>
              <a:rPr lang="en-US" sz="1200" dirty="0">
                <a:solidFill>
                  <a:srgbClr val="54606C"/>
                </a:solidFill>
                <a:latin typeface="DM Sans" pitchFamily="34" charset="0"/>
                <a:ea typeface="DM Sans" pitchFamily="34" charset="-122"/>
                <a:cs typeface="DM Sans" pitchFamily="34" charset="-120"/>
              </a:rPr>
              <a:t> Static + Behavioral</a:t>
            </a:r>
            <a:endParaRPr lang="en-US" sz="1200" dirty="0"/>
          </a:p>
        </p:txBody>
      </p:sp>
      <p:sp>
        <p:nvSpPr>
          <p:cNvPr id="8" name="Text 6"/>
          <p:cNvSpPr/>
          <p:nvPr/>
        </p:nvSpPr>
        <p:spPr>
          <a:xfrm>
            <a:off x="1000760" y="2412603"/>
            <a:ext cx="5502277" cy="242491"/>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0202E"/>
                </a:solidFill>
                <a:latin typeface="DM Sans" pitchFamily="34" charset="0"/>
                <a:ea typeface="DM Sans" pitchFamily="34" charset="-122"/>
                <a:cs typeface="DM Sans" pitchFamily="34" charset="-120"/>
              </a:rPr>
              <a:t>Logistic Regression </a:t>
            </a:r>
            <a:r>
              <a:rPr lang="en-US" sz="1231" b="1" dirty="0">
                <a:solidFill>
                  <a:srgbClr val="1D6A96"/>
                </a:solidFill>
                <a:latin typeface="DM Sans" pitchFamily="34" charset="0"/>
                <a:ea typeface="DM Sans" pitchFamily="34" charset="-122"/>
                <a:cs typeface="DM Sans" pitchFamily="34" charset="-120"/>
              </a:rPr>
              <a:t>+0.0178</a:t>
            </a:r>
            <a:endParaRPr lang="en-US" sz="1231" dirty="0"/>
          </a:p>
        </p:txBody>
      </p:sp>
      <p:sp>
        <p:nvSpPr>
          <p:cNvPr id="9" name="Shape 7"/>
          <p:cNvSpPr/>
          <p:nvPr/>
        </p:nvSpPr>
        <p:spPr>
          <a:xfrm>
            <a:off x="1000760" y="2685417"/>
            <a:ext cx="2825750" cy="165100"/>
          </a:xfrm>
          <a:prstGeom prst="roundRect">
            <a:avLst>
              <a:gd name="adj" fmla="val 15385"/>
            </a:avLst>
          </a:prstGeom>
          <a:solidFill>
            <a:srgbClr val="8B95A0"/>
          </a:solidFill>
          <a:ln/>
        </p:spPr>
        <p:txBody>
          <a:bodyPr/>
          <a:lstStyle/>
          <a:p>
            <a:endParaRPr lang="en-US"/>
          </a:p>
        </p:txBody>
      </p:sp>
      <p:sp>
        <p:nvSpPr>
          <p:cNvPr id="10" name="Text 8"/>
          <p:cNvSpPr/>
          <p:nvPr/>
        </p:nvSpPr>
        <p:spPr>
          <a:xfrm>
            <a:off x="3902710" y="2661289"/>
            <a:ext cx="59093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0.8893</a:t>
            </a:r>
            <a:endParaRPr lang="en-US" sz="1200" dirty="0"/>
          </a:p>
        </p:txBody>
      </p:sp>
      <p:sp>
        <p:nvSpPr>
          <p:cNvPr id="11" name="Shape 9"/>
          <p:cNvSpPr/>
          <p:nvPr/>
        </p:nvSpPr>
        <p:spPr>
          <a:xfrm>
            <a:off x="1000760" y="2923859"/>
            <a:ext cx="2882900" cy="165100"/>
          </a:xfrm>
          <a:prstGeom prst="roundRect">
            <a:avLst>
              <a:gd name="adj" fmla="val 15385"/>
            </a:avLst>
          </a:prstGeom>
          <a:solidFill>
            <a:srgbClr val="1D6A96"/>
          </a:solidFill>
          <a:ln/>
        </p:spPr>
        <p:txBody>
          <a:bodyPr/>
          <a:lstStyle/>
          <a:p>
            <a:endParaRPr lang="en-US"/>
          </a:p>
        </p:txBody>
      </p:sp>
      <p:sp>
        <p:nvSpPr>
          <p:cNvPr id="12" name="Text 10"/>
          <p:cNvSpPr/>
          <p:nvPr/>
        </p:nvSpPr>
        <p:spPr>
          <a:xfrm>
            <a:off x="3959860" y="2899811"/>
            <a:ext cx="63141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0.9070</a:t>
            </a:r>
            <a:endParaRPr lang="en-US" sz="1200" dirty="0"/>
          </a:p>
        </p:txBody>
      </p:sp>
      <p:sp>
        <p:nvSpPr>
          <p:cNvPr id="13" name="Text 11"/>
          <p:cNvSpPr/>
          <p:nvPr/>
        </p:nvSpPr>
        <p:spPr>
          <a:xfrm>
            <a:off x="1000760" y="3195557"/>
            <a:ext cx="5502277" cy="242491"/>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0202E"/>
                </a:solidFill>
                <a:latin typeface="DM Sans" pitchFamily="34" charset="0"/>
                <a:ea typeface="DM Sans" pitchFamily="34" charset="-122"/>
                <a:cs typeface="DM Sans" pitchFamily="34" charset="-120"/>
              </a:rPr>
              <a:t>SVM (RBF) </a:t>
            </a:r>
            <a:r>
              <a:rPr lang="en-US" sz="1231" b="1" dirty="0">
                <a:solidFill>
                  <a:srgbClr val="1D6A96"/>
                </a:solidFill>
                <a:latin typeface="DM Sans" pitchFamily="34" charset="0"/>
                <a:ea typeface="DM Sans" pitchFamily="34" charset="-122"/>
                <a:cs typeface="DM Sans" pitchFamily="34" charset="-120"/>
              </a:rPr>
              <a:t>+0.0074</a:t>
            </a:r>
            <a:endParaRPr lang="en-US" sz="1231" dirty="0"/>
          </a:p>
        </p:txBody>
      </p:sp>
      <p:sp>
        <p:nvSpPr>
          <p:cNvPr id="14" name="Shape 12"/>
          <p:cNvSpPr/>
          <p:nvPr/>
        </p:nvSpPr>
        <p:spPr>
          <a:xfrm>
            <a:off x="1000760" y="3468371"/>
            <a:ext cx="2857500" cy="165100"/>
          </a:xfrm>
          <a:prstGeom prst="roundRect">
            <a:avLst>
              <a:gd name="adj" fmla="val 15385"/>
            </a:avLst>
          </a:prstGeom>
          <a:solidFill>
            <a:srgbClr val="8B95A0"/>
          </a:solidFill>
          <a:ln/>
        </p:spPr>
        <p:txBody>
          <a:bodyPr/>
          <a:lstStyle/>
          <a:p>
            <a:endParaRPr lang="en-US"/>
          </a:p>
        </p:txBody>
      </p:sp>
      <p:sp>
        <p:nvSpPr>
          <p:cNvPr id="15" name="Text 13"/>
          <p:cNvSpPr/>
          <p:nvPr/>
        </p:nvSpPr>
        <p:spPr>
          <a:xfrm>
            <a:off x="3934460" y="3444242"/>
            <a:ext cx="5976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0.8998</a:t>
            </a:r>
            <a:endParaRPr lang="en-US" sz="1200" dirty="0"/>
          </a:p>
        </p:txBody>
      </p:sp>
      <p:sp>
        <p:nvSpPr>
          <p:cNvPr id="16" name="Shape 14"/>
          <p:cNvSpPr/>
          <p:nvPr/>
        </p:nvSpPr>
        <p:spPr>
          <a:xfrm>
            <a:off x="1000760" y="3706813"/>
            <a:ext cx="2882900" cy="165100"/>
          </a:xfrm>
          <a:prstGeom prst="roundRect">
            <a:avLst>
              <a:gd name="adj" fmla="val 15385"/>
            </a:avLst>
          </a:prstGeom>
          <a:solidFill>
            <a:srgbClr val="1D6A96"/>
          </a:solidFill>
          <a:ln/>
        </p:spPr>
        <p:txBody>
          <a:bodyPr/>
          <a:lstStyle/>
          <a:p>
            <a:endParaRPr lang="en-US"/>
          </a:p>
        </p:txBody>
      </p:sp>
      <p:sp>
        <p:nvSpPr>
          <p:cNvPr id="17" name="Text 15"/>
          <p:cNvSpPr/>
          <p:nvPr/>
        </p:nvSpPr>
        <p:spPr>
          <a:xfrm>
            <a:off x="3959860" y="3682764"/>
            <a:ext cx="60731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0.9072</a:t>
            </a:r>
            <a:endParaRPr lang="en-US" sz="1200" dirty="0"/>
          </a:p>
        </p:txBody>
      </p:sp>
      <p:sp>
        <p:nvSpPr>
          <p:cNvPr id="18" name="Text 16"/>
          <p:cNvSpPr/>
          <p:nvPr/>
        </p:nvSpPr>
        <p:spPr>
          <a:xfrm>
            <a:off x="1000760" y="3978517"/>
            <a:ext cx="5502277" cy="242491"/>
          </a:xfrm>
          <a:prstGeom prst="rect">
            <a:avLst/>
          </a:prstGeom>
          <a:noFill/>
          <a:ln/>
        </p:spPr>
        <p:txBody>
          <a:bodyPr wrap="square" lIns="0" tIns="0" rIns="0" bIns="0" rtlCol="0" anchor="t">
            <a:normAutofit/>
          </a:bodyPr>
          <a:lstStyle/>
          <a:p>
            <a:pPr marL="0" indent="0" algn="l">
              <a:lnSpc>
                <a:spcPts val="1723"/>
              </a:lnSpc>
              <a:buNone/>
            </a:pPr>
            <a:r>
              <a:rPr lang="en-US" sz="1231" b="1" dirty="0">
                <a:solidFill>
                  <a:srgbClr val="10202E"/>
                </a:solidFill>
                <a:latin typeface="DM Sans" pitchFamily="34" charset="0"/>
                <a:ea typeface="DM Sans" pitchFamily="34" charset="-122"/>
                <a:cs typeface="DM Sans" pitchFamily="34" charset="-120"/>
              </a:rPr>
              <a:t>Decision Tree </a:t>
            </a:r>
            <a:r>
              <a:rPr lang="en-US" sz="1231" b="1" dirty="0">
                <a:solidFill>
                  <a:srgbClr val="1D6A96"/>
                </a:solidFill>
                <a:latin typeface="DM Sans" pitchFamily="34" charset="0"/>
                <a:ea typeface="DM Sans" pitchFamily="34" charset="-122"/>
                <a:cs typeface="DM Sans" pitchFamily="34" charset="-120"/>
              </a:rPr>
              <a:t>+0.0142</a:t>
            </a:r>
            <a:endParaRPr lang="en-US" sz="1231" dirty="0"/>
          </a:p>
        </p:txBody>
      </p:sp>
      <p:sp>
        <p:nvSpPr>
          <p:cNvPr id="19" name="Shape 17"/>
          <p:cNvSpPr/>
          <p:nvPr/>
        </p:nvSpPr>
        <p:spPr>
          <a:xfrm>
            <a:off x="1000760" y="4251325"/>
            <a:ext cx="2660650" cy="165100"/>
          </a:xfrm>
          <a:prstGeom prst="roundRect">
            <a:avLst>
              <a:gd name="adj" fmla="val 15385"/>
            </a:avLst>
          </a:prstGeom>
          <a:solidFill>
            <a:srgbClr val="8B95A0"/>
          </a:solidFill>
          <a:ln/>
        </p:spPr>
        <p:txBody>
          <a:bodyPr/>
          <a:lstStyle/>
          <a:p>
            <a:endParaRPr lang="en-US"/>
          </a:p>
        </p:txBody>
      </p:sp>
      <p:sp>
        <p:nvSpPr>
          <p:cNvPr id="20" name="Text 18"/>
          <p:cNvSpPr/>
          <p:nvPr/>
        </p:nvSpPr>
        <p:spPr>
          <a:xfrm>
            <a:off x="3737610" y="4227196"/>
            <a:ext cx="57597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0.8378</a:t>
            </a:r>
            <a:endParaRPr lang="en-US" sz="1200" dirty="0"/>
          </a:p>
        </p:txBody>
      </p:sp>
      <p:sp>
        <p:nvSpPr>
          <p:cNvPr id="21" name="Shape 19"/>
          <p:cNvSpPr/>
          <p:nvPr/>
        </p:nvSpPr>
        <p:spPr>
          <a:xfrm>
            <a:off x="1000760" y="4489766"/>
            <a:ext cx="2705100" cy="165100"/>
          </a:xfrm>
          <a:prstGeom prst="roundRect">
            <a:avLst>
              <a:gd name="adj" fmla="val 15385"/>
            </a:avLst>
          </a:prstGeom>
          <a:solidFill>
            <a:srgbClr val="1D6A96"/>
          </a:solidFill>
          <a:ln/>
        </p:spPr>
        <p:txBody>
          <a:bodyPr/>
          <a:lstStyle/>
          <a:p>
            <a:endParaRPr lang="en-US"/>
          </a:p>
        </p:txBody>
      </p:sp>
      <p:sp>
        <p:nvSpPr>
          <p:cNvPr id="22" name="Text 20"/>
          <p:cNvSpPr/>
          <p:nvPr/>
        </p:nvSpPr>
        <p:spPr>
          <a:xfrm>
            <a:off x="3782060" y="4465718"/>
            <a:ext cx="62893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0.8520</a:t>
            </a:r>
            <a:endParaRPr lang="en-US" sz="1200" dirty="0"/>
          </a:p>
        </p:txBody>
      </p:sp>
      <p:sp>
        <p:nvSpPr>
          <p:cNvPr id="23" name="Text 21"/>
          <p:cNvSpPr/>
          <p:nvPr/>
        </p:nvSpPr>
        <p:spPr>
          <a:xfrm>
            <a:off x="1000760" y="4761471"/>
            <a:ext cx="5502277" cy="227092"/>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54606C"/>
                </a:solidFill>
                <a:latin typeface="DM Sans" pitchFamily="34" charset="0"/>
                <a:ea typeface="DM Sans" pitchFamily="34" charset="-122"/>
                <a:cs typeface="DM Sans" pitchFamily="34" charset="-120"/>
              </a:rPr>
              <a:t>Bars on a 0–1 scale (500 px = 1.0). Gain = change in PR-AUC.</a:t>
            </a:r>
            <a:endParaRPr lang="en-US" sz="1159" dirty="0"/>
          </a:p>
        </p:txBody>
      </p:sp>
      <p:sp>
        <p:nvSpPr>
          <p:cNvPr id="24" name="Shape 22"/>
          <p:cNvSpPr/>
          <p:nvPr/>
        </p:nvSpPr>
        <p:spPr>
          <a:xfrm>
            <a:off x="6740287" y="1649729"/>
            <a:ext cx="4632563" cy="2146300"/>
          </a:xfrm>
          <a:prstGeom prst="roundRect">
            <a:avLst>
              <a:gd name="adj" fmla="val 5621"/>
            </a:avLst>
          </a:prstGeom>
          <a:solidFill>
            <a:srgbClr val="FBF9F5"/>
          </a:solidFill>
          <a:ln w="12700">
            <a:solidFill>
              <a:srgbClr val="DAD4C8"/>
            </a:solidFill>
            <a:prstDash val="solid"/>
          </a:ln>
        </p:spPr>
        <p:txBody>
          <a:bodyPr/>
          <a:lstStyle/>
          <a:p>
            <a:endParaRPr lang="en-US"/>
          </a:p>
        </p:txBody>
      </p:sp>
      <p:sp>
        <p:nvSpPr>
          <p:cNvPr id="25" name="Text 23"/>
          <p:cNvSpPr/>
          <p:nvPr/>
        </p:nvSpPr>
        <p:spPr>
          <a:xfrm>
            <a:off x="6921897" y="1805942"/>
            <a:ext cx="439742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BEST CONFIGURATION ON VALIDATION</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932057" y="2105660"/>
          <a:ext cx="4259183" cy="1534160"/>
        </p:xfrm>
        <a:graphic>
          <a:graphicData uri="http://schemas.openxmlformats.org/drawingml/2006/table">
            <a:tbl>
              <a:tblPr/>
              <a:tblGrid>
                <a:gridCol w="1788857">
                  <a:extLst>
                    <a:ext uri="{9D8B030D-6E8A-4147-A177-3AD203B41FA5}">
                      <a16:colId xmlns:a16="http://schemas.microsoft.com/office/drawing/2014/main" val="20000"/>
                    </a:ext>
                  </a:extLst>
                </a:gridCol>
                <a:gridCol w="2470326">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Model</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Best configuration</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Logistic Regression</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C=10, no class weight</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SVM (RBF)</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C=10, gamma=0.02</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54356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Decision Tree</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max_depth=12, min_samples_leaf=100</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7" name="Shape 24"/>
          <p:cNvSpPr/>
          <p:nvPr/>
        </p:nvSpPr>
        <p:spPr>
          <a:xfrm>
            <a:off x="6733937" y="3929379"/>
            <a:ext cx="4645263" cy="1056640"/>
          </a:xfrm>
          <a:prstGeom prst="roundRect">
            <a:avLst>
              <a:gd name="adj" fmla="val 12019"/>
            </a:avLst>
          </a:prstGeom>
          <a:solidFill>
            <a:srgbClr val="10202E"/>
          </a:solidFill>
          <a:ln/>
        </p:spPr>
        <p:txBody>
          <a:bodyPr/>
          <a:lstStyle/>
          <a:p>
            <a:endParaRPr lang="en-US"/>
          </a:p>
        </p:txBody>
      </p:sp>
      <p:sp>
        <p:nvSpPr>
          <p:cNvPr id="28" name="Text 25"/>
          <p:cNvSpPr/>
          <p:nvPr/>
        </p:nvSpPr>
        <p:spPr>
          <a:xfrm>
            <a:off x="6911737" y="4081779"/>
            <a:ext cx="441835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REMEMBER</a:t>
            </a:r>
            <a:endParaRPr lang="en-US" sz="1200" dirty="0"/>
          </a:p>
        </p:txBody>
      </p:sp>
      <p:sp>
        <p:nvSpPr>
          <p:cNvPr id="29" name="Text 26"/>
          <p:cNvSpPr/>
          <p:nvPr/>
        </p:nvSpPr>
        <p:spPr>
          <a:xfrm>
            <a:off x="6911737" y="4345942"/>
            <a:ext cx="4418353" cy="513080"/>
          </a:xfrm>
          <a:prstGeom prst="rect">
            <a:avLst/>
          </a:prstGeom>
          <a:noFill/>
          <a:ln/>
        </p:spPr>
        <p:txBody>
          <a:bodyPr wrap="square" lIns="0" tIns="0" rIns="0" bIns="0" rtlCol="0" anchor="t">
            <a:normAutofit/>
          </a:bodyPr>
          <a:lstStyle/>
          <a:p>
            <a:pPr marL="0" indent="0" algn="l">
              <a:lnSpc>
                <a:spcPts val="1920"/>
              </a:lnSpc>
              <a:buNone/>
            </a:pPr>
            <a:r>
              <a:rPr lang="en-US" sz="1600" i="1" dirty="0">
                <a:solidFill>
                  <a:srgbClr val="F5F2EC"/>
                </a:solidFill>
                <a:latin typeface="DM Sans" pitchFamily="34" charset="0"/>
                <a:ea typeface="DM Sans" pitchFamily="34" charset="-122"/>
                <a:cs typeface="DM Sans" pitchFamily="34" charset="-120"/>
              </a:rPr>
              <a:t>More features are not automatically better. We test their contribution.</a:t>
            </a:r>
            <a:endParaRPr lang="en-US" sz="1600" dirty="0"/>
          </a:p>
        </p:txBody>
      </p:sp>
      <p:sp>
        <p:nvSpPr>
          <p:cNvPr id="30" name="Shape 27"/>
          <p:cNvSpPr/>
          <p:nvPr/>
        </p:nvSpPr>
        <p:spPr>
          <a:xfrm>
            <a:off x="831850" y="5328921"/>
            <a:ext cx="0" cy="513080"/>
          </a:xfrm>
          <a:prstGeom prst="line">
            <a:avLst/>
          </a:prstGeom>
          <a:noFill/>
          <a:ln w="38100">
            <a:solidFill>
              <a:srgbClr val="1D6A96"/>
            </a:solidFill>
            <a:prstDash val="solid"/>
          </a:ln>
        </p:spPr>
        <p:txBody>
          <a:bodyPr/>
          <a:lstStyle/>
          <a:p>
            <a:endParaRPr lang="en-US"/>
          </a:p>
        </p:txBody>
      </p:sp>
      <p:sp>
        <p:nvSpPr>
          <p:cNvPr id="31" name="Text 28"/>
          <p:cNvSpPr/>
          <p:nvPr/>
        </p:nvSpPr>
        <p:spPr>
          <a:xfrm>
            <a:off x="1000760" y="5354321"/>
            <a:ext cx="10689793"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D6A96"/>
                </a:solidFill>
                <a:latin typeface="DM Sans" pitchFamily="34" charset="0"/>
                <a:ea typeface="DM Sans" pitchFamily="34" charset="-122"/>
                <a:cs typeface="DM Sans" pitchFamily="34" charset="-120"/>
              </a:rPr>
              <a:t>Takeaway:</a:t>
            </a:r>
            <a:r>
              <a:rPr lang="en-US" sz="1400" dirty="0">
                <a:solidFill>
                  <a:srgbClr val="10202E"/>
                </a:solidFill>
                <a:latin typeface="DM Sans" pitchFamily="34" charset="0"/>
                <a:ea typeface="DM Sans" pitchFamily="34" charset="-122"/>
                <a:cs typeface="DM Sans" pitchFamily="34" charset="-120"/>
              </a:rPr>
              <a:t> Behavioral features raised PR-AUC for all three models (+0.007 to +0.018). Class weight “balanced” did not help (LR 0.8897 vs 0.9073).</a:t>
            </a:r>
            <a:endParaRPr lang="en-US" sz="1400" dirty="0"/>
          </a:p>
        </p:txBody>
      </p:sp>
      <p:sp>
        <p:nvSpPr>
          <p:cNvPr id="32" name="Text 29"/>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§5.2–5.3</a:t>
            </a:r>
            <a:endParaRPr lang="en-US" sz="1200" dirty="0"/>
          </a:p>
        </p:txBody>
      </p:sp>
      <p:sp>
        <p:nvSpPr>
          <p:cNvPr id="33" name="Text 30"/>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(11) </a:t>
            </a:r>
            <a:r>
              <a:rPr lang="en-US" sz="1200" dirty="0">
                <a:solidFill>
                  <a:srgbClr val="54606C"/>
                </a:solidFill>
                <a:latin typeface="DM Sans" pitchFamily="34" charset="0"/>
                <a:ea typeface="DM Sans" pitchFamily="34" charset="-122"/>
                <a:cs typeface="DM Sans" pitchFamily="34" charset="-120"/>
              </a:rPr>
              <a:t>Next → Which tuned model earns a place in the final test?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 · VALIDATION &amp; MODEL SELECTION</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Which Model Deserves to Enter the Final Test?</a:t>
            </a:r>
            <a:endParaRPr lang="en-US" sz="2600" dirty="0"/>
          </a:p>
        </p:txBody>
      </p:sp>
      <p:sp>
        <p:nvSpPr>
          <p:cNvPr id="4" name="Shape 2"/>
          <p:cNvSpPr/>
          <p:nvPr/>
        </p:nvSpPr>
        <p:spPr>
          <a:xfrm>
            <a:off x="819150" y="1649729"/>
            <a:ext cx="7073900" cy="3726180"/>
          </a:xfrm>
          <a:prstGeom prst="roundRect">
            <a:avLst>
              <a:gd name="adj" fmla="val 3238"/>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00760" y="1831342"/>
            <a:ext cx="691200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VALIDATION PR-AUC · TUNED MODELS AND BASELINES</a:t>
            </a:r>
            <a:endParaRPr lang="en-US" sz="1200" dirty="0"/>
          </a:p>
        </p:txBody>
      </p:sp>
      <p:sp>
        <p:nvSpPr>
          <p:cNvPr id="6" name="Text 4"/>
          <p:cNvSpPr/>
          <p:nvPr/>
        </p:nvSpPr>
        <p:spPr>
          <a:xfrm>
            <a:off x="1000760" y="2148842"/>
            <a:ext cx="16383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202E"/>
                </a:solidFill>
                <a:latin typeface="DM Sans" pitchFamily="34" charset="0"/>
                <a:ea typeface="DM Sans" pitchFamily="34" charset="-122"/>
                <a:cs typeface="DM Sans" pitchFamily="34" charset="-120"/>
              </a:rPr>
              <a:t>SVM (RBF)</a:t>
            </a:r>
            <a:endParaRPr lang="en-US" sz="1400" dirty="0"/>
          </a:p>
        </p:txBody>
      </p:sp>
      <p:sp>
        <p:nvSpPr>
          <p:cNvPr id="7" name="Shape 5"/>
          <p:cNvSpPr/>
          <p:nvPr/>
        </p:nvSpPr>
        <p:spPr>
          <a:xfrm>
            <a:off x="2689860" y="2146300"/>
            <a:ext cx="3778250" cy="254000"/>
          </a:xfrm>
          <a:prstGeom prst="roundRect">
            <a:avLst>
              <a:gd name="adj" fmla="val 15000"/>
            </a:avLst>
          </a:prstGeom>
          <a:solidFill>
            <a:srgbClr val="1D6A96"/>
          </a:solidFill>
          <a:ln/>
        </p:spPr>
        <p:txBody>
          <a:bodyPr/>
          <a:lstStyle/>
          <a:p>
            <a:endParaRPr lang="en-US"/>
          </a:p>
        </p:txBody>
      </p:sp>
      <p:sp>
        <p:nvSpPr>
          <p:cNvPr id="8" name="Text 6"/>
          <p:cNvSpPr/>
          <p:nvPr/>
        </p:nvSpPr>
        <p:spPr>
          <a:xfrm>
            <a:off x="6569710" y="2148842"/>
            <a:ext cx="70713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0202E"/>
                </a:solidFill>
                <a:latin typeface="DM Sans" pitchFamily="34" charset="0"/>
                <a:ea typeface="DM Sans" pitchFamily="34" charset="-122"/>
                <a:cs typeface="DM Sans" pitchFamily="34" charset="-120"/>
              </a:rPr>
              <a:t>0.9235</a:t>
            </a:r>
            <a:endParaRPr lang="en-US" sz="1400" dirty="0"/>
          </a:p>
        </p:txBody>
      </p:sp>
      <p:sp>
        <p:nvSpPr>
          <p:cNvPr id="9" name="Text 7"/>
          <p:cNvSpPr/>
          <p:nvPr/>
        </p:nvSpPr>
        <p:spPr>
          <a:xfrm>
            <a:off x="1000760" y="2504442"/>
            <a:ext cx="1638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0202E"/>
                </a:solidFill>
                <a:latin typeface="DM Sans" pitchFamily="34" charset="0"/>
                <a:ea typeface="DM Sans" pitchFamily="34" charset="-122"/>
                <a:cs typeface="DM Sans" pitchFamily="34" charset="-120"/>
              </a:rPr>
              <a:t>Logistic</a:t>
            </a:r>
            <a:endParaRPr lang="en-US" sz="1400" dirty="0"/>
          </a:p>
        </p:txBody>
      </p:sp>
      <p:sp>
        <p:nvSpPr>
          <p:cNvPr id="10" name="Shape 8"/>
          <p:cNvSpPr/>
          <p:nvPr/>
        </p:nvSpPr>
        <p:spPr>
          <a:xfrm>
            <a:off x="2689860" y="2501900"/>
            <a:ext cx="3721100" cy="254000"/>
          </a:xfrm>
          <a:prstGeom prst="roundRect">
            <a:avLst>
              <a:gd name="adj" fmla="val 15000"/>
            </a:avLst>
          </a:prstGeom>
          <a:solidFill>
            <a:srgbClr val="1D6A96">
              <a:alpha val="60000"/>
            </a:srgbClr>
          </a:solidFill>
          <a:ln/>
        </p:spPr>
        <p:txBody>
          <a:bodyPr/>
          <a:lstStyle/>
          <a:p>
            <a:endParaRPr lang="en-US"/>
          </a:p>
        </p:txBody>
      </p:sp>
      <p:sp>
        <p:nvSpPr>
          <p:cNvPr id="11" name="Text 9"/>
          <p:cNvSpPr/>
          <p:nvPr/>
        </p:nvSpPr>
        <p:spPr>
          <a:xfrm>
            <a:off x="6512560" y="2504442"/>
            <a:ext cx="68475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0202E"/>
                </a:solidFill>
                <a:latin typeface="DM Sans" pitchFamily="34" charset="0"/>
                <a:ea typeface="DM Sans" pitchFamily="34" charset="-122"/>
                <a:cs typeface="DM Sans" pitchFamily="34" charset="-120"/>
              </a:rPr>
              <a:t>0.9073</a:t>
            </a:r>
            <a:endParaRPr lang="en-US" sz="1400" dirty="0"/>
          </a:p>
        </p:txBody>
      </p:sp>
      <p:sp>
        <p:nvSpPr>
          <p:cNvPr id="12" name="Text 10"/>
          <p:cNvSpPr/>
          <p:nvPr/>
        </p:nvSpPr>
        <p:spPr>
          <a:xfrm>
            <a:off x="1000760" y="2860042"/>
            <a:ext cx="1638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0202E"/>
                </a:solidFill>
                <a:latin typeface="DM Sans" pitchFamily="34" charset="0"/>
                <a:ea typeface="DM Sans" pitchFamily="34" charset="-122"/>
                <a:cs typeface="DM Sans" pitchFamily="34" charset="-120"/>
              </a:rPr>
              <a:t>Decision Tree</a:t>
            </a:r>
            <a:endParaRPr lang="en-US" sz="1400" dirty="0"/>
          </a:p>
        </p:txBody>
      </p:sp>
      <p:sp>
        <p:nvSpPr>
          <p:cNvPr id="13" name="Shape 11"/>
          <p:cNvSpPr/>
          <p:nvPr/>
        </p:nvSpPr>
        <p:spPr>
          <a:xfrm>
            <a:off x="2689860" y="2857500"/>
            <a:ext cx="3568700" cy="254000"/>
          </a:xfrm>
          <a:prstGeom prst="roundRect">
            <a:avLst>
              <a:gd name="adj" fmla="val 15000"/>
            </a:avLst>
          </a:prstGeom>
          <a:solidFill>
            <a:srgbClr val="1D6A96">
              <a:alpha val="60000"/>
            </a:srgbClr>
          </a:solidFill>
          <a:ln/>
        </p:spPr>
        <p:txBody>
          <a:bodyPr/>
          <a:lstStyle/>
          <a:p>
            <a:endParaRPr lang="en-US"/>
          </a:p>
        </p:txBody>
      </p:sp>
      <p:sp>
        <p:nvSpPr>
          <p:cNvPr id="14" name="Text 12"/>
          <p:cNvSpPr/>
          <p:nvPr/>
        </p:nvSpPr>
        <p:spPr>
          <a:xfrm>
            <a:off x="6360160" y="2860042"/>
            <a:ext cx="5517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0202E"/>
                </a:solidFill>
                <a:latin typeface="DM Sans" pitchFamily="34" charset="0"/>
                <a:ea typeface="DM Sans" pitchFamily="34" charset="-122"/>
                <a:cs typeface="DM Sans" pitchFamily="34" charset="-120"/>
              </a:rPr>
              <a:t>0.8711</a:t>
            </a:r>
            <a:endParaRPr lang="en-US" sz="1400" dirty="0"/>
          </a:p>
        </p:txBody>
      </p:sp>
      <p:sp>
        <p:nvSpPr>
          <p:cNvPr id="15" name="Text 13"/>
          <p:cNvSpPr/>
          <p:nvPr/>
        </p:nvSpPr>
        <p:spPr>
          <a:xfrm>
            <a:off x="1000760" y="3215642"/>
            <a:ext cx="1638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Price rule</a:t>
            </a:r>
            <a:endParaRPr lang="en-US" sz="1400" dirty="0"/>
          </a:p>
        </p:txBody>
      </p:sp>
      <p:sp>
        <p:nvSpPr>
          <p:cNvPr id="16" name="Shape 14"/>
          <p:cNvSpPr/>
          <p:nvPr/>
        </p:nvSpPr>
        <p:spPr>
          <a:xfrm>
            <a:off x="2689860" y="3213100"/>
            <a:ext cx="2889250" cy="254000"/>
          </a:xfrm>
          <a:prstGeom prst="roundRect">
            <a:avLst>
              <a:gd name="adj" fmla="val 15000"/>
            </a:avLst>
          </a:prstGeom>
          <a:solidFill>
            <a:srgbClr val="8B95A0"/>
          </a:solidFill>
          <a:ln/>
        </p:spPr>
        <p:txBody>
          <a:bodyPr/>
          <a:lstStyle/>
          <a:p>
            <a:endParaRPr lang="en-US"/>
          </a:p>
        </p:txBody>
      </p:sp>
      <p:sp>
        <p:nvSpPr>
          <p:cNvPr id="17" name="Text 15"/>
          <p:cNvSpPr/>
          <p:nvPr/>
        </p:nvSpPr>
        <p:spPr>
          <a:xfrm>
            <a:off x="5680710" y="3215642"/>
            <a:ext cx="68980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0.7054</a:t>
            </a:r>
            <a:endParaRPr lang="en-US" sz="1400" dirty="0"/>
          </a:p>
        </p:txBody>
      </p:sp>
      <p:sp>
        <p:nvSpPr>
          <p:cNvPr id="18" name="Text 16"/>
          <p:cNvSpPr/>
          <p:nvPr/>
        </p:nvSpPr>
        <p:spPr>
          <a:xfrm>
            <a:off x="1000760" y="3571242"/>
            <a:ext cx="16383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Category rule</a:t>
            </a:r>
            <a:endParaRPr lang="en-US" sz="1400" dirty="0"/>
          </a:p>
        </p:txBody>
      </p:sp>
      <p:sp>
        <p:nvSpPr>
          <p:cNvPr id="19" name="Shape 17"/>
          <p:cNvSpPr/>
          <p:nvPr/>
        </p:nvSpPr>
        <p:spPr>
          <a:xfrm>
            <a:off x="2689860" y="3568700"/>
            <a:ext cx="1885950" cy="254000"/>
          </a:xfrm>
          <a:prstGeom prst="roundRect">
            <a:avLst>
              <a:gd name="adj" fmla="val 15000"/>
            </a:avLst>
          </a:prstGeom>
          <a:solidFill>
            <a:srgbClr val="8B95A0"/>
          </a:solidFill>
          <a:ln/>
        </p:spPr>
        <p:txBody>
          <a:bodyPr/>
          <a:lstStyle/>
          <a:p>
            <a:endParaRPr lang="en-US"/>
          </a:p>
        </p:txBody>
      </p:sp>
      <p:sp>
        <p:nvSpPr>
          <p:cNvPr id="20" name="Text 18"/>
          <p:cNvSpPr/>
          <p:nvPr/>
        </p:nvSpPr>
        <p:spPr>
          <a:xfrm>
            <a:off x="4677410" y="3571242"/>
            <a:ext cx="718661"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4606C"/>
                </a:solidFill>
                <a:latin typeface="DM Sans" pitchFamily="34" charset="0"/>
                <a:ea typeface="DM Sans" pitchFamily="34" charset="-122"/>
                <a:cs typeface="DM Sans" pitchFamily="34" charset="-120"/>
              </a:rPr>
              <a:t>0.4604</a:t>
            </a:r>
            <a:endParaRPr lang="en-US" sz="1400" dirty="0"/>
          </a:p>
        </p:txBody>
      </p:sp>
      <p:sp>
        <p:nvSpPr>
          <p:cNvPr id="21" name="Text 19"/>
          <p:cNvSpPr/>
          <p:nvPr/>
        </p:nvSpPr>
        <p:spPr>
          <a:xfrm>
            <a:off x="1000760" y="3924300"/>
            <a:ext cx="6912001"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22" name="Shape 20"/>
          <p:cNvSpPr/>
          <p:nvPr/>
        </p:nvSpPr>
        <p:spPr>
          <a:xfrm>
            <a:off x="8204200" y="1643379"/>
            <a:ext cx="3175000" cy="1526540"/>
          </a:xfrm>
          <a:prstGeom prst="roundRect">
            <a:avLst>
              <a:gd name="adj" fmla="val 8319"/>
            </a:avLst>
          </a:prstGeom>
          <a:solidFill>
            <a:srgbClr val="10202E"/>
          </a:solidFill>
          <a:ln/>
        </p:spPr>
        <p:txBody>
          <a:bodyPr/>
          <a:lstStyle/>
          <a:p>
            <a:endParaRPr lang="en-US"/>
          </a:p>
        </p:txBody>
      </p:sp>
      <p:sp>
        <p:nvSpPr>
          <p:cNvPr id="23" name="Text 21"/>
          <p:cNvSpPr/>
          <p:nvPr/>
        </p:nvSpPr>
        <p:spPr>
          <a:xfrm>
            <a:off x="8382000" y="1821179"/>
            <a:ext cx="29039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SELECTED MODEL</a:t>
            </a:r>
            <a:endParaRPr lang="en-US" sz="1200" dirty="0"/>
          </a:p>
        </p:txBody>
      </p:sp>
      <p:sp>
        <p:nvSpPr>
          <p:cNvPr id="24" name="Text 22"/>
          <p:cNvSpPr/>
          <p:nvPr/>
        </p:nvSpPr>
        <p:spPr>
          <a:xfrm>
            <a:off x="8382000" y="2085342"/>
            <a:ext cx="2903982"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5F2EC"/>
                </a:solidFill>
                <a:latin typeface="DM Sans" pitchFamily="34" charset="0"/>
                <a:ea typeface="DM Sans" pitchFamily="34" charset="-122"/>
                <a:cs typeface="DM Sans" pitchFamily="34" charset="-120"/>
              </a:rPr>
              <a:t>SVM (RBF)</a:t>
            </a:r>
            <a:endParaRPr lang="en-US" sz="2200" dirty="0"/>
          </a:p>
        </p:txBody>
      </p:sp>
      <p:sp>
        <p:nvSpPr>
          <p:cNvPr id="25" name="Text 23"/>
          <p:cNvSpPr/>
          <p:nvPr/>
        </p:nvSpPr>
        <p:spPr>
          <a:xfrm>
            <a:off x="8382000" y="2443479"/>
            <a:ext cx="290398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6FC1EA"/>
                </a:solidFill>
                <a:latin typeface="DM Sans" pitchFamily="34" charset="0"/>
                <a:ea typeface="DM Sans" pitchFamily="34" charset="-122"/>
                <a:cs typeface="DM Sans" pitchFamily="34" charset="-120"/>
              </a:rPr>
              <a:t>0.9235 PR-AUC</a:t>
            </a:r>
            <a:endParaRPr lang="en-US" sz="1600" dirty="0"/>
          </a:p>
        </p:txBody>
      </p:sp>
      <p:sp>
        <p:nvSpPr>
          <p:cNvPr id="26" name="Text 24"/>
          <p:cNvSpPr/>
          <p:nvPr/>
        </p:nvSpPr>
        <p:spPr>
          <a:xfrm>
            <a:off x="8382000" y="2778764"/>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Chosen on Validation, not Test.</a:t>
            </a:r>
            <a:endParaRPr lang="en-US" sz="1200" dirty="0"/>
          </a:p>
        </p:txBody>
      </p:sp>
      <p:sp>
        <p:nvSpPr>
          <p:cNvPr id="27" name="Text 25"/>
          <p:cNvSpPr/>
          <p:nvPr/>
        </p:nvSpPr>
        <p:spPr>
          <a:xfrm>
            <a:off x="8210550" y="3303271"/>
            <a:ext cx="3162300" cy="1120140"/>
          </a:xfrm>
          <a:prstGeom prst="roundRect">
            <a:avLst>
              <a:gd name="adj" fmla="val 8503"/>
            </a:avLst>
          </a:prstGeom>
          <a:solidFill>
            <a:srgbClr val="FBF9F5"/>
          </a:solidFill>
          <a:ln w="12700">
            <a:solidFill>
              <a:srgbClr val="DAD4C8"/>
            </a:solidFill>
            <a:prstDash val="solid"/>
          </a:ln>
        </p:spPr>
        <p:txBody>
          <a:bodyPr wrap="square" lIns="128312" tIns="102912" rIns="42816" bIns="77512" rtlCol="0" anchor="t">
            <a:normAutofit/>
          </a:bodyPr>
          <a:lstStyle/>
          <a:p>
            <a:pPr marL="0" indent="0" algn="l">
              <a:lnSpc>
                <a:spcPts val="1690"/>
              </a:lnSpc>
              <a:buNone/>
            </a:pPr>
            <a:r>
              <a:rPr lang="en-US" sz="1300" b="1" dirty="0">
                <a:solidFill>
                  <a:srgbClr val="10202E"/>
                </a:solidFill>
                <a:latin typeface="DM Sans" pitchFamily="34" charset="0"/>
                <a:ea typeface="DM Sans" pitchFamily="34" charset="-122"/>
                <a:cs typeface="DM Sans" pitchFamily="34" charset="-120"/>
              </a:rPr>
              <a:t>Why PR-AUC?</a:t>
            </a:r>
            <a:r>
              <a:rPr lang="en-US" sz="1300" dirty="0">
                <a:solidFill>
                  <a:srgbClr val="10202E"/>
                </a:solidFill>
                <a:latin typeface="DM Sans" pitchFamily="34" charset="0"/>
                <a:ea typeface="DM Sans" pitchFamily="34" charset="-122"/>
                <a:cs typeface="DM Sans" pitchFamily="34" charset="-120"/>
              </a:rPr>
              <a:t> With 1% fraud, it focuses on the rare class. Thresholds are tuned separately for F1 and for cost.</a:t>
            </a:r>
            <a:endParaRPr lang="en-US" sz="1300" dirty="0"/>
          </a:p>
        </p:txBody>
      </p:sp>
      <p:sp>
        <p:nvSpPr>
          <p:cNvPr id="28" name="Shape 26"/>
          <p:cNvSpPr/>
          <p:nvPr/>
        </p:nvSpPr>
        <p:spPr>
          <a:xfrm>
            <a:off x="8223250" y="4556764"/>
            <a:ext cx="0" cy="513080"/>
          </a:xfrm>
          <a:prstGeom prst="line">
            <a:avLst/>
          </a:prstGeom>
          <a:noFill/>
          <a:ln w="38100">
            <a:solidFill>
              <a:srgbClr val="1D6A96"/>
            </a:solidFill>
            <a:prstDash val="solid"/>
          </a:ln>
        </p:spPr>
        <p:txBody>
          <a:bodyPr/>
          <a:lstStyle/>
          <a:p>
            <a:endParaRPr lang="en-US"/>
          </a:p>
        </p:txBody>
      </p:sp>
      <p:sp>
        <p:nvSpPr>
          <p:cNvPr id="29" name="Text 27"/>
          <p:cNvSpPr/>
          <p:nvPr/>
        </p:nvSpPr>
        <p:spPr>
          <a:xfrm>
            <a:off x="8392160" y="4582164"/>
            <a:ext cx="3076651" cy="487680"/>
          </a:xfrm>
          <a:prstGeom prst="rect">
            <a:avLst/>
          </a:prstGeom>
          <a:noFill/>
          <a:ln/>
        </p:spPr>
        <p:txBody>
          <a:bodyPr wrap="square" lIns="0" tIns="0" rIns="0" bIns="0" rtlCol="0" anchor="t">
            <a:normAutofit/>
          </a:bodyPr>
          <a:lstStyle/>
          <a:p>
            <a:pPr marL="0" indent="0" algn="l">
              <a:lnSpc>
                <a:spcPts val="1820"/>
              </a:lnSpc>
              <a:buNone/>
            </a:pPr>
            <a:r>
              <a:rPr lang="en-US" sz="1400" i="1" dirty="0">
                <a:solidFill>
                  <a:srgbClr val="10202E"/>
                </a:solidFill>
                <a:latin typeface="DM Sans" pitchFamily="34" charset="0"/>
                <a:ea typeface="DM Sans" pitchFamily="34" charset="-122"/>
                <a:cs typeface="DM Sans" pitchFamily="34" charset="-120"/>
              </a:rPr>
              <a:t>Selection happens on Validation. Confirmation happens on Test.</a:t>
            </a:r>
            <a:endParaRPr lang="en-US" sz="1400" dirty="0"/>
          </a:p>
        </p:txBody>
      </p:sp>
      <p:sp>
        <p:nvSpPr>
          <p:cNvPr id="30" name="Shape 28"/>
          <p:cNvSpPr/>
          <p:nvPr/>
        </p:nvSpPr>
        <p:spPr>
          <a:xfrm>
            <a:off x="831850" y="5560064"/>
            <a:ext cx="0" cy="281940"/>
          </a:xfrm>
          <a:prstGeom prst="line">
            <a:avLst/>
          </a:prstGeom>
          <a:noFill/>
          <a:ln w="38100">
            <a:solidFill>
              <a:srgbClr val="C2410C"/>
            </a:solidFill>
            <a:prstDash val="solid"/>
          </a:ln>
        </p:spPr>
        <p:txBody>
          <a:bodyPr/>
          <a:lstStyle/>
          <a:p>
            <a:endParaRPr lang="en-US"/>
          </a:p>
        </p:txBody>
      </p:sp>
      <p:sp>
        <p:nvSpPr>
          <p:cNvPr id="31" name="Text 29"/>
          <p:cNvSpPr/>
          <p:nvPr/>
        </p:nvSpPr>
        <p:spPr>
          <a:xfrm>
            <a:off x="1000760" y="5585464"/>
            <a:ext cx="10689793"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C2410C"/>
                </a:solidFill>
                <a:latin typeface="DM Sans" pitchFamily="34" charset="0"/>
                <a:ea typeface="DM Sans" pitchFamily="34" charset="-122"/>
                <a:cs typeface="DM Sans" pitchFamily="34" charset="-120"/>
              </a:rPr>
              <a:t>Takeaway:</a:t>
            </a:r>
            <a:r>
              <a:rPr lang="en-US" sz="1400" dirty="0">
                <a:solidFill>
                  <a:srgbClr val="10202E"/>
                </a:solidFill>
                <a:latin typeface="DM Sans" pitchFamily="34" charset="0"/>
                <a:ea typeface="DM Sans" pitchFamily="34" charset="-122"/>
                <a:cs typeface="DM Sans" pitchFamily="34" charset="-120"/>
              </a:rPr>
              <a:t> Validation scores are optimistic because tuning used them. Only Test is honest.</a:t>
            </a:r>
            <a:endParaRPr lang="en-US" sz="1400" dirty="0"/>
          </a:p>
        </p:txBody>
      </p:sp>
      <p:sp>
        <p:nvSpPr>
          <p:cNvPr id="32" name="Text 30"/>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§5.3–5.4</a:t>
            </a:r>
            <a:endParaRPr lang="en-US" sz="1200" dirty="0"/>
          </a:p>
        </p:txBody>
      </p:sp>
      <p:sp>
        <p:nvSpPr>
          <p:cNvPr id="33" name="Text 31"/>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(12) </a:t>
            </a:r>
            <a:r>
              <a:rPr lang="en-US" sz="1200" dirty="0">
                <a:solidFill>
                  <a:srgbClr val="54606C"/>
                </a:solidFill>
                <a:latin typeface="DM Sans" pitchFamily="34" charset="0"/>
                <a:ea typeface="DM Sans" pitchFamily="34" charset="-122"/>
                <a:cs typeface="DM Sans" pitchFamily="34" charset="-120"/>
              </a:rPr>
              <a:t>Next → What is the model really learning?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 · INTERPRETABILITY &amp; ABLATION</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What Is the Model Really Learning?</a:t>
            </a:r>
            <a:endParaRPr lang="en-US" sz="2600" dirty="0"/>
          </a:p>
        </p:txBody>
      </p:sp>
      <p:sp>
        <p:nvSpPr>
          <p:cNvPr id="4" name="Shape 2"/>
          <p:cNvSpPr/>
          <p:nvPr/>
        </p:nvSpPr>
        <p:spPr>
          <a:xfrm>
            <a:off x="819150" y="1624329"/>
            <a:ext cx="5168900" cy="3540760"/>
          </a:xfrm>
          <a:prstGeom prst="roundRect">
            <a:avLst>
              <a:gd name="adj" fmla="val 3407"/>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00760" y="1780542"/>
            <a:ext cx="494985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INTERPRETABILITY · DECISION TREE IMPORTANCE (§6.2)</a:t>
            </a:r>
            <a:endParaRPr lang="en-US" sz="1200" dirty="0"/>
          </a:p>
        </p:txBody>
      </p:sp>
      <p:sp>
        <p:nvSpPr>
          <p:cNvPr id="6" name="Text 4"/>
          <p:cNvSpPr/>
          <p:nvPr/>
        </p:nvSpPr>
        <p:spPr>
          <a:xfrm>
            <a:off x="1000760" y="2057400"/>
            <a:ext cx="18967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log_amount</a:t>
            </a:r>
            <a:endParaRPr lang="en-US" sz="1200" dirty="0"/>
          </a:p>
        </p:txBody>
      </p:sp>
      <p:sp>
        <p:nvSpPr>
          <p:cNvPr id="7" name="Shape 5"/>
          <p:cNvSpPr/>
          <p:nvPr/>
        </p:nvSpPr>
        <p:spPr>
          <a:xfrm>
            <a:off x="2918460" y="2068829"/>
            <a:ext cx="2349500" cy="190500"/>
          </a:xfrm>
          <a:prstGeom prst="roundRect">
            <a:avLst>
              <a:gd name="adj" fmla="val 13333"/>
            </a:avLst>
          </a:prstGeom>
          <a:solidFill>
            <a:srgbClr val="1D6A96"/>
          </a:solidFill>
          <a:ln/>
        </p:spPr>
        <p:txBody>
          <a:bodyPr/>
          <a:lstStyle/>
          <a:p>
            <a:endParaRPr lang="en-US"/>
          </a:p>
        </p:txBody>
      </p:sp>
      <p:sp>
        <p:nvSpPr>
          <p:cNvPr id="8" name="Text 6"/>
          <p:cNvSpPr/>
          <p:nvPr/>
        </p:nvSpPr>
        <p:spPr>
          <a:xfrm>
            <a:off x="5344160" y="2057400"/>
            <a:ext cx="46948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≈0.74</a:t>
            </a:r>
            <a:endParaRPr lang="en-US" sz="1200" dirty="0"/>
          </a:p>
        </p:txBody>
      </p:sp>
      <p:sp>
        <p:nvSpPr>
          <p:cNvPr id="9" name="Text 7"/>
          <p:cNvSpPr/>
          <p:nvPr/>
        </p:nvSpPr>
        <p:spPr>
          <a:xfrm>
            <a:off x="1000760" y="2334264"/>
            <a:ext cx="18967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merchant_M980657600</a:t>
            </a:r>
            <a:endParaRPr lang="en-US" sz="1200" dirty="0"/>
          </a:p>
        </p:txBody>
      </p:sp>
      <p:sp>
        <p:nvSpPr>
          <p:cNvPr id="10" name="Shape 8"/>
          <p:cNvSpPr/>
          <p:nvPr/>
        </p:nvSpPr>
        <p:spPr>
          <a:xfrm>
            <a:off x="2918460" y="2345692"/>
            <a:ext cx="228600" cy="190500"/>
          </a:xfrm>
          <a:prstGeom prst="roundRect">
            <a:avLst>
              <a:gd name="adj" fmla="val 13333"/>
            </a:avLst>
          </a:prstGeom>
          <a:solidFill>
            <a:srgbClr val="1D6A96"/>
          </a:solidFill>
          <a:ln/>
        </p:spPr>
        <p:txBody>
          <a:bodyPr/>
          <a:lstStyle/>
          <a:p>
            <a:endParaRPr lang="en-US"/>
          </a:p>
        </p:txBody>
      </p:sp>
      <p:sp>
        <p:nvSpPr>
          <p:cNvPr id="11" name="Text 9"/>
          <p:cNvSpPr/>
          <p:nvPr/>
        </p:nvSpPr>
        <p:spPr>
          <a:xfrm>
            <a:off x="3223260" y="2334264"/>
            <a:ext cx="48634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≈0.07</a:t>
            </a:r>
            <a:endParaRPr lang="en-US" sz="1200" dirty="0"/>
          </a:p>
        </p:txBody>
      </p:sp>
      <p:sp>
        <p:nvSpPr>
          <p:cNvPr id="12" name="Text 10"/>
          <p:cNvSpPr/>
          <p:nvPr/>
        </p:nvSpPr>
        <p:spPr>
          <a:xfrm>
            <a:off x="1000760" y="2611121"/>
            <a:ext cx="18967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amt_z_in_category</a:t>
            </a:r>
            <a:endParaRPr lang="en-US" sz="1200" dirty="0"/>
          </a:p>
        </p:txBody>
      </p:sp>
      <p:sp>
        <p:nvSpPr>
          <p:cNvPr id="13" name="Shape 11"/>
          <p:cNvSpPr/>
          <p:nvPr/>
        </p:nvSpPr>
        <p:spPr>
          <a:xfrm>
            <a:off x="2918460" y="2622550"/>
            <a:ext cx="127000" cy="190500"/>
          </a:xfrm>
          <a:prstGeom prst="roundRect">
            <a:avLst>
              <a:gd name="adj" fmla="val 20000"/>
            </a:avLst>
          </a:prstGeom>
          <a:solidFill>
            <a:srgbClr val="1D6A96"/>
          </a:solidFill>
          <a:ln/>
        </p:spPr>
        <p:txBody>
          <a:bodyPr/>
          <a:lstStyle/>
          <a:p>
            <a:endParaRPr lang="en-US"/>
          </a:p>
        </p:txBody>
      </p:sp>
      <p:sp>
        <p:nvSpPr>
          <p:cNvPr id="14" name="Text 12"/>
          <p:cNvSpPr/>
          <p:nvPr/>
        </p:nvSpPr>
        <p:spPr>
          <a:xfrm>
            <a:off x="3121660" y="2611121"/>
            <a:ext cx="5082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≈0.04</a:t>
            </a:r>
            <a:endParaRPr lang="en-US" sz="1200" dirty="0"/>
          </a:p>
        </p:txBody>
      </p:sp>
      <p:sp>
        <p:nvSpPr>
          <p:cNvPr id="15" name="Text 13"/>
          <p:cNvSpPr/>
          <p:nvPr/>
        </p:nvSpPr>
        <p:spPr>
          <a:xfrm>
            <a:off x="1000760" y="2887979"/>
            <a:ext cx="18967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log_amt_to_cust_mean</a:t>
            </a:r>
            <a:endParaRPr lang="en-US" sz="1200" dirty="0"/>
          </a:p>
        </p:txBody>
      </p:sp>
      <p:sp>
        <p:nvSpPr>
          <p:cNvPr id="16" name="Shape 14"/>
          <p:cNvSpPr/>
          <p:nvPr/>
        </p:nvSpPr>
        <p:spPr>
          <a:xfrm>
            <a:off x="2918460" y="2899414"/>
            <a:ext cx="114300" cy="190500"/>
          </a:xfrm>
          <a:prstGeom prst="roundRect">
            <a:avLst>
              <a:gd name="adj" fmla="val 22222"/>
            </a:avLst>
          </a:prstGeom>
          <a:solidFill>
            <a:srgbClr val="1D6A96"/>
          </a:solidFill>
          <a:ln/>
        </p:spPr>
        <p:txBody>
          <a:bodyPr/>
          <a:lstStyle/>
          <a:p>
            <a:endParaRPr lang="en-US"/>
          </a:p>
        </p:txBody>
      </p:sp>
      <p:sp>
        <p:nvSpPr>
          <p:cNvPr id="17" name="Text 15"/>
          <p:cNvSpPr/>
          <p:nvPr/>
        </p:nvSpPr>
        <p:spPr>
          <a:xfrm>
            <a:off x="3108960" y="2887979"/>
            <a:ext cx="50825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≈0.04</a:t>
            </a:r>
            <a:endParaRPr lang="en-US" sz="1200" dirty="0"/>
          </a:p>
        </p:txBody>
      </p:sp>
      <p:sp>
        <p:nvSpPr>
          <p:cNvPr id="18" name="Text 16"/>
          <p:cNvSpPr/>
          <p:nvPr/>
        </p:nvSpPr>
        <p:spPr>
          <a:xfrm>
            <a:off x="1000760" y="3164842"/>
            <a:ext cx="1917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merchant_M1053599405</a:t>
            </a:r>
            <a:endParaRPr lang="en-US" sz="1200" dirty="0"/>
          </a:p>
        </p:txBody>
      </p:sp>
      <p:sp>
        <p:nvSpPr>
          <p:cNvPr id="19" name="Shape 17"/>
          <p:cNvSpPr/>
          <p:nvPr/>
        </p:nvSpPr>
        <p:spPr>
          <a:xfrm>
            <a:off x="2918460" y="3176271"/>
            <a:ext cx="107950" cy="190500"/>
          </a:xfrm>
          <a:prstGeom prst="roundRect">
            <a:avLst>
              <a:gd name="adj" fmla="val 23529"/>
            </a:avLst>
          </a:prstGeom>
          <a:solidFill>
            <a:srgbClr val="1D6A96"/>
          </a:solidFill>
          <a:ln/>
        </p:spPr>
        <p:txBody>
          <a:bodyPr/>
          <a:lstStyle/>
          <a:p>
            <a:endParaRPr lang="en-US"/>
          </a:p>
        </p:txBody>
      </p:sp>
      <p:sp>
        <p:nvSpPr>
          <p:cNvPr id="20" name="Text 18"/>
          <p:cNvSpPr/>
          <p:nvPr/>
        </p:nvSpPr>
        <p:spPr>
          <a:xfrm>
            <a:off x="3102610" y="3164842"/>
            <a:ext cx="49968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≈0.03</a:t>
            </a:r>
            <a:endParaRPr lang="en-US" sz="1200" dirty="0"/>
          </a:p>
        </p:txBody>
      </p:sp>
      <p:sp>
        <p:nvSpPr>
          <p:cNvPr id="21" name="Text 19"/>
          <p:cNvSpPr/>
          <p:nvPr/>
        </p:nvSpPr>
        <p:spPr>
          <a:xfrm>
            <a:off x="1000760" y="3441700"/>
            <a:ext cx="494985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4606C"/>
                </a:solidFill>
                <a:latin typeface="DM Sans" pitchFamily="34" charset="0"/>
                <a:ea typeface="DM Sans" pitchFamily="34" charset="-122"/>
                <a:cs typeface="DM Sans" pitchFamily="34" charset="-120"/>
              </a:rPr>
              <a:t>Values read from the saved chart. The SVM is a black box (1,748 support vectors); this tree is not an explanation of the SVM.</a:t>
            </a:r>
            <a:endParaRPr lang="en-US" sz="1200" dirty="0"/>
          </a:p>
        </p:txBody>
      </p:sp>
      <p:sp>
        <p:nvSpPr>
          <p:cNvPr id="22" name="Shape 20"/>
          <p:cNvSpPr/>
          <p:nvPr/>
        </p:nvSpPr>
        <p:spPr>
          <a:xfrm>
            <a:off x="6203950" y="1624329"/>
            <a:ext cx="5168900" cy="3540760"/>
          </a:xfrm>
          <a:prstGeom prst="roundRect">
            <a:avLst>
              <a:gd name="adj" fmla="val 3407"/>
            </a:avLst>
          </a:prstGeom>
          <a:solidFill>
            <a:srgbClr val="FBF9F5"/>
          </a:solidFill>
          <a:ln w="12700">
            <a:solidFill>
              <a:srgbClr val="DAD4C8"/>
            </a:solidFill>
            <a:prstDash val="solid"/>
          </a:ln>
        </p:spPr>
        <p:txBody>
          <a:bodyPr/>
          <a:lstStyle/>
          <a:p>
            <a:endParaRPr lang="en-US"/>
          </a:p>
        </p:txBody>
      </p:sp>
      <p:sp>
        <p:nvSpPr>
          <p:cNvPr id="23" name="Text 21"/>
          <p:cNvSpPr/>
          <p:nvPr/>
        </p:nvSpPr>
        <p:spPr>
          <a:xfrm>
            <a:off x="6385560" y="1780542"/>
            <a:ext cx="494985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ABLATION · CHANGE IN VALIDATION PR-AUC (§6.3)</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395720" y="2067560"/>
          <a:ext cx="4795519" cy="1320800"/>
        </p:xfrm>
        <a:graphic>
          <a:graphicData uri="http://schemas.openxmlformats.org/drawingml/2006/table">
            <a:tbl>
              <a:tblPr/>
              <a:tblGrid>
                <a:gridCol w="1630477">
                  <a:extLst>
                    <a:ext uri="{9D8B030D-6E8A-4147-A177-3AD203B41FA5}">
                      <a16:colId xmlns:a16="http://schemas.microsoft.com/office/drawing/2014/main" val="20000"/>
                    </a:ext>
                  </a:extLst>
                </a:gridCol>
                <a:gridCol w="1055014">
                  <a:extLst>
                    <a:ext uri="{9D8B030D-6E8A-4147-A177-3AD203B41FA5}">
                      <a16:colId xmlns:a16="http://schemas.microsoft.com/office/drawing/2014/main" val="20001"/>
                    </a:ext>
                  </a:extLst>
                </a:gridCol>
                <a:gridCol w="1055014">
                  <a:extLst>
                    <a:ext uri="{9D8B030D-6E8A-4147-A177-3AD203B41FA5}">
                      <a16:colId xmlns:a16="http://schemas.microsoft.com/office/drawing/2014/main" val="20002"/>
                    </a:ext>
                  </a:extLst>
                </a:gridCol>
                <a:gridCol w="1055014">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Remove…</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SVM</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LR</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Tree</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Merchant</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−0.0544</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−0.0756</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−0.0393</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Behavioral</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−0.0172</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−0.0178</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+0.0013</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Age &amp; gender</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+0.0000</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+0.0049</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+0.0006</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Text 22"/>
          <p:cNvSpPr/>
          <p:nvPr/>
        </p:nvSpPr>
        <p:spPr>
          <a:xfrm>
            <a:off x="6385560" y="3451864"/>
            <a:ext cx="4949850"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4606C"/>
                </a:solidFill>
                <a:latin typeface="DM Sans" pitchFamily="34" charset="0"/>
                <a:ea typeface="DM Sans" pitchFamily="34" charset="-122"/>
                <a:cs typeface="DM Sans" pitchFamily="34" charset="-120"/>
              </a:rPr>
              <a:t>SVM full model 0.9235 → 0.8691 without merchant. Age and gender add nothing, so they can be dropped.</a:t>
            </a:r>
            <a:endParaRPr lang="en-US" sz="1200" dirty="0"/>
          </a:p>
        </p:txBody>
      </p:sp>
      <p:sp>
        <p:nvSpPr>
          <p:cNvPr id="26" name="Text 23"/>
          <p:cNvSpPr/>
          <p:nvPr/>
        </p:nvSpPr>
        <p:spPr>
          <a:xfrm>
            <a:off x="812800" y="5323842"/>
            <a:ext cx="5716643" cy="543560"/>
          </a:xfrm>
          <a:prstGeom prst="rect">
            <a:avLst/>
          </a:prstGeom>
          <a:noFill/>
          <a:ln/>
        </p:spPr>
        <p:txBody>
          <a:bodyPr wrap="square" lIns="0" tIns="0" rIns="0" bIns="0" rtlCol="0" anchor="t">
            <a:normAutofit/>
          </a:bodyPr>
          <a:lstStyle/>
          <a:p>
            <a:pPr marL="0" indent="0" algn="l">
              <a:lnSpc>
                <a:spcPts val="2040"/>
              </a:lnSpc>
              <a:buNone/>
            </a:pPr>
            <a:r>
              <a:rPr lang="en-US" sz="1700" i="1" dirty="0">
                <a:solidFill>
                  <a:srgbClr val="10202E"/>
                </a:solidFill>
                <a:latin typeface="DM Sans" pitchFamily="34" charset="0"/>
                <a:ea typeface="DM Sans" pitchFamily="34" charset="-122"/>
                <a:cs typeface="DM Sans" pitchFamily="34" charset="-120"/>
              </a:rPr>
              <a:t>Does the model understand behavior — or depend too heavily on merchant identity?</a:t>
            </a:r>
            <a:endParaRPr lang="en-US" sz="1700" dirty="0"/>
          </a:p>
        </p:txBody>
      </p:sp>
      <p:sp>
        <p:nvSpPr>
          <p:cNvPr id="27" name="Shape 24"/>
          <p:cNvSpPr/>
          <p:nvPr/>
        </p:nvSpPr>
        <p:spPr>
          <a:xfrm>
            <a:off x="6585188" y="5342892"/>
            <a:ext cx="0" cy="480060"/>
          </a:xfrm>
          <a:prstGeom prst="line">
            <a:avLst/>
          </a:prstGeom>
          <a:noFill/>
          <a:ln w="38100">
            <a:solidFill>
              <a:srgbClr val="C2410C"/>
            </a:solidFill>
            <a:prstDash val="solid"/>
          </a:ln>
        </p:spPr>
        <p:txBody>
          <a:bodyPr/>
          <a:lstStyle/>
          <a:p>
            <a:endParaRPr lang="en-US"/>
          </a:p>
        </p:txBody>
      </p:sp>
      <p:sp>
        <p:nvSpPr>
          <p:cNvPr id="28" name="Text 25"/>
          <p:cNvSpPr/>
          <p:nvPr/>
        </p:nvSpPr>
        <p:spPr>
          <a:xfrm>
            <a:off x="6754099" y="5368292"/>
            <a:ext cx="4763855"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C2410C"/>
                </a:solidFill>
                <a:latin typeface="DM Sans" pitchFamily="34" charset="0"/>
                <a:ea typeface="DM Sans" pitchFamily="34" charset="-122"/>
                <a:cs typeface="DM Sans" pitchFamily="34" charset="-120"/>
              </a:rPr>
              <a:t>Takeaway:</a:t>
            </a:r>
            <a:r>
              <a:rPr lang="en-US" sz="1300" dirty="0">
                <a:solidFill>
                  <a:srgbClr val="10202E"/>
                </a:solidFill>
                <a:latin typeface="DM Sans" pitchFamily="34" charset="0"/>
                <a:ea typeface="DM Sans" pitchFamily="34" charset="-122"/>
                <a:cs typeface="DM Sans" pitchFamily="34" charset="-120"/>
              </a:rPr>
              <a:t> Merchant is the biggest dependency, but behavior adds real value too.</a:t>
            </a:r>
            <a:endParaRPr lang="en-US" sz="1300" dirty="0"/>
          </a:p>
        </p:txBody>
      </p:sp>
      <p:sp>
        <p:nvSpPr>
          <p:cNvPr id="29" name="Text 26"/>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§6.2–6.3 (Validation)</a:t>
            </a:r>
            <a:endParaRPr lang="en-US" sz="1200" dirty="0"/>
          </a:p>
        </p:txBody>
      </p:sp>
      <p:sp>
        <p:nvSpPr>
          <p:cNvPr id="30" name="Text 27"/>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(13) </a:t>
            </a:r>
            <a:r>
              <a:rPr lang="en-US" sz="1200" dirty="0">
                <a:solidFill>
                  <a:srgbClr val="54606C"/>
                </a:solidFill>
                <a:latin typeface="DM Sans" pitchFamily="34" charset="0"/>
                <a:ea typeface="DM Sans" pitchFamily="34" charset="-122"/>
                <a:cs typeface="DM Sans" pitchFamily="34" charset="-120"/>
              </a:rPr>
              <a:t>Next → Lock everything, then open Test once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PART II · FREEZING THE MODEL</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F5F2EC"/>
                </a:solidFill>
                <a:latin typeface="DM Sans" pitchFamily="34" charset="0"/>
                <a:ea typeface="DM Sans" pitchFamily="34" charset="-122"/>
                <a:cs typeface="DM Sans" pitchFamily="34" charset="-120"/>
              </a:rPr>
              <a:t>One Final Test. No Second Chances.</a:t>
            </a:r>
            <a:endParaRPr lang="en-US" sz="2600" dirty="0"/>
          </a:p>
        </p:txBody>
      </p:sp>
      <p:sp>
        <p:nvSpPr>
          <p:cNvPr id="4" name="Shape 2"/>
          <p:cNvSpPr/>
          <p:nvPr/>
        </p:nvSpPr>
        <p:spPr>
          <a:xfrm>
            <a:off x="812800" y="1643379"/>
            <a:ext cx="2241550" cy="858520"/>
          </a:xfrm>
          <a:prstGeom prst="roundRect">
            <a:avLst>
              <a:gd name="adj" fmla="val 11834"/>
            </a:avLst>
          </a:prstGeom>
          <a:solidFill>
            <a:srgbClr val="1B3147"/>
          </a:solidFill>
          <a:ln/>
        </p:spPr>
        <p:txBody>
          <a:bodyPr/>
          <a:lstStyle/>
          <a:p>
            <a:endParaRPr lang="en-US"/>
          </a:p>
        </p:txBody>
      </p:sp>
      <p:sp>
        <p:nvSpPr>
          <p:cNvPr id="5" name="Text 3"/>
          <p:cNvSpPr/>
          <p:nvPr/>
        </p:nvSpPr>
        <p:spPr>
          <a:xfrm>
            <a:off x="965200" y="1795779"/>
            <a:ext cx="19948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C1EA"/>
                </a:solidFill>
                <a:latin typeface="DM Sans" pitchFamily="34" charset="0"/>
                <a:ea typeface="DM Sans" pitchFamily="34" charset="-122"/>
                <a:cs typeface="DM Sans" pitchFamily="34" charset="-120"/>
              </a:rPr>
              <a:t>STEP 1</a:t>
            </a:r>
            <a:endParaRPr lang="en-US" sz="1200" dirty="0"/>
          </a:p>
        </p:txBody>
      </p:sp>
      <p:sp>
        <p:nvSpPr>
          <p:cNvPr id="6" name="Text 4"/>
          <p:cNvSpPr/>
          <p:nvPr/>
        </p:nvSpPr>
        <p:spPr>
          <a:xfrm>
            <a:off x="965200" y="2047242"/>
            <a:ext cx="1994852"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5F2EC"/>
                </a:solidFill>
                <a:latin typeface="DM Sans" pitchFamily="34" charset="0"/>
                <a:ea typeface="DM Sans" pitchFamily="34" charset="-122"/>
                <a:cs typeface="DM Sans" pitchFamily="34" charset="-120"/>
              </a:rPr>
              <a:t>Select features</a:t>
            </a:r>
            <a:endParaRPr lang="en-US" sz="1700" dirty="0"/>
          </a:p>
        </p:txBody>
      </p:sp>
      <p:pic>
        <p:nvPicPr>
          <p:cNvPr id="7" name="Image 0" descr="arrow-right"/>
          <p:cNvPicPr>
            <a:picLocks noChangeAspect="1"/>
          </p:cNvPicPr>
          <p:nvPr/>
        </p:nvPicPr>
        <p:blipFill>
          <a:blip r:embed="rId3"/>
          <a:srcRect/>
          <a:stretch/>
        </p:blipFill>
        <p:spPr>
          <a:xfrm>
            <a:off x="3181350" y="1983742"/>
            <a:ext cx="279400" cy="177800"/>
          </a:xfrm>
          <a:prstGeom prst="rect">
            <a:avLst/>
          </a:prstGeom>
        </p:spPr>
      </p:pic>
      <p:sp>
        <p:nvSpPr>
          <p:cNvPr id="8" name="Shape 5"/>
          <p:cNvSpPr/>
          <p:nvPr/>
        </p:nvSpPr>
        <p:spPr>
          <a:xfrm>
            <a:off x="3587750" y="1643379"/>
            <a:ext cx="2241550" cy="858520"/>
          </a:xfrm>
          <a:prstGeom prst="roundRect">
            <a:avLst>
              <a:gd name="adj" fmla="val 11834"/>
            </a:avLst>
          </a:prstGeom>
          <a:solidFill>
            <a:srgbClr val="1B3147"/>
          </a:solidFill>
          <a:ln/>
        </p:spPr>
        <p:txBody>
          <a:bodyPr/>
          <a:lstStyle/>
          <a:p>
            <a:endParaRPr lang="en-US"/>
          </a:p>
        </p:txBody>
      </p:sp>
      <p:sp>
        <p:nvSpPr>
          <p:cNvPr id="9" name="Text 6"/>
          <p:cNvSpPr/>
          <p:nvPr/>
        </p:nvSpPr>
        <p:spPr>
          <a:xfrm>
            <a:off x="3740150" y="1795779"/>
            <a:ext cx="19948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C1EA"/>
                </a:solidFill>
                <a:latin typeface="DM Sans" pitchFamily="34" charset="0"/>
                <a:ea typeface="DM Sans" pitchFamily="34" charset="-122"/>
                <a:cs typeface="DM Sans" pitchFamily="34" charset="-120"/>
              </a:rPr>
              <a:t>STEP 2</a:t>
            </a:r>
            <a:endParaRPr lang="en-US" sz="1200" dirty="0"/>
          </a:p>
        </p:txBody>
      </p:sp>
      <p:sp>
        <p:nvSpPr>
          <p:cNvPr id="10" name="Text 7"/>
          <p:cNvSpPr/>
          <p:nvPr/>
        </p:nvSpPr>
        <p:spPr>
          <a:xfrm>
            <a:off x="3740150" y="2047242"/>
            <a:ext cx="1994852"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5F2EC"/>
                </a:solidFill>
                <a:latin typeface="DM Sans" pitchFamily="34" charset="0"/>
                <a:ea typeface="DM Sans" pitchFamily="34" charset="-122"/>
                <a:cs typeface="DM Sans" pitchFamily="34" charset="-120"/>
              </a:rPr>
              <a:t>Tune on Val</a:t>
            </a:r>
            <a:endParaRPr lang="en-US" sz="1700" dirty="0"/>
          </a:p>
        </p:txBody>
      </p:sp>
      <p:pic>
        <p:nvPicPr>
          <p:cNvPr id="11" name="Image 1" descr="arrow-right"/>
          <p:cNvPicPr>
            <a:picLocks noChangeAspect="1"/>
          </p:cNvPicPr>
          <p:nvPr/>
        </p:nvPicPr>
        <p:blipFill>
          <a:blip r:embed="rId3"/>
          <a:srcRect/>
          <a:stretch/>
        </p:blipFill>
        <p:spPr>
          <a:xfrm>
            <a:off x="5956300" y="1983742"/>
            <a:ext cx="279400" cy="177800"/>
          </a:xfrm>
          <a:prstGeom prst="rect">
            <a:avLst/>
          </a:prstGeom>
        </p:spPr>
      </p:pic>
      <p:sp>
        <p:nvSpPr>
          <p:cNvPr id="12" name="Shape 8"/>
          <p:cNvSpPr/>
          <p:nvPr/>
        </p:nvSpPr>
        <p:spPr>
          <a:xfrm>
            <a:off x="6362700" y="1643379"/>
            <a:ext cx="2241550" cy="858520"/>
          </a:xfrm>
          <a:prstGeom prst="roundRect">
            <a:avLst>
              <a:gd name="adj" fmla="val 11834"/>
            </a:avLst>
          </a:prstGeom>
          <a:solidFill>
            <a:srgbClr val="1B3147"/>
          </a:solidFill>
          <a:ln/>
        </p:spPr>
        <p:txBody>
          <a:bodyPr/>
          <a:lstStyle/>
          <a:p>
            <a:endParaRPr lang="en-US"/>
          </a:p>
        </p:txBody>
      </p:sp>
      <p:sp>
        <p:nvSpPr>
          <p:cNvPr id="13" name="Text 9"/>
          <p:cNvSpPr/>
          <p:nvPr/>
        </p:nvSpPr>
        <p:spPr>
          <a:xfrm>
            <a:off x="6515100" y="1795779"/>
            <a:ext cx="19948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FC1EA"/>
                </a:solidFill>
                <a:latin typeface="DM Sans" pitchFamily="34" charset="0"/>
                <a:ea typeface="DM Sans" pitchFamily="34" charset="-122"/>
                <a:cs typeface="DM Sans" pitchFamily="34" charset="-120"/>
              </a:rPr>
              <a:t>STEP 3</a:t>
            </a:r>
            <a:endParaRPr lang="en-US" sz="1200" dirty="0"/>
          </a:p>
        </p:txBody>
      </p:sp>
      <p:sp>
        <p:nvSpPr>
          <p:cNvPr id="14" name="Text 10"/>
          <p:cNvSpPr/>
          <p:nvPr/>
        </p:nvSpPr>
        <p:spPr>
          <a:xfrm>
            <a:off x="6515100" y="2047242"/>
            <a:ext cx="1994852"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5F2EC"/>
                </a:solidFill>
                <a:latin typeface="DM Sans" pitchFamily="34" charset="0"/>
                <a:ea typeface="DM Sans" pitchFamily="34" charset="-122"/>
                <a:cs typeface="DM Sans" pitchFamily="34" charset="-120"/>
              </a:rPr>
              <a:t>Freeze model</a:t>
            </a:r>
            <a:endParaRPr lang="en-US" sz="1700" dirty="0"/>
          </a:p>
        </p:txBody>
      </p:sp>
      <p:pic>
        <p:nvPicPr>
          <p:cNvPr id="15" name="Image 2" descr="arrow-right"/>
          <p:cNvPicPr>
            <a:picLocks noChangeAspect="1"/>
          </p:cNvPicPr>
          <p:nvPr/>
        </p:nvPicPr>
        <p:blipFill>
          <a:blip r:embed="rId4"/>
          <a:srcRect/>
          <a:stretch/>
        </p:blipFill>
        <p:spPr>
          <a:xfrm>
            <a:off x="8731250" y="1983742"/>
            <a:ext cx="279400" cy="177800"/>
          </a:xfrm>
          <a:prstGeom prst="rect">
            <a:avLst/>
          </a:prstGeom>
        </p:spPr>
      </p:pic>
      <p:sp>
        <p:nvSpPr>
          <p:cNvPr id="16" name="Shape 11"/>
          <p:cNvSpPr/>
          <p:nvPr/>
        </p:nvSpPr>
        <p:spPr>
          <a:xfrm>
            <a:off x="9137650" y="1643379"/>
            <a:ext cx="2241550" cy="858520"/>
          </a:xfrm>
          <a:prstGeom prst="roundRect">
            <a:avLst>
              <a:gd name="adj" fmla="val 11834"/>
            </a:avLst>
          </a:prstGeom>
          <a:solidFill>
            <a:srgbClr val="C2410C"/>
          </a:solidFill>
          <a:ln/>
        </p:spPr>
        <p:txBody>
          <a:bodyPr/>
          <a:lstStyle/>
          <a:p>
            <a:endParaRPr lang="en-US"/>
          </a:p>
        </p:txBody>
      </p:sp>
      <p:sp>
        <p:nvSpPr>
          <p:cNvPr id="17" name="Text 12"/>
          <p:cNvSpPr/>
          <p:nvPr/>
        </p:nvSpPr>
        <p:spPr>
          <a:xfrm>
            <a:off x="9290050" y="1795779"/>
            <a:ext cx="19948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2EC"/>
                </a:solidFill>
                <a:latin typeface="DM Sans" pitchFamily="34" charset="0"/>
                <a:ea typeface="DM Sans" pitchFamily="34" charset="-122"/>
                <a:cs typeface="DM Sans" pitchFamily="34" charset="-120"/>
              </a:rPr>
              <a:t>STEP 4 · ONCE</a:t>
            </a:r>
            <a:endParaRPr lang="en-US" sz="1200" dirty="0"/>
          </a:p>
        </p:txBody>
      </p:sp>
      <p:sp>
        <p:nvSpPr>
          <p:cNvPr id="18" name="Text 13"/>
          <p:cNvSpPr/>
          <p:nvPr/>
        </p:nvSpPr>
        <p:spPr>
          <a:xfrm>
            <a:off x="9290050" y="2047242"/>
            <a:ext cx="1994852"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F5F2EC"/>
                </a:solidFill>
                <a:latin typeface="DM Sans" pitchFamily="34" charset="0"/>
                <a:ea typeface="DM Sans" pitchFamily="34" charset="-122"/>
                <a:cs typeface="DM Sans" pitchFamily="34" charset="-120"/>
              </a:rPr>
              <a:t>Open Test</a:t>
            </a:r>
            <a:endParaRPr lang="en-US" sz="1700" dirty="0"/>
          </a:p>
        </p:txBody>
      </p:sp>
      <p:sp>
        <p:nvSpPr>
          <p:cNvPr id="19" name="Shape 14"/>
          <p:cNvSpPr/>
          <p:nvPr/>
        </p:nvSpPr>
        <p:spPr>
          <a:xfrm>
            <a:off x="812800" y="2679700"/>
            <a:ext cx="6007100" cy="2471420"/>
          </a:xfrm>
          <a:prstGeom prst="roundRect">
            <a:avLst>
              <a:gd name="adj" fmla="val 5139"/>
            </a:avLst>
          </a:prstGeom>
          <a:solidFill>
            <a:srgbClr val="1B3147"/>
          </a:solidFill>
          <a:ln/>
        </p:spPr>
        <p:txBody>
          <a:bodyPr/>
          <a:lstStyle/>
          <a:p>
            <a:endParaRPr lang="en-US"/>
          </a:p>
        </p:txBody>
      </p:sp>
      <p:sp>
        <p:nvSpPr>
          <p:cNvPr id="20" name="Text 15"/>
          <p:cNvSpPr/>
          <p:nvPr/>
        </p:nvSpPr>
        <p:spPr>
          <a:xfrm>
            <a:off x="1016000" y="2857500"/>
            <a:ext cx="576872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FROZEN DECISIONS</a:t>
            </a:r>
            <a:endParaRPr lang="en-US" sz="1200" dirty="0"/>
          </a:p>
        </p:txBody>
      </p:sp>
      <p:sp>
        <p:nvSpPr>
          <p:cNvPr id="21" name="Text 16"/>
          <p:cNvSpPr/>
          <p:nvPr/>
        </p:nvSpPr>
        <p:spPr>
          <a:xfrm>
            <a:off x="1016000" y="3147064"/>
            <a:ext cx="576872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5F2EC"/>
                </a:solidFill>
                <a:latin typeface="DM Sans" pitchFamily="34" charset="0"/>
                <a:ea typeface="DM Sans" pitchFamily="34" charset="-122"/>
                <a:cs typeface="DM Sans" pitchFamily="34" charset="-120"/>
              </a:rPr>
              <a:t>Feature set:</a:t>
            </a:r>
            <a:r>
              <a:rPr lang="en-US" sz="1400" dirty="0">
                <a:solidFill>
                  <a:srgbClr val="F5F2EC"/>
                </a:solidFill>
                <a:latin typeface="DM Sans" pitchFamily="34" charset="0"/>
                <a:ea typeface="DM Sans" pitchFamily="34" charset="-122"/>
                <a:cs typeface="DM Sans" pitchFamily="34" charset="-120"/>
              </a:rPr>
              <a:t> 8 numeric + 4 categorical</a:t>
            </a:r>
            <a:endParaRPr lang="en-US" sz="1400" dirty="0"/>
          </a:p>
        </p:txBody>
      </p:sp>
      <p:sp>
        <p:nvSpPr>
          <p:cNvPr id="22" name="Text 17"/>
          <p:cNvSpPr/>
          <p:nvPr/>
        </p:nvSpPr>
        <p:spPr>
          <a:xfrm>
            <a:off x="1016000" y="3454400"/>
            <a:ext cx="576872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5F2EC"/>
                </a:solidFill>
                <a:latin typeface="DM Sans" pitchFamily="34" charset="0"/>
                <a:ea typeface="DM Sans" pitchFamily="34" charset="-122"/>
                <a:cs typeface="DM Sans" pitchFamily="34" charset="-120"/>
              </a:rPr>
              <a:t>Hyperparameters:</a:t>
            </a:r>
            <a:r>
              <a:rPr lang="en-US" sz="1400" dirty="0">
                <a:solidFill>
                  <a:srgbClr val="F5F2EC"/>
                </a:solidFill>
                <a:latin typeface="DM Sans" pitchFamily="34" charset="0"/>
                <a:ea typeface="DM Sans" pitchFamily="34" charset="-122"/>
                <a:cs typeface="DM Sans" pitchFamily="34" charset="-120"/>
              </a:rPr>
              <a:t> SVM C=10, gamma=0.02</a:t>
            </a:r>
            <a:endParaRPr lang="en-US" sz="1400" dirty="0"/>
          </a:p>
        </p:txBody>
      </p:sp>
      <p:sp>
        <p:nvSpPr>
          <p:cNvPr id="23" name="Text 18"/>
          <p:cNvSpPr/>
          <p:nvPr/>
        </p:nvSpPr>
        <p:spPr>
          <a:xfrm>
            <a:off x="1016000" y="3761742"/>
            <a:ext cx="576872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5F2EC"/>
                </a:solidFill>
                <a:latin typeface="DM Sans" pitchFamily="34" charset="0"/>
                <a:ea typeface="DM Sans" pitchFamily="34" charset="-122"/>
                <a:cs typeface="DM Sans" pitchFamily="34" charset="-120"/>
              </a:rPr>
              <a:t>Model selection:</a:t>
            </a:r>
            <a:r>
              <a:rPr lang="en-US" sz="1400" dirty="0">
                <a:solidFill>
                  <a:srgbClr val="F5F2EC"/>
                </a:solidFill>
                <a:latin typeface="DM Sans" pitchFamily="34" charset="0"/>
                <a:ea typeface="DM Sans" pitchFamily="34" charset="-122"/>
                <a:cs typeface="DM Sans" pitchFamily="34" charset="-120"/>
              </a:rPr>
              <a:t> SVM (RBF), by Val PR-AUC</a:t>
            </a:r>
            <a:endParaRPr lang="en-US" sz="1400" dirty="0"/>
          </a:p>
        </p:txBody>
      </p:sp>
      <p:sp>
        <p:nvSpPr>
          <p:cNvPr id="24" name="Text 19"/>
          <p:cNvSpPr/>
          <p:nvPr/>
        </p:nvSpPr>
        <p:spPr>
          <a:xfrm>
            <a:off x="1016000" y="4069079"/>
            <a:ext cx="5768721"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5F2EC"/>
                </a:solidFill>
                <a:latin typeface="DM Sans" pitchFamily="34" charset="0"/>
                <a:ea typeface="DM Sans" pitchFamily="34" charset="-122"/>
                <a:cs typeface="DM Sans" pitchFamily="34" charset="-120"/>
              </a:rPr>
              <a:t>Thresholds:</a:t>
            </a:r>
            <a:r>
              <a:rPr lang="en-US" sz="1400" dirty="0">
                <a:solidFill>
                  <a:srgbClr val="F5F2EC"/>
                </a:solidFill>
                <a:latin typeface="DM Sans" pitchFamily="34" charset="0"/>
                <a:ea typeface="DM Sans" pitchFamily="34" charset="-122"/>
                <a:cs typeface="DM Sans" pitchFamily="34" charset="-120"/>
              </a:rPr>
              <a:t> F1-optimal and cost-optimal, both set on Validation</a:t>
            </a:r>
            <a:endParaRPr lang="en-US" sz="1400" dirty="0"/>
          </a:p>
        </p:txBody>
      </p:sp>
      <p:sp>
        <p:nvSpPr>
          <p:cNvPr id="25" name="Shape 20"/>
          <p:cNvSpPr/>
          <p:nvPr/>
        </p:nvSpPr>
        <p:spPr>
          <a:xfrm>
            <a:off x="6972300" y="2679700"/>
            <a:ext cx="4406900" cy="2471420"/>
          </a:xfrm>
          <a:prstGeom prst="roundRect">
            <a:avLst>
              <a:gd name="adj" fmla="val 5139"/>
            </a:avLst>
          </a:prstGeom>
          <a:solidFill>
            <a:srgbClr val="1B3147"/>
          </a:solidFill>
          <a:ln/>
        </p:spPr>
        <p:txBody>
          <a:bodyPr/>
          <a:lstStyle/>
          <a:p>
            <a:endParaRPr lang="en-US"/>
          </a:p>
        </p:txBody>
      </p:sp>
      <p:sp>
        <p:nvSpPr>
          <p:cNvPr id="26" name="Text 21"/>
          <p:cNvSpPr/>
          <p:nvPr/>
        </p:nvSpPr>
        <p:spPr>
          <a:xfrm>
            <a:off x="7175500" y="2857500"/>
            <a:ext cx="412051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TEST SET, OPENED ONCE</a:t>
            </a:r>
            <a:endParaRPr lang="en-US" sz="1200" dirty="0"/>
          </a:p>
        </p:txBody>
      </p:sp>
      <p:sp>
        <p:nvSpPr>
          <p:cNvPr id="27" name="Text 22"/>
          <p:cNvSpPr/>
          <p:nvPr/>
        </p:nvSpPr>
        <p:spPr>
          <a:xfrm>
            <a:off x="7175500" y="3121664"/>
            <a:ext cx="4120515" cy="39878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6FC1EA"/>
                </a:solidFill>
                <a:latin typeface="DM Sans" pitchFamily="34" charset="0"/>
                <a:ea typeface="DM Sans" pitchFamily="34" charset="-122"/>
                <a:cs typeface="DM Sans" pitchFamily="34" charset="-120"/>
              </a:rPr>
              <a:t>111,306</a:t>
            </a:r>
            <a:endParaRPr lang="en-US" sz="2800" dirty="0"/>
          </a:p>
        </p:txBody>
      </p:sp>
      <p:sp>
        <p:nvSpPr>
          <p:cNvPr id="28" name="Text 23"/>
          <p:cNvSpPr/>
          <p:nvPr/>
        </p:nvSpPr>
        <p:spPr>
          <a:xfrm>
            <a:off x="7175500" y="3545842"/>
            <a:ext cx="412051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BBC7"/>
                </a:solidFill>
                <a:latin typeface="DM Sans" pitchFamily="34" charset="0"/>
                <a:ea typeface="DM Sans" pitchFamily="34" charset="-122"/>
                <a:cs typeface="DM Sans" pitchFamily="34" charset="-120"/>
              </a:rPr>
              <a:t>transactions · 1,200 frauds</a:t>
            </a:r>
            <a:endParaRPr lang="en-US" sz="1300" dirty="0"/>
          </a:p>
        </p:txBody>
      </p:sp>
      <p:sp>
        <p:nvSpPr>
          <p:cNvPr id="29" name="Text 24"/>
          <p:cNvSpPr/>
          <p:nvPr/>
        </p:nvSpPr>
        <p:spPr>
          <a:xfrm>
            <a:off x="7175500" y="3827779"/>
            <a:ext cx="4120515" cy="27686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6FC1EA"/>
                </a:solidFill>
                <a:latin typeface="DM Sans" pitchFamily="34" charset="0"/>
                <a:ea typeface="DM Sans" pitchFamily="34" charset="-122"/>
                <a:cs typeface="DM Sans" pitchFamily="34" charset="-120"/>
              </a:rPr>
              <a:t>$601,463</a:t>
            </a:r>
            <a:endParaRPr lang="en-US" sz="1800" dirty="0"/>
          </a:p>
        </p:txBody>
      </p:sp>
      <p:sp>
        <p:nvSpPr>
          <p:cNvPr id="30" name="Text 25"/>
          <p:cNvSpPr/>
          <p:nvPr/>
        </p:nvSpPr>
        <p:spPr>
          <a:xfrm>
            <a:off x="7175500" y="4130042"/>
            <a:ext cx="4120515"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EBBC7"/>
                </a:solidFill>
                <a:latin typeface="DM Sans" pitchFamily="34" charset="0"/>
                <a:ea typeface="DM Sans" pitchFamily="34" charset="-122"/>
                <a:cs typeface="DM Sans" pitchFamily="34" charset="-120"/>
              </a:rPr>
              <a:t>loss if no model is used</a:t>
            </a:r>
            <a:endParaRPr lang="en-US" sz="1300" dirty="0"/>
          </a:p>
        </p:txBody>
      </p:sp>
      <p:sp>
        <p:nvSpPr>
          <p:cNvPr id="31" name="Text 26"/>
          <p:cNvSpPr/>
          <p:nvPr/>
        </p:nvSpPr>
        <p:spPr>
          <a:xfrm>
            <a:off x="812800" y="5433064"/>
            <a:ext cx="5240249"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F5F2EC"/>
                </a:solidFill>
                <a:latin typeface="DM Sans" pitchFamily="34" charset="0"/>
                <a:ea typeface="DM Sans" pitchFamily="34" charset="-122"/>
                <a:cs typeface="DM Sans" pitchFamily="34" charset="-120"/>
              </a:rPr>
              <a:t>“The Test set is a judge, not a teacher.”</a:t>
            </a:r>
            <a:endParaRPr lang="en-US" sz="2000" dirty="0"/>
          </a:p>
        </p:txBody>
      </p:sp>
      <p:sp>
        <p:nvSpPr>
          <p:cNvPr id="32" name="Shape 27"/>
          <p:cNvSpPr/>
          <p:nvPr/>
        </p:nvSpPr>
        <p:spPr>
          <a:xfrm>
            <a:off x="6122670" y="5328921"/>
            <a:ext cx="0" cy="513080"/>
          </a:xfrm>
          <a:prstGeom prst="line">
            <a:avLst/>
          </a:prstGeom>
          <a:noFill/>
          <a:ln w="38100">
            <a:solidFill>
              <a:srgbClr val="FF8A5C"/>
            </a:solidFill>
            <a:prstDash val="solid"/>
          </a:ln>
        </p:spPr>
        <p:txBody>
          <a:bodyPr/>
          <a:lstStyle/>
          <a:p>
            <a:endParaRPr lang="en-US"/>
          </a:p>
        </p:txBody>
      </p:sp>
      <p:sp>
        <p:nvSpPr>
          <p:cNvPr id="33" name="Text 28"/>
          <p:cNvSpPr/>
          <p:nvPr/>
        </p:nvSpPr>
        <p:spPr>
          <a:xfrm>
            <a:off x="6291580" y="5354321"/>
            <a:ext cx="5240249" cy="4876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FF8A5C"/>
                </a:solidFill>
                <a:latin typeface="DM Sans" pitchFamily="34" charset="0"/>
                <a:ea typeface="DM Sans" pitchFamily="34" charset="-122"/>
                <a:cs typeface="DM Sans" pitchFamily="34" charset="-120"/>
              </a:rPr>
              <a:t>Takeaway:</a:t>
            </a:r>
            <a:r>
              <a:rPr lang="en-US" sz="1400" dirty="0">
                <a:solidFill>
                  <a:srgbClr val="F5F2EC"/>
                </a:solidFill>
                <a:latin typeface="DM Sans" pitchFamily="34" charset="0"/>
                <a:ea typeface="DM Sans" pitchFamily="34" charset="-122"/>
                <a:cs typeface="DM Sans" pitchFamily="34" charset="-120"/>
              </a:rPr>
              <a:t> Test reports performance; it never picks the model.</a:t>
            </a:r>
            <a:endParaRPr lang="en-US" sz="1400" dirty="0"/>
          </a:p>
        </p:txBody>
      </p:sp>
      <p:sp>
        <p:nvSpPr>
          <p:cNvPr id="34" name="Text 29"/>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Source: Notebook §7</a:t>
            </a:r>
            <a:endParaRPr lang="en-US" sz="1200" dirty="0"/>
          </a:p>
        </p:txBody>
      </p:sp>
      <p:sp>
        <p:nvSpPr>
          <p:cNvPr id="35" name="Text 30"/>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AEBBC7"/>
                </a:solidFill>
                <a:latin typeface="DM Sans" pitchFamily="34" charset="0"/>
                <a:ea typeface="DM Sans" pitchFamily="34" charset="-122"/>
                <a:cs typeface="DM Sans" pitchFamily="34" charset="-120"/>
              </a:rPr>
              <a:t>(14) </a:t>
            </a:r>
            <a:r>
              <a:rPr lang="en-US" sz="1200" dirty="0">
                <a:solidFill>
                  <a:srgbClr val="AEBBC7"/>
                </a:solidFill>
                <a:latin typeface="DM Sans" pitchFamily="34" charset="0"/>
                <a:ea typeface="DM Sans" pitchFamily="34" charset="-122"/>
                <a:cs typeface="DM Sans" pitchFamily="34" charset="-120"/>
              </a:rPr>
              <a:t>Next → The final verdict on unseen data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III · FINAL TEST PERFORMANCE</a:t>
            </a:r>
            <a:endParaRPr lang="en-US" sz="1200" dirty="0"/>
          </a:p>
        </p:txBody>
      </p:sp>
      <p:sp>
        <p:nvSpPr>
          <p:cNvPr id="3" name="Text 1"/>
          <p:cNvSpPr>
            <a:spLocks noGrp="1"/>
          </p:cNvSpPr>
          <p:nvPr>
            <p:ph type="title"/>
          </p:nvPr>
        </p:nvSpPr>
        <p:spPr>
          <a:xfrm>
            <a:off x="812800" y="1102364"/>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The Final Verdict: Which Model Performs Best?</a:t>
            </a:r>
            <a:endParaRPr lang="en-US" sz="2600" dirty="0"/>
          </a:p>
        </p:txBody>
      </p:sp>
      <p:sp>
        <p:nvSpPr>
          <p:cNvPr id="4" name="Shape 2"/>
          <p:cNvSpPr/>
          <p:nvPr/>
        </p:nvSpPr>
        <p:spPr>
          <a:xfrm>
            <a:off x="819150" y="1649729"/>
            <a:ext cx="7124700" cy="4185920"/>
          </a:xfrm>
          <a:prstGeom prst="roundRect">
            <a:avLst>
              <a:gd name="adj" fmla="val 2882"/>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00760" y="1805942"/>
            <a:ext cx="864584"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TEST SET</a:t>
            </a:r>
            <a:endParaRPr lang="en-US" sz="1200" dirty="0"/>
          </a:p>
        </p:txBody>
      </p:sp>
      <p:sp>
        <p:nvSpPr>
          <p:cNvPr id="6" name="Text 4"/>
          <p:cNvSpPr/>
          <p:nvPr/>
        </p:nvSpPr>
        <p:spPr>
          <a:xfrm>
            <a:off x="1899047" y="1805942"/>
            <a:ext cx="83419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A96"/>
                </a:solidFill>
                <a:latin typeface="DM Sans" pitchFamily="34" charset="0"/>
                <a:ea typeface="DM Sans" pitchFamily="34" charset="-122"/>
                <a:cs typeface="DM Sans" pitchFamily="34" charset="-120"/>
              </a:rPr>
              <a:t>■</a:t>
            </a:r>
            <a:r>
              <a:rPr lang="en-US" sz="1200" dirty="0">
                <a:solidFill>
                  <a:srgbClr val="10202E"/>
                </a:solidFill>
                <a:latin typeface="DM Sans" pitchFamily="34" charset="0"/>
                <a:ea typeface="DM Sans" pitchFamily="34" charset="-122"/>
                <a:cs typeface="DM Sans" pitchFamily="34" charset="-120"/>
              </a:rPr>
              <a:t> PR-AUC</a:t>
            </a:r>
            <a:endParaRPr lang="en-US" sz="1200" dirty="0"/>
          </a:p>
        </p:txBody>
      </p:sp>
      <p:sp>
        <p:nvSpPr>
          <p:cNvPr id="7" name="Text 5"/>
          <p:cNvSpPr/>
          <p:nvPr/>
        </p:nvSpPr>
        <p:spPr>
          <a:xfrm>
            <a:off x="2772013" y="1805942"/>
            <a:ext cx="31403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DM Sans" pitchFamily="34" charset="0"/>
                <a:ea typeface="DM Sans" pitchFamily="34" charset="-122"/>
                <a:cs typeface="DM Sans" pitchFamily="34" charset="-120"/>
              </a:rPr>
              <a:t>■</a:t>
            </a:r>
            <a:r>
              <a:rPr lang="en-US" sz="1200" dirty="0">
                <a:solidFill>
                  <a:srgbClr val="10202E"/>
                </a:solidFill>
                <a:latin typeface="DM Sans" pitchFamily="34" charset="0"/>
                <a:ea typeface="DM Sans" pitchFamily="34" charset="-122"/>
                <a:cs typeface="DM Sans" pitchFamily="34" charset="-120"/>
              </a:rPr>
              <a:t> F1</a:t>
            </a:r>
            <a:endParaRPr lang="en-US" sz="1200" dirty="0"/>
          </a:p>
        </p:txBody>
      </p:sp>
      <p:sp>
        <p:nvSpPr>
          <p:cNvPr id="8" name="Text 6"/>
          <p:cNvSpPr/>
          <p:nvPr/>
        </p:nvSpPr>
        <p:spPr>
          <a:xfrm>
            <a:off x="1000760" y="2205992"/>
            <a:ext cx="1511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202E"/>
                </a:solidFill>
                <a:latin typeface="DM Sans" pitchFamily="34" charset="0"/>
                <a:ea typeface="DM Sans" pitchFamily="34" charset="-122"/>
                <a:cs typeface="DM Sans" pitchFamily="34" charset="-120"/>
              </a:rPr>
              <a:t>SVM (RBF)</a:t>
            </a:r>
            <a:endParaRPr lang="en-US" sz="1300" dirty="0"/>
          </a:p>
        </p:txBody>
      </p:sp>
      <p:sp>
        <p:nvSpPr>
          <p:cNvPr id="9" name="Shape 7"/>
          <p:cNvSpPr/>
          <p:nvPr/>
        </p:nvSpPr>
        <p:spPr>
          <a:xfrm>
            <a:off x="2562860" y="2125979"/>
            <a:ext cx="3746500" cy="152400"/>
          </a:xfrm>
          <a:prstGeom prst="roundRect">
            <a:avLst>
              <a:gd name="adj" fmla="val 16667"/>
            </a:avLst>
          </a:prstGeom>
          <a:solidFill>
            <a:srgbClr val="1D6A96"/>
          </a:solidFill>
          <a:ln/>
        </p:spPr>
        <p:txBody>
          <a:bodyPr/>
          <a:lstStyle/>
          <a:p>
            <a:endParaRPr lang="en-US"/>
          </a:p>
        </p:txBody>
      </p:sp>
      <p:sp>
        <p:nvSpPr>
          <p:cNvPr id="10" name="Text 8"/>
          <p:cNvSpPr/>
          <p:nvPr/>
        </p:nvSpPr>
        <p:spPr>
          <a:xfrm>
            <a:off x="6372860" y="2095500"/>
            <a:ext cx="49253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0.923</a:t>
            </a:r>
            <a:endParaRPr lang="en-US" sz="1200" dirty="0"/>
          </a:p>
        </p:txBody>
      </p:sp>
      <p:sp>
        <p:nvSpPr>
          <p:cNvPr id="11" name="Shape 9"/>
          <p:cNvSpPr/>
          <p:nvPr/>
        </p:nvSpPr>
        <p:spPr>
          <a:xfrm>
            <a:off x="2562860" y="2364742"/>
            <a:ext cx="3409950" cy="152400"/>
          </a:xfrm>
          <a:prstGeom prst="roundRect">
            <a:avLst>
              <a:gd name="adj" fmla="val 16667"/>
            </a:avLst>
          </a:prstGeom>
          <a:solidFill>
            <a:srgbClr val="C2410C"/>
          </a:solidFill>
          <a:ln/>
        </p:spPr>
        <p:txBody>
          <a:bodyPr/>
          <a:lstStyle/>
          <a:p>
            <a:endParaRPr lang="en-US"/>
          </a:p>
        </p:txBody>
      </p:sp>
      <p:sp>
        <p:nvSpPr>
          <p:cNvPr id="12" name="Text 10"/>
          <p:cNvSpPr/>
          <p:nvPr/>
        </p:nvSpPr>
        <p:spPr>
          <a:xfrm>
            <a:off x="6036310" y="2334264"/>
            <a:ext cx="50501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0.839</a:t>
            </a:r>
            <a:endParaRPr lang="en-US" sz="1200" dirty="0"/>
          </a:p>
        </p:txBody>
      </p:sp>
      <p:sp>
        <p:nvSpPr>
          <p:cNvPr id="13" name="Text 11"/>
          <p:cNvSpPr/>
          <p:nvPr/>
        </p:nvSpPr>
        <p:spPr>
          <a:xfrm>
            <a:off x="1000760" y="2734314"/>
            <a:ext cx="1511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0202E"/>
                </a:solidFill>
                <a:latin typeface="DM Sans" pitchFamily="34" charset="0"/>
                <a:ea typeface="DM Sans" pitchFamily="34" charset="-122"/>
                <a:cs typeface="DM Sans" pitchFamily="34" charset="-120"/>
              </a:rPr>
              <a:t>Logistic</a:t>
            </a:r>
            <a:endParaRPr lang="en-US" sz="1300" dirty="0"/>
          </a:p>
        </p:txBody>
      </p:sp>
      <p:sp>
        <p:nvSpPr>
          <p:cNvPr id="14" name="Shape 12"/>
          <p:cNvSpPr/>
          <p:nvPr/>
        </p:nvSpPr>
        <p:spPr>
          <a:xfrm>
            <a:off x="2562860" y="2654300"/>
            <a:ext cx="3708400" cy="152400"/>
          </a:xfrm>
          <a:prstGeom prst="roundRect">
            <a:avLst>
              <a:gd name="adj" fmla="val 16667"/>
            </a:avLst>
          </a:prstGeom>
          <a:solidFill>
            <a:srgbClr val="1D6A96">
              <a:alpha val="65000"/>
            </a:srgbClr>
          </a:solidFill>
          <a:ln/>
        </p:spPr>
        <p:txBody>
          <a:bodyPr/>
          <a:lstStyle/>
          <a:p>
            <a:endParaRPr lang="en-US"/>
          </a:p>
        </p:txBody>
      </p:sp>
      <p:sp>
        <p:nvSpPr>
          <p:cNvPr id="15" name="Text 13"/>
          <p:cNvSpPr/>
          <p:nvPr/>
        </p:nvSpPr>
        <p:spPr>
          <a:xfrm>
            <a:off x="6334760" y="2623821"/>
            <a:ext cx="4253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0.913</a:t>
            </a:r>
            <a:endParaRPr lang="en-US" sz="1200" dirty="0"/>
          </a:p>
        </p:txBody>
      </p:sp>
      <p:sp>
        <p:nvSpPr>
          <p:cNvPr id="16" name="Shape 14"/>
          <p:cNvSpPr/>
          <p:nvPr/>
        </p:nvSpPr>
        <p:spPr>
          <a:xfrm>
            <a:off x="2562860" y="2893064"/>
            <a:ext cx="3397250" cy="152400"/>
          </a:xfrm>
          <a:prstGeom prst="roundRect">
            <a:avLst>
              <a:gd name="adj" fmla="val 16667"/>
            </a:avLst>
          </a:prstGeom>
          <a:solidFill>
            <a:srgbClr val="C2410C">
              <a:alpha val="65000"/>
            </a:srgbClr>
          </a:solidFill>
          <a:ln/>
        </p:spPr>
        <p:txBody>
          <a:bodyPr/>
          <a:lstStyle/>
          <a:p>
            <a:endParaRPr lang="en-US"/>
          </a:p>
        </p:txBody>
      </p:sp>
      <p:sp>
        <p:nvSpPr>
          <p:cNvPr id="17" name="Text 15"/>
          <p:cNvSpPr/>
          <p:nvPr/>
        </p:nvSpPr>
        <p:spPr>
          <a:xfrm>
            <a:off x="6023610" y="2862579"/>
            <a:ext cx="48815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0.836</a:t>
            </a:r>
            <a:endParaRPr lang="en-US" sz="1200" dirty="0"/>
          </a:p>
        </p:txBody>
      </p:sp>
      <p:sp>
        <p:nvSpPr>
          <p:cNvPr id="18" name="Text 16"/>
          <p:cNvSpPr/>
          <p:nvPr/>
        </p:nvSpPr>
        <p:spPr>
          <a:xfrm>
            <a:off x="1000760" y="3262629"/>
            <a:ext cx="1511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0202E"/>
                </a:solidFill>
                <a:latin typeface="DM Sans" pitchFamily="34" charset="0"/>
                <a:ea typeface="DM Sans" pitchFamily="34" charset="-122"/>
                <a:cs typeface="DM Sans" pitchFamily="34" charset="-120"/>
              </a:rPr>
              <a:t>Decision Tree</a:t>
            </a:r>
            <a:endParaRPr lang="en-US" sz="1300" dirty="0"/>
          </a:p>
        </p:txBody>
      </p:sp>
      <p:sp>
        <p:nvSpPr>
          <p:cNvPr id="19" name="Shape 17"/>
          <p:cNvSpPr/>
          <p:nvPr/>
        </p:nvSpPr>
        <p:spPr>
          <a:xfrm>
            <a:off x="2562860" y="3182621"/>
            <a:ext cx="3530600" cy="152400"/>
          </a:xfrm>
          <a:prstGeom prst="roundRect">
            <a:avLst>
              <a:gd name="adj" fmla="val 16667"/>
            </a:avLst>
          </a:prstGeom>
          <a:solidFill>
            <a:srgbClr val="1D6A96">
              <a:alpha val="65000"/>
            </a:srgbClr>
          </a:solidFill>
          <a:ln/>
        </p:spPr>
        <p:txBody>
          <a:bodyPr/>
          <a:lstStyle/>
          <a:p>
            <a:endParaRPr lang="en-US"/>
          </a:p>
        </p:txBody>
      </p:sp>
      <p:sp>
        <p:nvSpPr>
          <p:cNvPr id="20" name="Text 18"/>
          <p:cNvSpPr/>
          <p:nvPr/>
        </p:nvSpPr>
        <p:spPr>
          <a:xfrm>
            <a:off x="6156960" y="3152142"/>
            <a:ext cx="49129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0.868</a:t>
            </a:r>
            <a:endParaRPr lang="en-US" sz="1200" dirty="0"/>
          </a:p>
        </p:txBody>
      </p:sp>
      <p:sp>
        <p:nvSpPr>
          <p:cNvPr id="21" name="Shape 19"/>
          <p:cNvSpPr/>
          <p:nvPr/>
        </p:nvSpPr>
        <p:spPr>
          <a:xfrm>
            <a:off x="2562860" y="3421379"/>
            <a:ext cx="3282950" cy="152400"/>
          </a:xfrm>
          <a:prstGeom prst="roundRect">
            <a:avLst>
              <a:gd name="adj" fmla="val 16667"/>
            </a:avLst>
          </a:prstGeom>
          <a:solidFill>
            <a:srgbClr val="C2410C">
              <a:alpha val="65000"/>
            </a:srgbClr>
          </a:solidFill>
          <a:ln/>
        </p:spPr>
        <p:txBody>
          <a:bodyPr/>
          <a:lstStyle/>
          <a:p>
            <a:endParaRPr lang="en-US"/>
          </a:p>
        </p:txBody>
      </p:sp>
      <p:sp>
        <p:nvSpPr>
          <p:cNvPr id="22" name="Text 20"/>
          <p:cNvSpPr/>
          <p:nvPr/>
        </p:nvSpPr>
        <p:spPr>
          <a:xfrm>
            <a:off x="5909310" y="3390900"/>
            <a:ext cx="4853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0.807</a:t>
            </a:r>
            <a:endParaRPr lang="en-US" sz="1200" dirty="0"/>
          </a:p>
        </p:txBody>
      </p:sp>
      <p:sp>
        <p:nvSpPr>
          <p:cNvPr id="23" name="Text 21"/>
          <p:cNvSpPr/>
          <p:nvPr/>
        </p:nvSpPr>
        <p:spPr>
          <a:xfrm>
            <a:off x="1000760" y="3790950"/>
            <a:ext cx="1511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Price rule</a:t>
            </a:r>
            <a:endParaRPr lang="en-US" sz="1300" dirty="0"/>
          </a:p>
        </p:txBody>
      </p:sp>
      <p:sp>
        <p:nvSpPr>
          <p:cNvPr id="24" name="Shape 22"/>
          <p:cNvSpPr/>
          <p:nvPr/>
        </p:nvSpPr>
        <p:spPr>
          <a:xfrm>
            <a:off x="2562860" y="3710942"/>
            <a:ext cx="2857500" cy="152400"/>
          </a:xfrm>
          <a:prstGeom prst="roundRect">
            <a:avLst>
              <a:gd name="adj" fmla="val 16667"/>
            </a:avLst>
          </a:prstGeom>
          <a:solidFill>
            <a:srgbClr val="8B95A0"/>
          </a:solidFill>
          <a:ln/>
        </p:spPr>
        <p:txBody>
          <a:bodyPr/>
          <a:lstStyle/>
          <a:p>
            <a:endParaRPr lang="en-US"/>
          </a:p>
        </p:txBody>
      </p:sp>
      <p:sp>
        <p:nvSpPr>
          <p:cNvPr id="25" name="Text 23"/>
          <p:cNvSpPr/>
          <p:nvPr/>
        </p:nvSpPr>
        <p:spPr>
          <a:xfrm>
            <a:off x="5483860" y="3680464"/>
            <a:ext cx="47977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0.704</a:t>
            </a:r>
            <a:endParaRPr lang="en-US" sz="1200" dirty="0"/>
          </a:p>
        </p:txBody>
      </p:sp>
      <p:sp>
        <p:nvSpPr>
          <p:cNvPr id="26" name="Shape 24"/>
          <p:cNvSpPr/>
          <p:nvPr/>
        </p:nvSpPr>
        <p:spPr>
          <a:xfrm>
            <a:off x="2562860" y="3949700"/>
            <a:ext cx="2717800" cy="152400"/>
          </a:xfrm>
          <a:prstGeom prst="roundRect">
            <a:avLst>
              <a:gd name="adj" fmla="val 16667"/>
            </a:avLst>
          </a:prstGeom>
          <a:solidFill>
            <a:srgbClr val="B9BFC6"/>
          </a:solidFill>
          <a:ln/>
        </p:spPr>
        <p:txBody>
          <a:bodyPr/>
          <a:lstStyle/>
          <a:p>
            <a:endParaRPr lang="en-US"/>
          </a:p>
        </p:txBody>
      </p:sp>
      <p:sp>
        <p:nvSpPr>
          <p:cNvPr id="27" name="Text 25"/>
          <p:cNvSpPr/>
          <p:nvPr/>
        </p:nvSpPr>
        <p:spPr>
          <a:xfrm>
            <a:off x="5344160" y="3919221"/>
            <a:ext cx="4893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0.669</a:t>
            </a:r>
            <a:endParaRPr lang="en-US" sz="1200" dirty="0"/>
          </a:p>
        </p:txBody>
      </p:sp>
      <p:sp>
        <p:nvSpPr>
          <p:cNvPr id="28" name="Text 26"/>
          <p:cNvSpPr/>
          <p:nvPr/>
        </p:nvSpPr>
        <p:spPr>
          <a:xfrm>
            <a:off x="1000760" y="4319271"/>
            <a:ext cx="1511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Category rule</a:t>
            </a:r>
            <a:endParaRPr lang="en-US" sz="1300" dirty="0"/>
          </a:p>
        </p:txBody>
      </p:sp>
      <p:sp>
        <p:nvSpPr>
          <p:cNvPr id="29" name="Shape 27"/>
          <p:cNvSpPr/>
          <p:nvPr/>
        </p:nvSpPr>
        <p:spPr>
          <a:xfrm>
            <a:off x="2562860" y="4239264"/>
            <a:ext cx="1885950" cy="152400"/>
          </a:xfrm>
          <a:prstGeom prst="roundRect">
            <a:avLst>
              <a:gd name="adj" fmla="val 16667"/>
            </a:avLst>
          </a:prstGeom>
          <a:solidFill>
            <a:srgbClr val="8B95A0"/>
          </a:solidFill>
          <a:ln/>
        </p:spPr>
        <p:txBody>
          <a:bodyPr/>
          <a:lstStyle/>
          <a:p>
            <a:endParaRPr lang="en-US"/>
          </a:p>
        </p:txBody>
      </p:sp>
      <p:sp>
        <p:nvSpPr>
          <p:cNvPr id="30" name="Text 28"/>
          <p:cNvSpPr/>
          <p:nvPr/>
        </p:nvSpPr>
        <p:spPr>
          <a:xfrm>
            <a:off x="4512310" y="4208779"/>
            <a:ext cx="4909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0.464</a:t>
            </a:r>
            <a:endParaRPr lang="en-US" sz="1200" dirty="0"/>
          </a:p>
        </p:txBody>
      </p:sp>
      <p:sp>
        <p:nvSpPr>
          <p:cNvPr id="31" name="Shape 29"/>
          <p:cNvSpPr/>
          <p:nvPr/>
        </p:nvSpPr>
        <p:spPr>
          <a:xfrm>
            <a:off x="2562860" y="4478021"/>
            <a:ext cx="2159000" cy="152400"/>
          </a:xfrm>
          <a:prstGeom prst="roundRect">
            <a:avLst>
              <a:gd name="adj" fmla="val 16667"/>
            </a:avLst>
          </a:prstGeom>
          <a:solidFill>
            <a:srgbClr val="B9BFC6"/>
          </a:solidFill>
          <a:ln/>
        </p:spPr>
        <p:txBody>
          <a:bodyPr/>
          <a:lstStyle/>
          <a:p>
            <a:endParaRPr lang="en-US"/>
          </a:p>
        </p:txBody>
      </p:sp>
      <p:sp>
        <p:nvSpPr>
          <p:cNvPr id="32" name="Text 30"/>
          <p:cNvSpPr/>
          <p:nvPr/>
        </p:nvSpPr>
        <p:spPr>
          <a:xfrm>
            <a:off x="4785360" y="4447542"/>
            <a:ext cx="42757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0.531</a:t>
            </a:r>
            <a:endParaRPr lang="en-US" sz="1200" dirty="0"/>
          </a:p>
        </p:txBody>
      </p:sp>
      <p:sp>
        <p:nvSpPr>
          <p:cNvPr id="33" name="Text 31"/>
          <p:cNvSpPr/>
          <p:nvPr/>
        </p:nvSpPr>
        <p:spPr>
          <a:xfrm>
            <a:off x="1000760" y="4737100"/>
            <a:ext cx="6964325"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34" name="Shape 32"/>
          <p:cNvSpPr/>
          <p:nvPr/>
        </p:nvSpPr>
        <p:spPr>
          <a:xfrm>
            <a:off x="8204200" y="1643379"/>
            <a:ext cx="3175000" cy="1285240"/>
          </a:xfrm>
          <a:prstGeom prst="roundRect">
            <a:avLst>
              <a:gd name="adj" fmla="val 9881"/>
            </a:avLst>
          </a:prstGeom>
          <a:solidFill>
            <a:srgbClr val="10202E"/>
          </a:solidFill>
          <a:ln/>
        </p:spPr>
        <p:txBody>
          <a:bodyPr/>
          <a:lstStyle/>
          <a:p>
            <a:endParaRPr lang="en-US"/>
          </a:p>
        </p:txBody>
      </p:sp>
      <p:sp>
        <p:nvSpPr>
          <p:cNvPr id="35" name="Text 33"/>
          <p:cNvSpPr/>
          <p:nvPr/>
        </p:nvSpPr>
        <p:spPr>
          <a:xfrm>
            <a:off x="8382000" y="1821179"/>
            <a:ext cx="29039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SELECTED SVM · TEST</a:t>
            </a:r>
            <a:endParaRPr lang="en-US" sz="1200" dirty="0"/>
          </a:p>
        </p:txBody>
      </p:sp>
      <p:sp>
        <p:nvSpPr>
          <p:cNvPr id="36" name="Text 34"/>
          <p:cNvSpPr/>
          <p:nvPr/>
        </p:nvSpPr>
        <p:spPr>
          <a:xfrm>
            <a:off x="8382000" y="2085342"/>
            <a:ext cx="2903982"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6FC1EA"/>
                </a:solidFill>
                <a:latin typeface="DM Sans" pitchFamily="34" charset="0"/>
                <a:ea typeface="DM Sans" pitchFamily="34" charset="-122"/>
                <a:cs typeface="DM Sans" pitchFamily="34" charset="-120"/>
              </a:rPr>
              <a:t>PR-AUC 0.9226</a:t>
            </a:r>
            <a:endParaRPr lang="en-US" sz="2200" dirty="0"/>
          </a:p>
        </p:txBody>
      </p:sp>
      <p:sp>
        <p:nvSpPr>
          <p:cNvPr id="37" name="Text 35"/>
          <p:cNvSpPr/>
          <p:nvPr/>
        </p:nvSpPr>
        <p:spPr>
          <a:xfrm>
            <a:off x="8382000" y="2443479"/>
            <a:ext cx="2903982"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6FC1EA"/>
                </a:solidFill>
                <a:latin typeface="DM Sans" pitchFamily="34" charset="0"/>
                <a:ea typeface="DM Sans" pitchFamily="34" charset="-122"/>
                <a:cs typeface="DM Sans" pitchFamily="34" charset="-120"/>
              </a:rPr>
              <a:t>F1 0.8390</a:t>
            </a:r>
            <a:endParaRPr lang="en-US" sz="2200" dirty="0"/>
          </a:p>
        </p:txBody>
      </p:sp>
      <p:sp>
        <p:nvSpPr>
          <p:cNvPr id="38" name="Shape 36"/>
          <p:cNvSpPr/>
          <p:nvPr/>
        </p:nvSpPr>
        <p:spPr>
          <a:xfrm>
            <a:off x="8223250" y="3055621"/>
            <a:ext cx="0" cy="513080"/>
          </a:xfrm>
          <a:prstGeom prst="line">
            <a:avLst/>
          </a:prstGeom>
          <a:noFill/>
          <a:ln w="38100">
            <a:solidFill>
              <a:srgbClr val="1D6A96"/>
            </a:solidFill>
            <a:prstDash val="solid"/>
          </a:ln>
        </p:spPr>
        <p:txBody>
          <a:bodyPr/>
          <a:lstStyle/>
          <a:p>
            <a:endParaRPr lang="en-US"/>
          </a:p>
        </p:txBody>
      </p:sp>
      <p:sp>
        <p:nvSpPr>
          <p:cNvPr id="39" name="Text 37"/>
          <p:cNvSpPr/>
          <p:nvPr/>
        </p:nvSpPr>
        <p:spPr>
          <a:xfrm>
            <a:off x="8392160" y="3081021"/>
            <a:ext cx="3076651" cy="487680"/>
          </a:xfrm>
          <a:prstGeom prst="rect">
            <a:avLst/>
          </a:prstGeom>
          <a:noFill/>
          <a:ln/>
        </p:spPr>
        <p:txBody>
          <a:bodyPr wrap="square" lIns="0" tIns="0" rIns="0" bIns="0" rtlCol="0" anchor="t">
            <a:normAutofit/>
          </a:bodyPr>
          <a:lstStyle/>
          <a:p>
            <a:pPr marL="0" indent="0" algn="l">
              <a:lnSpc>
                <a:spcPts val="1820"/>
              </a:lnSpc>
              <a:buNone/>
            </a:pPr>
            <a:r>
              <a:rPr lang="en-US" sz="1400" i="1" dirty="0">
                <a:solidFill>
                  <a:srgbClr val="10202E"/>
                </a:solidFill>
                <a:latin typeface="DM Sans" pitchFamily="34" charset="0"/>
                <a:ea typeface="DM Sans" pitchFamily="34" charset="-122"/>
                <a:cs typeface="DM Sans" pitchFamily="34" charset="-120"/>
              </a:rPr>
              <a:t>The winning model must prove itself on unseen data.</a:t>
            </a:r>
            <a:endParaRPr lang="en-US" sz="1400" dirty="0"/>
          </a:p>
        </p:txBody>
      </p:sp>
      <p:sp>
        <p:nvSpPr>
          <p:cNvPr id="40" name="Shape 38"/>
          <p:cNvSpPr/>
          <p:nvPr/>
        </p:nvSpPr>
        <p:spPr>
          <a:xfrm>
            <a:off x="8223250" y="3695700"/>
            <a:ext cx="0" cy="909320"/>
          </a:xfrm>
          <a:prstGeom prst="line">
            <a:avLst/>
          </a:prstGeom>
          <a:noFill/>
          <a:ln w="38100">
            <a:solidFill>
              <a:srgbClr val="C2410C"/>
            </a:solidFill>
            <a:prstDash val="solid"/>
          </a:ln>
        </p:spPr>
        <p:txBody>
          <a:bodyPr/>
          <a:lstStyle/>
          <a:p>
            <a:endParaRPr lang="en-US"/>
          </a:p>
        </p:txBody>
      </p:sp>
      <p:sp>
        <p:nvSpPr>
          <p:cNvPr id="41" name="Text 39"/>
          <p:cNvSpPr/>
          <p:nvPr/>
        </p:nvSpPr>
        <p:spPr>
          <a:xfrm>
            <a:off x="8392160" y="3721100"/>
            <a:ext cx="3076651" cy="8839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C2410C"/>
                </a:solidFill>
                <a:latin typeface="DM Sans" pitchFamily="34" charset="0"/>
                <a:ea typeface="DM Sans" pitchFamily="34" charset="-122"/>
                <a:cs typeface="DM Sans" pitchFamily="34" charset="-120"/>
              </a:rPr>
              <a:t>Takeaway:</a:t>
            </a:r>
            <a:r>
              <a:rPr lang="en-US" sz="1300" dirty="0">
                <a:solidFill>
                  <a:srgbClr val="10202E"/>
                </a:solidFill>
                <a:latin typeface="DM Sans" pitchFamily="34" charset="0"/>
                <a:ea typeface="DM Sans" pitchFamily="34" charset="-122"/>
                <a:cs typeface="DM Sans" pitchFamily="34" charset="-120"/>
              </a:rPr>
              <a:t> SVM holds up on Test, but its edge over Logistic is small (0.9226 vs 0.9129). Check that against the confidence interval.</a:t>
            </a:r>
            <a:endParaRPr lang="en-US" sz="1300" dirty="0"/>
          </a:p>
        </p:txBody>
      </p:sp>
      <p:sp>
        <p:nvSpPr>
          <p:cNvPr id="42" name="Text 40"/>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§8.1 (Test)</a:t>
            </a:r>
            <a:endParaRPr lang="en-US" sz="1200" dirty="0"/>
          </a:p>
        </p:txBody>
      </p:sp>
      <p:sp>
        <p:nvSpPr>
          <p:cNvPr id="43" name="Text 41"/>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(15) </a:t>
            </a:r>
            <a:r>
              <a:rPr lang="en-US" sz="1200" dirty="0">
                <a:solidFill>
                  <a:srgbClr val="54606C"/>
                </a:solidFill>
                <a:latin typeface="DM Sans" pitchFamily="34" charset="0"/>
                <a:ea typeface="DM Sans" pitchFamily="34" charset="-122"/>
                <a:cs typeface="DM Sans" pitchFamily="34" charset="-120"/>
              </a:rPr>
              <a:t>Next → Where does the selected model still go wrong?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III · ERROR ANALYSIS · VALIDATION, NOT TEST</a:t>
            </a:r>
            <a:endParaRPr lang="en-US" sz="1200" dirty="0"/>
          </a:p>
        </p:txBody>
      </p:sp>
      <p:sp>
        <p:nvSpPr>
          <p:cNvPr id="3" name="Text 1"/>
          <p:cNvSpPr>
            <a:spLocks noGrp="1"/>
          </p:cNvSpPr>
          <p:nvPr>
            <p:ph type="title"/>
          </p:nvPr>
        </p:nvSpPr>
        <p:spPr>
          <a:xfrm>
            <a:off x="812800" y="1102364"/>
            <a:ext cx="10883392" cy="75184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Every False Negative Has a Cost. Every False Positive Has a Consequence.</a:t>
            </a:r>
            <a:endParaRPr lang="en-US" sz="2600" dirty="0"/>
          </a:p>
        </p:txBody>
      </p:sp>
      <p:sp>
        <p:nvSpPr>
          <p:cNvPr id="4" name="Shape 2"/>
          <p:cNvSpPr/>
          <p:nvPr/>
        </p:nvSpPr>
        <p:spPr>
          <a:xfrm>
            <a:off x="819150" y="2012950"/>
            <a:ext cx="3492500" cy="1098232"/>
          </a:xfrm>
          <a:prstGeom prst="roundRect">
            <a:avLst>
              <a:gd name="adj" fmla="val 10986"/>
            </a:avLst>
          </a:prstGeom>
          <a:solidFill>
            <a:srgbClr val="FBF9F5"/>
          </a:solidFill>
          <a:ln w="12700">
            <a:solidFill>
              <a:srgbClr val="C2410C"/>
            </a:solidFill>
            <a:prstDash val="solid"/>
          </a:ln>
        </p:spPr>
        <p:txBody>
          <a:bodyPr/>
          <a:lstStyle/>
          <a:p>
            <a:endParaRPr lang="en-US"/>
          </a:p>
        </p:txBody>
      </p:sp>
      <p:sp>
        <p:nvSpPr>
          <p:cNvPr id="5" name="Text 3"/>
          <p:cNvSpPr/>
          <p:nvPr/>
        </p:nvSpPr>
        <p:spPr>
          <a:xfrm>
            <a:off x="975360" y="2143758"/>
            <a:ext cx="3275483" cy="212566"/>
          </a:xfrm>
          <a:prstGeom prst="rect">
            <a:avLst/>
          </a:prstGeom>
          <a:noFill/>
          <a:ln/>
        </p:spPr>
        <p:txBody>
          <a:bodyPr wrap="square" lIns="0" tIns="0" rIns="0" bIns="0" rtlCol="0" anchor="t">
            <a:normAutofit/>
          </a:bodyPr>
          <a:lstStyle/>
          <a:p>
            <a:pPr marL="0" indent="0" algn="l">
              <a:lnSpc>
                <a:spcPts val="1470"/>
              </a:lnSpc>
              <a:buNone/>
            </a:pPr>
            <a:r>
              <a:rPr lang="en-US" sz="1050" b="1" kern="0" spc="50" dirty="0">
                <a:solidFill>
                  <a:srgbClr val="C2410C"/>
                </a:solidFill>
                <a:latin typeface="DM Sans" pitchFamily="34" charset="0"/>
                <a:ea typeface="DM Sans" pitchFamily="34" charset="-122"/>
                <a:cs typeface="DM Sans" pitchFamily="34" charset="-120"/>
              </a:rPr>
              <a:t>MISSED FRAUDS</a:t>
            </a:r>
            <a:endParaRPr lang="en-US" sz="1050" dirty="0"/>
          </a:p>
        </p:txBody>
      </p:sp>
      <p:sp>
        <p:nvSpPr>
          <p:cNvPr id="6" name="Text 4"/>
          <p:cNvSpPr/>
          <p:nvPr/>
        </p:nvSpPr>
        <p:spPr>
          <a:xfrm>
            <a:off x="975360" y="2343634"/>
            <a:ext cx="3275483" cy="446643"/>
          </a:xfrm>
          <a:prstGeom prst="rect">
            <a:avLst/>
          </a:prstGeom>
          <a:noFill/>
          <a:ln/>
        </p:spPr>
        <p:txBody>
          <a:bodyPr wrap="square" lIns="0" tIns="0" rIns="0" bIns="0" rtlCol="0" anchor="t">
            <a:normAutofit/>
          </a:bodyPr>
          <a:lstStyle/>
          <a:p>
            <a:pPr marL="0" indent="0" algn="l">
              <a:lnSpc>
                <a:spcPts val="3319"/>
              </a:lnSpc>
              <a:buNone/>
            </a:pPr>
            <a:r>
              <a:rPr lang="en-US" sz="3161" b="1" dirty="0">
                <a:solidFill>
                  <a:srgbClr val="C2410C"/>
                </a:solidFill>
                <a:latin typeface="DM Sans" pitchFamily="34" charset="0"/>
                <a:ea typeface="DM Sans" pitchFamily="34" charset="-122"/>
                <a:cs typeface="DM Sans" pitchFamily="34" charset="-120"/>
              </a:rPr>
              <a:t>49</a:t>
            </a:r>
            <a:endParaRPr lang="en-US" sz="3161" dirty="0"/>
          </a:p>
        </p:txBody>
      </p:sp>
      <p:sp>
        <p:nvSpPr>
          <p:cNvPr id="7" name="Text 5"/>
          <p:cNvSpPr/>
          <p:nvPr/>
        </p:nvSpPr>
        <p:spPr>
          <a:xfrm>
            <a:off x="975360" y="2777567"/>
            <a:ext cx="3275483" cy="228203"/>
          </a:xfrm>
          <a:prstGeom prst="rect">
            <a:avLst/>
          </a:prstGeom>
          <a:noFill/>
          <a:ln/>
        </p:spPr>
        <p:txBody>
          <a:bodyPr wrap="square" lIns="0" tIns="0" rIns="0" bIns="0" rtlCol="0" anchor="t">
            <a:normAutofit/>
          </a:bodyPr>
          <a:lstStyle/>
          <a:p>
            <a:pPr marL="0" indent="0" algn="l">
              <a:lnSpc>
                <a:spcPts val="1621"/>
              </a:lnSpc>
              <a:buNone/>
            </a:pPr>
            <a:r>
              <a:rPr lang="en-US" sz="1158" dirty="0">
                <a:solidFill>
                  <a:srgbClr val="10202E"/>
                </a:solidFill>
                <a:latin typeface="DM Sans" pitchFamily="34" charset="0"/>
                <a:ea typeface="DM Sans" pitchFamily="34" charset="-122"/>
                <a:cs typeface="DM Sans" pitchFamily="34" charset="-120"/>
              </a:rPr>
              <a:t>out of 1,200 fraud cases · $3,781 missed</a:t>
            </a:r>
            <a:endParaRPr lang="en-US" sz="1158" dirty="0"/>
          </a:p>
        </p:txBody>
      </p:sp>
      <p:sp>
        <p:nvSpPr>
          <p:cNvPr id="8" name="Shape 6"/>
          <p:cNvSpPr/>
          <p:nvPr/>
        </p:nvSpPr>
        <p:spPr>
          <a:xfrm>
            <a:off x="4451350" y="2012950"/>
            <a:ext cx="3492500" cy="1098232"/>
          </a:xfrm>
          <a:prstGeom prst="roundRect">
            <a:avLst>
              <a:gd name="adj" fmla="val 10986"/>
            </a:avLst>
          </a:prstGeom>
          <a:solidFill>
            <a:srgbClr val="FBF9F5"/>
          </a:solidFill>
          <a:ln w="12700">
            <a:solidFill>
              <a:srgbClr val="1D6A96"/>
            </a:solidFill>
            <a:prstDash val="solid"/>
          </a:ln>
        </p:spPr>
        <p:txBody>
          <a:bodyPr/>
          <a:lstStyle/>
          <a:p>
            <a:endParaRPr lang="en-US"/>
          </a:p>
        </p:txBody>
      </p:sp>
      <p:sp>
        <p:nvSpPr>
          <p:cNvPr id="9" name="Text 7"/>
          <p:cNvSpPr/>
          <p:nvPr/>
        </p:nvSpPr>
        <p:spPr>
          <a:xfrm>
            <a:off x="4607560" y="2143758"/>
            <a:ext cx="3275483" cy="212566"/>
          </a:xfrm>
          <a:prstGeom prst="rect">
            <a:avLst/>
          </a:prstGeom>
          <a:noFill/>
          <a:ln/>
        </p:spPr>
        <p:txBody>
          <a:bodyPr wrap="square" lIns="0" tIns="0" rIns="0" bIns="0" rtlCol="0" anchor="t">
            <a:normAutofit/>
          </a:bodyPr>
          <a:lstStyle/>
          <a:p>
            <a:pPr marL="0" indent="0" algn="l">
              <a:lnSpc>
                <a:spcPts val="1470"/>
              </a:lnSpc>
              <a:buNone/>
            </a:pPr>
            <a:r>
              <a:rPr lang="en-US" sz="1050" b="1" kern="0" spc="50" dirty="0">
                <a:solidFill>
                  <a:srgbClr val="1D6A96"/>
                </a:solidFill>
                <a:latin typeface="DM Sans" pitchFamily="34" charset="0"/>
                <a:ea typeface="DM Sans" pitchFamily="34" charset="-122"/>
                <a:cs typeface="DM Sans" pitchFamily="34" charset="-120"/>
              </a:rPr>
              <a:t>FALSE ALERTS</a:t>
            </a:r>
            <a:endParaRPr lang="en-US" sz="1050" dirty="0"/>
          </a:p>
        </p:txBody>
      </p:sp>
      <p:sp>
        <p:nvSpPr>
          <p:cNvPr id="10" name="Text 8"/>
          <p:cNvSpPr/>
          <p:nvPr/>
        </p:nvSpPr>
        <p:spPr>
          <a:xfrm>
            <a:off x="4607560" y="2343634"/>
            <a:ext cx="3275483" cy="446643"/>
          </a:xfrm>
          <a:prstGeom prst="rect">
            <a:avLst/>
          </a:prstGeom>
          <a:noFill/>
          <a:ln/>
        </p:spPr>
        <p:txBody>
          <a:bodyPr wrap="square" lIns="0" tIns="0" rIns="0" bIns="0" rtlCol="0" anchor="t">
            <a:normAutofit/>
          </a:bodyPr>
          <a:lstStyle/>
          <a:p>
            <a:pPr marL="0" indent="0" algn="l">
              <a:lnSpc>
                <a:spcPts val="3319"/>
              </a:lnSpc>
              <a:buNone/>
            </a:pPr>
            <a:r>
              <a:rPr lang="en-US" sz="3161" b="1" dirty="0">
                <a:solidFill>
                  <a:srgbClr val="1D6A96"/>
                </a:solidFill>
                <a:latin typeface="DM Sans" pitchFamily="34" charset="0"/>
                <a:ea typeface="DM Sans" pitchFamily="34" charset="-122"/>
                <a:cs typeface="DM Sans" pitchFamily="34" charset="-120"/>
              </a:rPr>
              <a:t>677</a:t>
            </a:r>
            <a:endParaRPr lang="en-US" sz="3161" dirty="0"/>
          </a:p>
        </p:txBody>
      </p:sp>
      <p:sp>
        <p:nvSpPr>
          <p:cNvPr id="11" name="Text 9"/>
          <p:cNvSpPr/>
          <p:nvPr/>
        </p:nvSpPr>
        <p:spPr>
          <a:xfrm>
            <a:off x="4607560" y="2777567"/>
            <a:ext cx="3275483" cy="228203"/>
          </a:xfrm>
          <a:prstGeom prst="rect">
            <a:avLst/>
          </a:prstGeom>
          <a:noFill/>
          <a:ln/>
        </p:spPr>
        <p:txBody>
          <a:bodyPr wrap="square" lIns="0" tIns="0" rIns="0" bIns="0" rtlCol="0" anchor="t">
            <a:normAutofit/>
          </a:bodyPr>
          <a:lstStyle/>
          <a:p>
            <a:pPr marL="0" indent="0" algn="l">
              <a:lnSpc>
                <a:spcPts val="1621"/>
              </a:lnSpc>
              <a:buNone/>
            </a:pPr>
            <a:r>
              <a:rPr lang="en-US" sz="1158" dirty="0">
                <a:solidFill>
                  <a:srgbClr val="10202E"/>
                </a:solidFill>
                <a:latin typeface="DM Sans" pitchFamily="34" charset="0"/>
                <a:ea typeface="DM Sans" pitchFamily="34" charset="-122"/>
                <a:cs typeface="DM Sans" pitchFamily="34" charset="-120"/>
              </a:rPr>
              <a:t>legitimate transactions flagged</a:t>
            </a:r>
            <a:endParaRPr lang="en-US" sz="1158" dirty="0"/>
          </a:p>
        </p:txBody>
      </p:sp>
      <p:sp>
        <p:nvSpPr>
          <p:cNvPr id="12" name="Text 10"/>
          <p:cNvSpPr/>
          <p:nvPr/>
        </p:nvSpPr>
        <p:spPr>
          <a:xfrm>
            <a:off x="812800" y="3244540"/>
            <a:ext cx="7351522" cy="218996"/>
          </a:xfrm>
          <a:prstGeom prst="rect">
            <a:avLst/>
          </a:prstGeom>
          <a:noFill/>
          <a:ln/>
        </p:spPr>
        <p:txBody>
          <a:bodyPr wrap="square" lIns="0" tIns="0" rIns="0" bIns="0" rtlCol="0" anchor="t">
            <a:normAutofit/>
          </a:bodyPr>
          <a:lstStyle/>
          <a:p>
            <a:pPr marL="0" indent="0" algn="l">
              <a:lnSpc>
                <a:spcPts val="1523"/>
              </a:lnSpc>
              <a:buNone/>
            </a:pPr>
            <a:r>
              <a:rPr lang="en-US" sz="1088" b="1" kern="0" spc="50" dirty="0">
                <a:solidFill>
                  <a:srgbClr val="54606C"/>
                </a:solidFill>
                <a:latin typeface="DM Sans" pitchFamily="34" charset="0"/>
                <a:ea typeface="DM Sans" pitchFamily="34" charset="-122"/>
                <a:cs typeface="DM Sans" pitchFamily="34" charset="-120"/>
              </a:rPr>
              <a:t>LARGEST CATEGORIES BY MISSED DOLLARS (TOP 6)</a:t>
            </a:r>
            <a:endParaRPr lang="en-US" sz="1088"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3575288"/>
          <a:ext cx="7127240" cy="2269729"/>
        </p:xfrm>
        <a:graphic>
          <a:graphicData uri="http://schemas.openxmlformats.org/drawingml/2006/table">
            <a:tbl>
              <a:tblPr/>
              <a:tblGrid>
                <a:gridCol w="2850896">
                  <a:extLst>
                    <a:ext uri="{9D8B030D-6E8A-4147-A177-3AD203B41FA5}">
                      <a16:colId xmlns:a16="http://schemas.microsoft.com/office/drawing/2014/main" val="20000"/>
                    </a:ext>
                  </a:extLst>
                </a:gridCol>
                <a:gridCol w="1425448">
                  <a:extLst>
                    <a:ext uri="{9D8B030D-6E8A-4147-A177-3AD203B41FA5}">
                      <a16:colId xmlns:a16="http://schemas.microsoft.com/office/drawing/2014/main" val="20001"/>
                    </a:ext>
                  </a:extLst>
                </a:gridCol>
                <a:gridCol w="1425448">
                  <a:extLst>
                    <a:ext uri="{9D8B030D-6E8A-4147-A177-3AD203B41FA5}">
                      <a16:colId xmlns:a16="http://schemas.microsoft.com/office/drawing/2014/main" val="20002"/>
                    </a:ext>
                  </a:extLst>
                </a:gridCol>
                <a:gridCol w="1425448">
                  <a:extLst>
                    <a:ext uri="{9D8B030D-6E8A-4147-A177-3AD203B41FA5}">
                      <a16:colId xmlns:a16="http://schemas.microsoft.com/office/drawing/2014/main" val="20003"/>
                    </a:ext>
                  </a:extLst>
                </a:gridCol>
              </a:tblGrid>
              <a:tr h="324247">
                <a:tc>
                  <a:txBody>
                    <a:bodyPr/>
                    <a:lstStyle/>
                    <a:p>
                      <a:pPr marL="0" indent="0">
                        <a:lnSpc>
                          <a:spcPts val="1649"/>
                        </a:lnSpc>
                        <a:buNone/>
                      </a:pPr>
                      <a:r>
                        <a:rPr lang="en-US" sz="1178" b="1" dirty="0">
                          <a:solidFill>
                            <a:srgbClr val="10202E"/>
                          </a:solidFill>
                          <a:latin typeface="DM Sans" pitchFamily="34" charset="0"/>
                          <a:ea typeface="DM Sans" pitchFamily="34" charset="-122"/>
                          <a:cs typeface="DM Sans" pitchFamily="34" charset="-120"/>
                        </a:rPr>
                        <a:t>Category</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649"/>
                        </a:lnSpc>
                        <a:buNone/>
                      </a:pPr>
                      <a:r>
                        <a:rPr lang="en-US" sz="1178" b="1" dirty="0">
                          <a:solidFill>
                            <a:srgbClr val="10202E"/>
                          </a:solidFill>
                          <a:latin typeface="DM Sans" pitchFamily="34" charset="0"/>
                          <a:ea typeface="DM Sans" pitchFamily="34" charset="-122"/>
                          <a:cs typeface="DM Sans" pitchFamily="34" charset="-120"/>
                        </a:rPr>
                        <a:t>Missed</a:t>
                      </a:r>
                      <a:endParaRPr lang="en-US" sz="1178" dirty="0">
                        <a:latin typeface="DM Sans" charset="0"/>
                        <a:ea typeface="DM Sans" charset="0"/>
                        <a:cs typeface="DM Sans" charset="0"/>
                      </a:endParaRPr>
                    </a:p>
                  </a:txBody>
                  <a:tcPr marL="52368" marR="52368" marT="52368" marB="52368">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649"/>
                        </a:lnSpc>
                        <a:buNone/>
                      </a:pPr>
                      <a:r>
                        <a:rPr lang="en-US" sz="1178" b="1" dirty="0">
                          <a:solidFill>
                            <a:srgbClr val="10202E"/>
                          </a:solidFill>
                          <a:latin typeface="DM Sans" pitchFamily="34" charset="0"/>
                          <a:ea typeface="DM Sans" pitchFamily="34" charset="-122"/>
                          <a:cs typeface="DM Sans" pitchFamily="34" charset="-120"/>
                        </a:rPr>
                        <a:t>Missed $</a:t>
                      </a:r>
                      <a:endParaRPr lang="en-US" sz="1178" dirty="0">
                        <a:latin typeface="DM Sans" charset="0"/>
                        <a:ea typeface="DM Sans" charset="0"/>
                        <a:cs typeface="DM Sans" charset="0"/>
                      </a:endParaRPr>
                    </a:p>
                  </a:txBody>
                  <a:tcPr marL="52368" marR="52368" marT="52368" marB="52368">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649"/>
                        </a:lnSpc>
                        <a:buNone/>
                      </a:pPr>
                      <a:r>
                        <a:rPr lang="en-US" sz="1178" b="1" dirty="0">
                          <a:solidFill>
                            <a:srgbClr val="10202E"/>
                          </a:solidFill>
                          <a:latin typeface="DM Sans" pitchFamily="34" charset="0"/>
                          <a:ea typeface="DM Sans" pitchFamily="34" charset="-122"/>
                          <a:cs typeface="DM Sans" pitchFamily="34" charset="-120"/>
                        </a:rPr>
                        <a:t>False alerts</a:t>
                      </a:r>
                      <a:endParaRPr lang="en-US" sz="1178" dirty="0">
                        <a:latin typeface="DM Sans" charset="0"/>
                        <a:ea typeface="DM Sans" charset="0"/>
                        <a:cs typeface="DM Sans" charset="0"/>
                      </a:endParaRPr>
                    </a:p>
                  </a:txBody>
                  <a:tcPr marL="52368" marR="52368" marT="52368" marB="52368">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extLst>
                  <a:ext uri="{0D108BD9-81ED-4DB2-BD59-A6C34878D82A}">
                    <a16:rowId xmlns:a16="http://schemas.microsoft.com/office/drawing/2014/main" val="10000"/>
                  </a:ext>
                </a:extLst>
              </a:tr>
              <a:tr h="324247">
                <a:tc>
                  <a:txBody>
                    <a:bodyPr/>
                    <a:lstStyle/>
                    <a:p>
                      <a:pPr marL="0" indent="0">
                        <a:lnSpc>
                          <a:spcPts val="1649"/>
                        </a:lnSpc>
                        <a:buNone/>
                      </a:pPr>
                      <a:r>
                        <a:rPr lang="en-US" sz="1178" dirty="0">
                          <a:solidFill>
                            <a:srgbClr val="10202E"/>
                          </a:solidFill>
                          <a:latin typeface="DM Sans" pitchFamily="34" charset="0"/>
                          <a:ea typeface="DM Sans" pitchFamily="34" charset="-122"/>
                          <a:cs typeface="DM Sans" pitchFamily="34" charset="-120"/>
                        </a:rPr>
                        <a:t>wellnessandbeauty</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17</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$1,042</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165</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1"/>
                  </a:ext>
                </a:extLst>
              </a:tr>
              <a:tr h="324247">
                <a:tc>
                  <a:txBody>
                    <a:bodyPr/>
                    <a:lstStyle/>
                    <a:p>
                      <a:pPr marL="0" indent="0">
                        <a:lnSpc>
                          <a:spcPts val="1649"/>
                        </a:lnSpc>
                        <a:buNone/>
                      </a:pPr>
                      <a:r>
                        <a:rPr lang="en-US" sz="1178" dirty="0">
                          <a:solidFill>
                            <a:srgbClr val="10202E"/>
                          </a:solidFill>
                          <a:latin typeface="DM Sans" pitchFamily="34" charset="0"/>
                          <a:ea typeface="DM Sans" pitchFamily="34" charset="-122"/>
                          <a:cs typeface="DM Sans" pitchFamily="34" charset="-120"/>
                        </a:rPr>
                        <a:t>hyper</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14</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$828</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23</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2"/>
                  </a:ext>
                </a:extLst>
              </a:tr>
              <a:tr h="324247">
                <a:tc>
                  <a:txBody>
                    <a:bodyPr/>
                    <a:lstStyle/>
                    <a:p>
                      <a:pPr marL="0" indent="0">
                        <a:lnSpc>
                          <a:spcPts val="1649"/>
                        </a:lnSpc>
                        <a:buNone/>
                      </a:pPr>
                      <a:r>
                        <a:rPr lang="en-US" sz="1178" dirty="0">
                          <a:solidFill>
                            <a:srgbClr val="10202E"/>
                          </a:solidFill>
                          <a:latin typeface="DM Sans" pitchFamily="34" charset="0"/>
                          <a:ea typeface="DM Sans" pitchFamily="34" charset="-122"/>
                          <a:cs typeface="DM Sans" pitchFamily="34" charset="-120"/>
                        </a:rPr>
                        <a:t>sportsandtoys</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3</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$547</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109</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3"/>
                  </a:ext>
                </a:extLst>
              </a:tr>
              <a:tr h="324247">
                <a:tc>
                  <a:txBody>
                    <a:bodyPr/>
                    <a:lstStyle/>
                    <a:p>
                      <a:pPr marL="0" indent="0">
                        <a:lnSpc>
                          <a:spcPts val="1649"/>
                        </a:lnSpc>
                        <a:buNone/>
                      </a:pPr>
                      <a:r>
                        <a:rPr lang="en-US" sz="1178" dirty="0">
                          <a:solidFill>
                            <a:srgbClr val="10202E"/>
                          </a:solidFill>
                          <a:latin typeface="DM Sans" pitchFamily="34" charset="0"/>
                          <a:ea typeface="DM Sans" pitchFamily="34" charset="-122"/>
                          <a:cs typeface="DM Sans" pitchFamily="34" charset="-120"/>
                        </a:rPr>
                        <a:t>barsandrestaurants</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7</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$443</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13</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4"/>
                  </a:ext>
                </a:extLst>
              </a:tr>
              <a:tr h="324247">
                <a:tc>
                  <a:txBody>
                    <a:bodyPr/>
                    <a:lstStyle/>
                    <a:p>
                      <a:pPr marL="0" indent="0">
                        <a:lnSpc>
                          <a:spcPts val="1649"/>
                        </a:lnSpc>
                        <a:buNone/>
                      </a:pPr>
                      <a:r>
                        <a:rPr lang="en-US" sz="1178" dirty="0">
                          <a:solidFill>
                            <a:srgbClr val="10202E"/>
                          </a:solidFill>
                          <a:latin typeface="DM Sans" pitchFamily="34" charset="0"/>
                          <a:ea typeface="DM Sans" pitchFamily="34" charset="-122"/>
                          <a:cs typeface="DM Sans" pitchFamily="34" charset="-120"/>
                        </a:rPr>
                        <a:t>tech</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2</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$388</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25</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5"/>
                  </a:ext>
                </a:extLst>
              </a:tr>
              <a:tr h="324247">
                <a:tc>
                  <a:txBody>
                    <a:bodyPr/>
                    <a:lstStyle/>
                    <a:p>
                      <a:pPr marL="0" indent="0">
                        <a:lnSpc>
                          <a:spcPts val="1649"/>
                        </a:lnSpc>
                        <a:buNone/>
                      </a:pPr>
                      <a:r>
                        <a:rPr lang="en-US" sz="1178" dirty="0">
                          <a:solidFill>
                            <a:srgbClr val="10202E"/>
                          </a:solidFill>
                          <a:latin typeface="DM Sans" pitchFamily="34" charset="0"/>
                          <a:ea typeface="DM Sans" pitchFamily="34" charset="-122"/>
                          <a:cs typeface="DM Sans" pitchFamily="34" charset="-120"/>
                        </a:rPr>
                        <a:t>health</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4</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$366</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649"/>
                        </a:lnSpc>
                        <a:buNone/>
                      </a:pPr>
                      <a:r>
                        <a:rPr lang="en-US" sz="1178" dirty="0">
                          <a:solidFill>
                            <a:srgbClr val="10202E"/>
                          </a:solidFill>
                          <a:latin typeface="DM Sans" pitchFamily="34" charset="0"/>
                          <a:ea typeface="DM Sans" pitchFamily="34" charset="-122"/>
                          <a:cs typeface="DM Sans" pitchFamily="34" charset="-120"/>
                        </a:rPr>
                        <a:t>174</a:t>
                      </a:r>
                      <a:endParaRPr lang="en-US" sz="1178" dirty="0">
                        <a:latin typeface="DM Sans" charset="0"/>
                        <a:ea typeface="DM Sans" charset="0"/>
                        <a:cs typeface="DM Sans" charset="0"/>
                      </a:endParaRPr>
                    </a:p>
                  </a:txBody>
                  <a:tcPr marL="52368" marR="52368" marT="52368" marB="52368">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4" name="Shape 11"/>
          <p:cNvSpPr/>
          <p:nvPr/>
        </p:nvSpPr>
        <p:spPr>
          <a:xfrm>
            <a:off x="8204200" y="2006600"/>
            <a:ext cx="3175000" cy="1502410"/>
          </a:xfrm>
          <a:prstGeom prst="roundRect">
            <a:avLst>
              <a:gd name="adj" fmla="val 8453"/>
            </a:avLst>
          </a:prstGeom>
          <a:solidFill>
            <a:srgbClr val="10202E"/>
          </a:solidFill>
          <a:ln/>
        </p:spPr>
        <p:txBody>
          <a:bodyPr/>
          <a:lstStyle/>
          <a:p>
            <a:endParaRPr lang="en-US"/>
          </a:p>
        </p:txBody>
      </p:sp>
      <p:sp>
        <p:nvSpPr>
          <p:cNvPr id="15" name="Text 12"/>
          <p:cNvSpPr/>
          <p:nvPr/>
        </p:nvSpPr>
        <p:spPr>
          <a:xfrm>
            <a:off x="8382000" y="2184400"/>
            <a:ext cx="290398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ASK THE AUDIENCE</a:t>
            </a:r>
            <a:endParaRPr lang="en-US" sz="1200" dirty="0"/>
          </a:p>
        </p:txBody>
      </p:sp>
      <p:sp>
        <p:nvSpPr>
          <p:cNvPr id="16" name="Text 13"/>
          <p:cNvSpPr/>
          <p:nvPr/>
        </p:nvSpPr>
        <p:spPr>
          <a:xfrm>
            <a:off x="8382000" y="2473958"/>
            <a:ext cx="2903982" cy="882650"/>
          </a:xfrm>
          <a:prstGeom prst="rect">
            <a:avLst/>
          </a:prstGeom>
          <a:noFill/>
          <a:ln/>
        </p:spPr>
        <p:txBody>
          <a:bodyPr wrap="square" lIns="0" tIns="0" rIns="0" bIns="0" rtlCol="0" anchor="t">
            <a:normAutofit/>
          </a:bodyPr>
          <a:lstStyle/>
          <a:p>
            <a:pPr marL="0" indent="0" algn="l">
              <a:lnSpc>
                <a:spcPts val="2250"/>
              </a:lnSpc>
              <a:buNone/>
            </a:pPr>
            <a:r>
              <a:rPr lang="en-US" sz="1800" i="1" dirty="0">
                <a:solidFill>
                  <a:srgbClr val="F5F2EC"/>
                </a:solidFill>
                <a:latin typeface="DM Sans" pitchFamily="34" charset="0"/>
                <a:ea typeface="DM Sans" pitchFamily="34" charset="-122"/>
                <a:cs typeface="DM Sans" pitchFamily="34" charset="-120"/>
              </a:rPr>
              <a:t>Is it worse to miss fraud, or to interrupt an honest customer?</a:t>
            </a:r>
            <a:endParaRPr lang="en-US" sz="1800" dirty="0"/>
          </a:p>
        </p:txBody>
      </p:sp>
      <p:sp>
        <p:nvSpPr>
          <p:cNvPr id="17" name="Shape 14"/>
          <p:cNvSpPr/>
          <p:nvPr/>
        </p:nvSpPr>
        <p:spPr>
          <a:xfrm>
            <a:off x="8210550" y="3642358"/>
            <a:ext cx="3162300" cy="738505"/>
          </a:xfrm>
          <a:prstGeom prst="roundRect">
            <a:avLst>
              <a:gd name="adj" fmla="val 12898"/>
            </a:avLst>
          </a:prstGeom>
          <a:solidFill>
            <a:srgbClr val="FBF9F5"/>
          </a:solidFill>
          <a:ln w="12700">
            <a:solidFill>
              <a:srgbClr val="DAD4C8"/>
            </a:solidFill>
            <a:prstDash val="solid"/>
          </a:ln>
        </p:spPr>
        <p:txBody>
          <a:bodyPr/>
          <a:lstStyle/>
          <a:p>
            <a:endParaRPr lang="en-US"/>
          </a:p>
        </p:txBody>
      </p:sp>
      <p:sp>
        <p:nvSpPr>
          <p:cNvPr id="18" name="Text 15"/>
          <p:cNvSpPr/>
          <p:nvPr/>
        </p:nvSpPr>
        <p:spPr>
          <a:xfrm>
            <a:off x="8366760" y="3773177"/>
            <a:ext cx="2935377"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MEDIAN AMOUNT</a:t>
            </a:r>
            <a:endParaRPr lang="en-US" sz="1200" dirty="0"/>
          </a:p>
        </p:txBody>
      </p:sp>
      <p:sp>
        <p:nvSpPr>
          <p:cNvPr id="19" name="Text 16"/>
          <p:cNvSpPr/>
          <p:nvPr/>
        </p:nvSpPr>
        <p:spPr>
          <a:xfrm>
            <a:off x="8366760" y="4011935"/>
            <a:ext cx="2935377" cy="263525"/>
          </a:xfrm>
          <a:prstGeom prst="rect">
            <a:avLst/>
          </a:prstGeom>
          <a:noFill/>
          <a:ln/>
        </p:spPr>
        <p:txBody>
          <a:bodyPr wrap="square" lIns="0" tIns="0" rIns="0" bIns="0" rtlCol="0" anchor="t">
            <a:normAutofit/>
          </a:bodyPr>
          <a:lstStyle/>
          <a:p>
            <a:pPr marL="0" indent="0" algn="l">
              <a:lnSpc>
                <a:spcPts val="1875"/>
              </a:lnSpc>
              <a:buNone/>
            </a:pPr>
            <a:r>
              <a:rPr lang="en-US" sz="1500" b="1" dirty="0">
                <a:solidFill>
                  <a:srgbClr val="C2410C"/>
                </a:solidFill>
                <a:latin typeface="DM Sans" pitchFamily="34" charset="0"/>
                <a:ea typeface="DM Sans" pitchFamily="34" charset="-122"/>
                <a:cs typeface="DM Sans" pitchFamily="34" charset="-120"/>
              </a:rPr>
              <a:t>$65</a:t>
            </a:r>
            <a:r>
              <a:rPr lang="en-US" sz="1500" dirty="0">
                <a:solidFill>
                  <a:srgbClr val="10202E"/>
                </a:solidFill>
                <a:latin typeface="DM Sans" pitchFamily="34" charset="0"/>
                <a:ea typeface="DM Sans" pitchFamily="34" charset="-122"/>
                <a:cs typeface="DM Sans" pitchFamily="34" charset="-120"/>
              </a:rPr>
              <a:t> missed vs </a:t>
            </a:r>
            <a:r>
              <a:rPr lang="en-US" sz="1500" b="1" dirty="0">
                <a:solidFill>
                  <a:srgbClr val="1D6A96"/>
                </a:solidFill>
                <a:latin typeface="DM Sans" pitchFamily="34" charset="0"/>
                <a:ea typeface="DM Sans" pitchFamily="34" charset="-122"/>
                <a:cs typeface="DM Sans" pitchFamily="34" charset="-120"/>
              </a:rPr>
              <a:t>$336</a:t>
            </a:r>
            <a:r>
              <a:rPr lang="en-US" sz="1500" dirty="0">
                <a:solidFill>
                  <a:srgbClr val="10202E"/>
                </a:solidFill>
                <a:latin typeface="DM Sans" pitchFamily="34" charset="0"/>
                <a:ea typeface="DM Sans" pitchFamily="34" charset="-122"/>
                <a:cs typeface="DM Sans" pitchFamily="34" charset="-120"/>
              </a:rPr>
              <a:t> caught</a:t>
            </a:r>
            <a:endParaRPr lang="en-US" sz="1500" dirty="0"/>
          </a:p>
        </p:txBody>
      </p:sp>
      <p:sp>
        <p:nvSpPr>
          <p:cNvPr id="20" name="Shape 17"/>
          <p:cNvSpPr/>
          <p:nvPr/>
        </p:nvSpPr>
        <p:spPr>
          <a:xfrm>
            <a:off x="8223250" y="4514217"/>
            <a:ext cx="0" cy="694690"/>
          </a:xfrm>
          <a:prstGeom prst="line">
            <a:avLst/>
          </a:prstGeom>
          <a:noFill/>
          <a:ln w="38100">
            <a:solidFill>
              <a:srgbClr val="1D6A96"/>
            </a:solidFill>
            <a:prstDash val="solid"/>
          </a:ln>
        </p:spPr>
        <p:txBody>
          <a:bodyPr/>
          <a:lstStyle/>
          <a:p>
            <a:endParaRPr lang="en-US"/>
          </a:p>
        </p:txBody>
      </p:sp>
      <p:sp>
        <p:nvSpPr>
          <p:cNvPr id="21" name="Text 18"/>
          <p:cNvSpPr/>
          <p:nvPr/>
        </p:nvSpPr>
        <p:spPr>
          <a:xfrm>
            <a:off x="8392160" y="4539617"/>
            <a:ext cx="3076651" cy="66929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D6A96"/>
                </a:solidFill>
                <a:latin typeface="DM Sans" pitchFamily="34" charset="0"/>
                <a:ea typeface="DM Sans" pitchFamily="34" charset="-122"/>
                <a:cs typeface="DM Sans" pitchFamily="34" charset="-120"/>
              </a:rPr>
              <a:t>Takeaway:</a:t>
            </a:r>
            <a:r>
              <a:rPr lang="en-US" sz="1300" dirty="0">
                <a:solidFill>
                  <a:srgbClr val="10202E"/>
                </a:solidFill>
                <a:latin typeface="DM Sans" pitchFamily="34" charset="0"/>
                <a:ea typeface="DM Sans" pitchFamily="34" charset="-122"/>
                <a:cs typeface="DM Sans" pitchFamily="34" charset="-120"/>
              </a:rPr>
              <a:t> The model misses mainly small frauds, and every alert costs review time.</a:t>
            </a:r>
            <a:endParaRPr lang="en-US" sz="1300" dirty="0"/>
          </a:p>
        </p:txBody>
      </p:sp>
      <p:sp>
        <p:nvSpPr>
          <p:cNvPr id="22" name="Text 19"/>
          <p:cNvSpPr/>
          <p:nvPr/>
        </p:nvSpPr>
        <p:spPr>
          <a:xfrm>
            <a:off x="812800" y="6238242"/>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§6.1 · SVM at the cost-optimal threshold</a:t>
            </a:r>
            <a:endParaRPr lang="en-US" sz="1200" dirty="0"/>
          </a:p>
        </p:txBody>
      </p:sp>
      <p:sp>
        <p:nvSpPr>
          <p:cNvPr id="23" name="Text 20"/>
          <p:cNvSpPr/>
          <p:nvPr/>
        </p:nvSpPr>
        <p:spPr>
          <a:xfrm>
            <a:off x="5675884" y="6238242"/>
            <a:ext cx="57033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(16) </a:t>
            </a:r>
            <a:r>
              <a:rPr lang="en-US" sz="1200" dirty="0">
                <a:solidFill>
                  <a:srgbClr val="54606C"/>
                </a:solidFill>
                <a:latin typeface="DM Sans" pitchFamily="34" charset="0"/>
                <a:ea typeface="DM Sans" pitchFamily="34" charset="-122"/>
                <a:cs typeface="DM Sans" pitchFamily="34" charset="-120"/>
              </a:rPr>
              <a:t>Next → Does better prediction actually save money?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III · FINANCIAL IMPACT · TEST</a:t>
            </a:r>
            <a:endParaRPr lang="en-US" sz="1200" dirty="0"/>
          </a:p>
        </p:txBody>
      </p:sp>
      <p:sp>
        <p:nvSpPr>
          <p:cNvPr id="3" name="Text 1"/>
          <p:cNvSpPr>
            <a:spLocks noGrp="1"/>
          </p:cNvSpPr>
          <p:nvPr>
            <p:ph type="title"/>
          </p:nvPr>
        </p:nvSpPr>
        <p:spPr>
          <a:xfrm>
            <a:off x="812800" y="1102358"/>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Does Better Prediction Actually Save More Money?</a:t>
            </a:r>
            <a:endParaRPr lang="en-US" sz="2600" dirty="0"/>
          </a:p>
        </p:txBody>
      </p:sp>
      <p:sp>
        <p:nvSpPr>
          <p:cNvPr id="4" name="Shape 2"/>
          <p:cNvSpPr/>
          <p:nvPr/>
        </p:nvSpPr>
        <p:spPr>
          <a:xfrm>
            <a:off x="819150" y="1649735"/>
            <a:ext cx="7124700" cy="4185920"/>
          </a:xfrm>
          <a:prstGeom prst="roundRect">
            <a:avLst>
              <a:gd name="adj" fmla="val 2882"/>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1000760" y="1805942"/>
            <a:ext cx="6964325"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NET SAVINGS ON TEST, $5 PER ALERT</a:t>
            </a:r>
            <a:endParaRPr lang="en-US" sz="1200" dirty="0"/>
          </a:p>
        </p:txBody>
      </p:sp>
      <p:sp>
        <p:nvSpPr>
          <p:cNvPr id="6" name="Text 4"/>
          <p:cNvSpPr/>
          <p:nvPr/>
        </p:nvSpPr>
        <p:spPr>
          <a:xfrm>
            <a:off x="1000760" y="2113285"/>
            <a:ext cx="1257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202E"/>
                </a:solidFill>
                <a:latin typeface="DM Sans" pitchFamily="34" charset="0"/>
                <a:ea typeface="DM Sans" pitchFamily="34" charset="-122"/>
                <a:cs typeface="DM Sans" pitchFamily="34" charset="-120"/>
              </a:rPr>
              <a:t>SVM (RBF)</a:t>
            </a:r>
            <a:endParaRPr lang="en-US" sz="1300" dirty="0"/>
          </a:p>
        </p:txBody>
      </p:sp>
      <p:sp>
        <p:nvSpPr>
          <p:cNvPr id="7" name="Shape 5"/>
          <p:cNvSpPr/>
          <p:nvPr/>
        </p:nvSpPr>
        <p:spPr>
          <a:xfrm>
            <a:off x="2296160" y="2108200"/>
            <a:ext cx="2622550" cy="241300"/>
          </a:xfrm>
          <a:prstGeom prst="roundRect">
            <a:avLst>
              <a:gd name="adj" fmla="val 10526"/>
            </a:avLst>
          </a:prstGeom>
          <a:solidFill>
            <a:srgbClr val="1D6A96"/>
          </a:solidFill>
          <a:ln/>
        </p:spPr>
        <p:txBody>
          <a:bodyPr/>
          <a:lstStyle/>
          <a:p>
            <a:endParaRPr lang="en-US"/>
          </a:p>
        </p:txBody>
      </p:sp>
      <p:sp>
        <p:nvSpPr>
          <p:cNvPr id="8" name="Text 6"/>
          <p:cNvSpPr/>
          <p:nvPr/>
        </p:nvSpPr>
        <p:spPr>
          <a:xfrm>
            <a:off x="5007610" y="2113285"/>
            <a:ext cx="8763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0202E"/>
                </a:solidFill>
                <a:latin typeface="DM Sans" pitchFamily="34" charset="0"/>
                <a:ea typeface="DM Sans" pitchFamily="34" charset="-122"/>
                <a:cs typeface="DM Sans" pitchFamily="34" charset="-120"/>
              </a:rPr>
              <a:t>$589,769</a:t>
            </a:r>
            <a:endParaRPr lang="en-US" sz="1300" dirty="0"/>
          </a:p>
        </p:txBody>
      </p:sp>
      <p:sp>
        <p:nvSpPr>
          <p:cNvPr id="9" name="Text 7"/>
          <p:cNvSpPr/>
          <p:nvPr/>
        </p:nvSpPr>
        <p:spPr>
          <a:xfrm>
            <a:off x="5922010" y="2122177"/>
            <a:ext cx="77885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A96"/>
                </a:solidFill>
                <a:latin typeface="DM Sans" pitchFamily="34" charset="0"/>
                <a:ea typeface="DM Sans" pitchFamily="34" charset="-122"/>
                <a:cs typeface="DM Sans" pitchFamily="34" charset="-120"/>
              </a:rPr>
              <a:t>+$16,075</a:t>
            </a:r>
            <a:endParaRPr lang="en-US" sz="1200" dirty="0"/>
          </a:p>
        </p:txBody>
      </p:sp>
      <p:sp>
        <p:nvSpPr>
          <p:cNvPr id="10" name="Text 8"/>
          <p:cNvSpPr/>
          <p:nvPr/>
        </p:nvSpPr>
        <p:spPr>
          <a:xfrm>
            <a:off x="1000760" y="2443485"/>
            <a:ext cx="1257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0202E"/>
                </a:solidFill>
                <a:latin typeface="DM Sans" pitchFamily="34" charset="0"/>
                <a:ea typeface="DM Sans" pitchFamily="34" charset="-122"/>
                <a:cs typeface="DM Sans" pitchFamily="34" charset="-120"/>
              </a:rPr>
              <a:t>Logistic</a:t>
            </a:r>
            <a:endParaRPr lang="en-US" sz="1300" dirty="0"/>
          </a:p>
        </p:txBody>
      </p:sp>
      <p:sp>
        <p:nvSpPr>
          <p:cNvPr id="11" name="Shape 9"/>
          <p:cNvSpPr/>
          <p:nvPr/>
        </p:nvSpPr>
        <p:spPr>
          <a:xfrm>
            <a:off x="2296160" y="2438400"/>
            <a:ext cx="2616200" cy="241300"/>
          </a:xfrm>
          <a:prstGeom prst="roundRect">
            <a:avLst>
              <a:gd name="adj" fmla="val 10526"/>
            </a:avLst>
          </a:prstGeom>
          <a:solidFill>
            <a:srgbClr val="1D6A96">
              <a:alpha val="60000"/>
            </a:srgbClr>
          </a:solidFill>
          <a:ln/>
        </p:spPr>
        <p:txBody>
          <a:bodyPr/>
          <a:lstStyle/>
          <a:p>
            <a:endParaRPr lang="en-US"/>
          </a:p>
        </p:txBody>
      </p:sp>
      <p:sp>
        <p:nvSpPr>
          <p:cNvPr id="12" name="Text 10"/>
          <p:cNvSpPr/>
          <p:nvPr/>
        </p:nvSpPr>
        <p:spPr>
          <a:xfrm>
            <a:off x="5001260" y="2443485"/>
            <a:ext cx="876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0202E"/>
                </a:solidFill>
                <a:latin typeface="DM Sans" pitchFamily="34" charset="0"/>
                <a:ea typeface="DM Sans" pitchFamily="34" charset="-122"/>
                <a:cs typeface="DM Sans" pitchFamily="34" charset="-120"/>
              </a:rPr>
              <a:t>$588,836</a:t>
            </a:r>
            <a:endParaRPr lang="en-US" sz="1300" dirty="0"/>
          </a:p>
        </p:txBody>
      </p:sp>
      <p:sp>
        <p:nvSpPr>
          <p:cNvPr id="13" name="Text 11"/>
          <p:cNvSpPr/>
          <p:nvPr/>
        </p:nvSpPr>
        <p:spPr>
          <a:xfrm>
            <a:off x="5915660" y="2452377"/>
            <a:ext cx="6819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6A96"/>
                </a:solidFill>
                <a:latin typeface="DM Sans" pitchFamily="34" charset="0"/>
                <a:ea typeface="DM Sans" pitchFamily="34" charset="-122"/>
                <a:cs typeface="DM Sans" pitchFamily="34" charset="-120"/>
              </a:rPr>
              <a:t>+$15,142</a:t>
            </a:r>
            <a:endParaRPr lang="en-US" sz="1200" dirty="0"/>
          </a:p>
        </p:txBody>
      </p:sp>
      <p:sp>
        <p:nvSpPr>
          <p:cNvPr id="14" name="Text 12"/>
          <p:cNvSpPr/>
          <p:nvPr/>
        </p:nvSpPr>
        <p:spPr>
          <a:xfrm>
            <a:off x="1000760" y="2773685"/>
            <a:ext cx="1257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0202E"/>
                </a:solidFill>
                <a:latin typeface="DM Sans" pitchFamily="34" charset="0"/>
                <a:ea typeface="DM Sans" pitchFamily="34" charset="-122"/>
                <a:cs typeface="DM Sans" pitchFamily="34" charset="-120"/>
              </a:rPr>
              <a:t>Decision Tree</a:t>
            </a:r>
            <a:endParaRPr lang="en-US" sz="1300" dirty="0"/>
          </a:p>
        </p:txBody>
      </p:sp>
      <p:sp>
        <p:nvSpPr>
          <p:cNvPr id="15" name="Shape 13"/>
          <p:cNvSpPr/>
          <p:nvPr/>
        </p:nvSpPr>
        <p:spPr>
          <a:xfrm>
            <a:off x="2296160" y="2768600"/>
            <a:ext cx="2597150" cy="241300"/>
          </a:xfrm>
          <a:prstGeom prst="roundRect">
            <a:avLst>
              <a:gd name="adj" fmla="val 10526"/>
            </a:avLst>
          </a:prstGeom>
          <a:solidFill>
            <a:srgbClr val="1D6A96">
              <a:alpha val="60000"/>
            </a:srgbClr>
          </a:solidFill>
          <a:ln/>
        </p:spPr>
        <p:txBody>
          <a:bodyPr/>
          <a:lstStyle/>
          <a:p>
            <a:endParaRPr lang="en-US"/>
          </a:p>
        </p:txBody>
      </p:sp>
      <p:sp>
        <p:nvSpPr>
          <p:cNvPr id="16" name="Text 14"/>
          <p:cNvSpPr/>
          <p:nvPr/>
        </p:nvSpPr>
        <p:spPr>
          <a:xfrm>
            <a:off x="4982210" y="2773685"/>
            <a:ext cx="876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0202E"/>
                </a:solidFill>
                <a:latin typeface="DM Sans" pitchFamily="34" charset="0"/>
                <a:ea typeface="DM Sans" pitchFamily="34" charset="-122"/>
                <a:cs typeface="DM Sans" pitchFamily="34" charset="-120"/>
              </a:rPr>
              <a:t>$584,697</a:t>
            </a:r>
            <a:endParaRPr lang="en-US" sz="1300" dirty="0"/>
          </a:p>
        </p:txBody>
      </p:sp>
      <p:sp>
        <p:nvSpPr>
          <p:cNvPr id="17" name="Text 15"/>
          <p:cNvSpPr/>
          <p:nvPr/>
        </p:nvSpPr>
        <p:spPr>
          <a:xfrm>
            <a:off x="5896610" y="2782577"/>
            <a:ext cx="71237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D6A96"/>
                </a:solidFill>
                <a:latin typeface="DM Sans" pitchFamily="34" charset="0"/>
                <a:ea typeface="DM Sans" pitchFamily="34" charset="-122"/>
                <a:cs typeface="DM Sans" pitchFamily="34" charset="-120"/>
              </a:rPr>
              <a:t>+$11,003</a:t>
            </a:r>
            <a:endParaRPr lang="en-US" sz="1200" dirty="0"/>
          </a:p>
        </p:txBody>
      </p:sp>
      <p:sp>
        <p:nvSpPr>
          <p:cNvPr id="18" name="Text 16"/>
          <p:cNvSpPr/>
          <p:nvPr/>
        </p:nvSpPr>
        <p:spPr>
          <a:xfrm>
            <a:off x="1000760" y="3103885"/>
            <a:ext cx="1257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Price rule</a:t>
            </a:r>
            <a:endParaRPr lang="en-US" sz="1300" dirty="0"/>
          </a:p>
        </p:txBody>
      </p:sp>
      <p:sp>
        <p:nvSpPr>
          <p:cNvPr id="19" name="Shape 17"/>
          <p:cNvSpPr/>
          <p:nvPr/>
        </p:nvSpPr>
        <p:spPr>
          <a:xfrm>
            <a:off x="2296160" y="3098800"/>
            <a:ext cx="2552700" cy="241300"/>
          </a:xfrm>
          <a:prstGeom prst="roundRect">
            <a:avLst>
              <a:gd name="adj" fmla="val 10526"/>
            </a:avLst>
          </a:prstGeom>
          <a:solidFill>
            <a:srgbClr val="8B95A0"/>
          </a:solidFill>
          <a:ln/>
        </p:spPr>
        <p:txBody>
          <a:bodyPr/>
          <a:lstStyle/>
          <a:p>
            <a:endParaRPr lang="en-US"/>
          </a:p>
        </p:txBody>
      </p:sp>
      <p:sp>
        <p:nvSpPr>
          <p:cNvPr id="20" name="Text 18"/>
          <p:cNvSpPr/>
          <p:nvPr/>
        </p:nvSpPr>
        <p:spPr>
          <a:xfrm>
            <a:off x="4937760" y="3103885"/>
            <a:ext cx="876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$573,694</a:t>
            </a:r>
            <a:endParaRPr lang="en-US" sz="1300" dirty="0"/>
          </a:p>
        </p:txBody>
      </p:sp>
      <p:sp>
        <p:nvSpPr>
          <p:cNvPr id="21" name="Text 19"/>
          <p:cNvSpPr/>
          <p:nvPr/>
        </p:nvSpPr>
        <p:spPr>
          <a:xfrm>
            <a:off x="5852160" y="3112777"/>
            <a:ext cx="9554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benchmark</a:t>
            </a:r>
            <a:endParaRPr lang="en-US" sz="1200" dirty="0"/>
          </a:p>
        </p:txBody>
      </p:sp>
      <p:sp>
        <p:nvSpPr>
          <p:cNvPr id="22" name="Text 20"/>
          <p:cNvSpPr/>
          <p:nvPr/>
        </p:nvSpPr>
        <p:spPr>
          <a:xfrm>
            <a:off x="1000760" y="3434085"/>
            <a:ext cx="1257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Category rule</a:t>
            </a:r>
            <a:endParaRPr lang="en-US" sz="1300" dirty="0"/>
          </a:p>
        </p:txBody>
      </p:sp>
      <p:sp>
        <p:nvSpPr>
          <p:cNvPr id="23" name="Shape 21"/>
          <p:cNvSpPr/>
          <p:nvPr/>
        </p:nvSpPr>
        <p:spPr>
          <a:xfrm>
            <a:off x="2296160" y="3429000"/>
            <a:ext cx="2444750" cy="241300"/>
          </a:xfrm>
          <a:prstGeom prst="roundRect">
            <a:avLst>
              <a:gd name="adj" fmla="val 10526"/>
            </a:avLst>
          </a:prstGeom>
          <a:solidFill>
            <a:srgbClr val="8B95A0"/>
          </a:solidFill>
          <a:ln/>
        </p:spPr>
        <p:txBody>
          <a:bodyPr/>
          <a:lstStyle/>
          <a:p>
            <a:endParaRPr lang="en-US"/>
          </a:p>
        </p:txBody>
      </p:sp>
      <p:sp>
        <p:nvSpPr>
          <p:cNvPr id="24" name="Text 22"/>
          <p:cNvSpPr/>
          <p:nvPr/>
        </p:nvSpPr>
        <p:spPr>
          <a:xfrm>
            <a:off x="4829810" y="3434085"/>
            <a:ext cx="8763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4606C"/>
                </a:solidFill>
                <a:latin typeface="DM Sans" pitchFamily="34" charset="0"/>
                <a:ea typeface="DM Sans" pitchFamily="34" charset="-122"/>
                <a:cs typeface="DM Sans" pitchFamily="34" charset="-120"/>
              </a:rPr>
              <a:t>$549,856</a:t>
            </a:r>
            <a:endParaRPr lang="en-US" sz="1300" dirty="0"/>
          </a:p>
        </p:txBody>
      </p:sp>
      <p:sp>
        <p:nvSpPr>
          <p:cNvPr id="25" name="Text 23"/>
          <p:cNvSpPr/>
          <p:nvPr/>
        </p:nvSpPr>
        <p:spPr>
          <a:xfrm>
            <a:off x="5744210" y="3442977"/>
            <a:ext cx="78390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2410C"/>
                </a:solidFill>
                <a:latin typeface="DM Sans" pitchFamily="34" charset="0"/>
                <a:ea typeface="DM Sans" pitchFamily="34" charset="-122"/>
                <a:cs typeface="DM Sans" pitchFamily="34" charset="-120"/>
              </a:rPr>
              <a:t>−$23,838</a:t>
            </a:r>
            <a:endParaRPr lang="en-US" sz="1200" dirty="0"/>
          </a:p>
        </p:txBody>
      </p:sp>
      <p:sp>
        <p:nvSpPr>
          <p:cNvPr id="26" name="Text 24"/>
          <p:cNvSpPr/>
          <p:nvPr/>
        </p:nvSpPr>
        <p:spPr>
          <a:xfrm>
            <a:off x="1000760" y="3759200"/>
            <a:ext cx="696432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Bars on a $0–$800,000 scale. Right column: difference from the price rule.</a:t>
            </a:r>
            <a:endParaRPr lang="en-US" sz="1200" dirty="0"/>
          </a:p>
        </p:txBody>
      </p:sp>
      <p:sp>
        <p:nvSpPr>
          <p:cNvPr id="27" name="Shape 25"/>
          <p:cNvSpPr/>
          <p:nvPr/>
        </p:nvSpPr>
        <p:spPr>
          <a:xfrm>
            <a:off x="1000760" y="4061458"/>
            <a:ext cx="6761480" cy="688340"/>
          </a:xfrm>
          <a:prstGeom prst="roundRect">
            <a:avLst>
              <a:gd name="adj" fmla="val 12915"/>
            </a:avLst>
          </a:prstGeom>
          <a:solidFill>
            <a:srgbClr val="10202E"/>
          </a:solidFill>
          <a:ln/>
        </p:spPr>
        <p:txBody>
          <a:bodyPr/>
          <a:lstStyle/>
          <a:p>
            <a:endParaRPr lang="en-US"/>
          </a:p>
        </p:txBody>
      </p:sp>
      <p:sp>
        <p:nvSpPr>
          <p:cNvPr id="28" name="Text 26"/>
          <p:cNvSpPr/>
          <p:nvPr/>
        </p:nvSpPr>
        <p:spPr>
          <a:xfrm>
            <a:off x="1140460" y="4163058"/>
            <a:ext cx="667654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5F2EC"/>
                </a:solidFill>
                <a:latin typeface="DM Sans" pitchFamily="34" charset="0"/>
                <a:ea typeface="DM Sans" pitchFamily="34" charset="-122"/>
                <a:cs typeface="DM Sans" pitchFamily="34" charset="-120"/>
              </a:rPr>
              <a:t>Net Saved = Prevented Fraud Value − Review Cost</a:t>
            </a:r>
            <a:endParaRPr lang="en-US" sz="1400" dirty="0"/>
          </a:p>
        </p:txBody>
      </p:sp>
      <p:sp>
        <p:nvSpPr>
          <p:cNvPr id="29" name="Text 27"/>
          <p:cNvSpPr/>
          <p:nvPr/>
        </p:nvSpPr>
        <p:spPr>
          <a:xfrm>
            <a:off x="1140460" y="4450085"/>
            <a:ext cx="667654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AEBBC7"/>
                </a:solidFill>
                <a:latin typeface="DM Sans" pitchFamily="34" charset="0"/>
                <a:ea typeface="DM Sans" pitchFamily="34" charset="-122"/>
                <a:cs typeface="DM Sans" pitchFamily="34" charset="-120"/>
              </a:rPr>
              <a:t>Assumes $5 per alert and 100% of flagged fraud prevented. A simulation, not realized profit.</a:t>
            </a:r>
            <a:endParaRPr lang="en-US" sz="1200" dirty="0"/>
          </a:p>
        </p:txBody>
      </p:sp>
      <p:sp>
        <p:nvSpPr>
          <p:cNvPr id="30" name="Shape 28"/>
          <p:cNvSpPr/>
          <p:nvPr/>
        </p:nvSpPr>
        <p:spPr>
          <a:xfrm>
            <a:off x="8210550" y="1649735"/>
            <a:ext cx="3162300" cy="1113790"/>
          </a:xfrm>
          <a:prstGeom prst="roundRect">
            <a:avLst>
              <a:gd name="adj" fmla="val 10832"/>
            </a:avLst>
          </a:prstGeom>
          <a:solidFill>
            <a:srgbClr val="FBF9F5"/>
          </a:solidFill>
          <a:ln w="12700">
            <a:solidFill>
              <a:srgbClr val="DAD4C8"/>
            </a:solidFill>
            <a:prstDash val="solid"/>
          </a:ln>
        </p:spPr>
        <p:txBody>
          <a:bodyPr/>
          <a:lstStyle/>
          <a:p>
            <a:endParaRPr lang="en-US"/>
          </a:p>
        </p:txBody>
      </p:sp>
      <p:sp>
        <p:nvSpPr>
          <p:cNvPr id="31" name="Text 29"/>
          <p:cNvSpPr/>
          <p:nvPr/>
        </p:nvSpPr>
        <p:spPr>
          <a:xfrm>
            <a:off x="8392160" y="1780542"/>
            <a:ext cx="2883053"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POTENTIAL FRAUD LOSS</a:t>
            </a:r>
            <a:endParaRPr lang="en-US" sz="1200" dirty="0"/>
          </a:p>
        </p:txBody>
      </p:sp>
      <p:sp>
        <p:nvSpPr>
          <p:cNvPr id="32" name="Text 30"/>
          <p:cNvSpPr/>
          <p:nvPr/>
        </p:nvSpPr>
        <p:spPr>
          <a:xfrm>
            <a:off x="8392160" y="2006600"/>
            <a:ext cx="2883053" cy="425450"/>
          </a:xfrm>
          <a:prstGeom prst="rect">
            <a:avLst/>
          </a:prstGeom>
          <a:noFill/>
          <a:ln/>
        </p:spPr>
        <p:txBody>
          <a:bodyPr wrap="square" lIns="0" tIns="0" rIns="0" bIns="0" rtlCol="0" anchor="t">
            <a:normAutofit/>
          </a:bodyPr>
          <a:lstStyle/>
          <a:p>
            <a:pPr marL="0" indent="0" algn="l">
              <a:lnSpc>
                <a:spcPts val="3150"/>
              </a:lnSpc>
              <a:buNone/>
            </a:pPr>
            <a:r>
              <a:rPr lang="en-US" sz="3000" b="1" dirty="0">
                <a:solidFill>
                  <a:srgbClr val="C2410C"/>
                </a:solidFill>
                <a:latin typeface="DM Sans" pitchFamily="34" charset="0"/>
                <a:ea typeface="DM Sans" pitchFamily="34" charset="-122"/>
                <a:cs typeface="DM Sans" pitchFamily="34" charset="-120"/>
              </a:rPr>
              <a:t>$601,463</a:t>
            </a:r>
            <a:endParaRPr lang="en-US" sz="3000" dirty="0"/>
          </a:p>
        </p:txBody>
      </p:sp>
      <p:sp>
        <p:nvSpPr>
          <p:cNvPr id="33" name="Text 31"/>
          <p:cNvSpPr/>
          <p:nvPr/>
        </p:nvSpPr>
        <p:spPr>
          <a:xfrm>
            <a:off x="8392160" y="2419350"/>
            <a:ext cx="28830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with no detection · Test</a:t>
            </a:r>
            <a:endParaRPr lang="en-US" sz="1200" dirty="0"/>
          </a:p>
        </p:txBody>
      </p:sp>
      <p:sp>
        <p:nvSpPr>
          <p:cNvPr id="34" name="Shape 32"/>
          <p:cNvSpPr/>
          <p:nvPr/>
        </p:nvSpPr>
        <p:spPr>
          <a:xfrm>
            <a:off x="8204200" y="2896877"/>
            <a:ext cx="3175000" cy="1106170"/>
          </a:xfrm>
          <a:prstGeom prst="roundRect">
            <a:avLst>
              <a:gd name="adj" fmla="val 11481"/>
            </a:avLst>
          </a:prstGeom>
          <a:solidFill>
            <a:srgbClr val="10202E"/>
          </a:solidFill>
          <a:ln/>
        </p:spPr>
        <p:txBody>
          <a:bodyPr/>
          <a:lstStyle/>
          <a:p>
            <a:endParaRPr lang="en-US"/>
          </a:p>
        </p:txBody>
      </p:sp>
      <p:sp>
        <p:nvSpPr>
          <p:cNvPr id="35" name="Text 33"/>
          <p:cNvSpPr/>
          <p:nvPr/>
        </p:nvSpPr>
        <p:spPr>
          <a:xfrm>
            <a:off x="8382000" y="3023877"/>
            <a:ext cx="290398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SVM NET SAVINGS</a:t>
            </a:r>
            <a:endParaRPr lang="en-US" sz="1200" dirty="0"/>
          </a:p>
        </p:txBody>
      </p:sp>
      <p:sp>
        <p:nvSpPr>
          <p:cNvPr id="36" name="Text 34"/>
          <p:cNvSpPr/>
          <p:nvPr/>
        </p:nvSpPr>
        <p:spPr>
          <a:xfrm>
            <a:off x="8382000" y="3249935"/>
            <a:ext cx="2903982" cy="425450"/>
          </a:xfrm>
          <a:prstGeom prst="rect">
            <a:avLst/>
          </a:prstGeom>
          <a:noFill/>
          <a:ln/>
        </p:spPr>
        <p:txBody>
          <a:bodyPr wrap="square" lIns="0" tIns="0" rIns="0" bIns="0" rtlCol="0" anchor="t">
            <a:normAutofit/>
          </a:bodyPr>
          <a:lstStyle/>
          <a:p>
            <a:pPr marL="0" indent="0" algn="l">
              <a:lnSpc>
                <a:spcPts val="3150"/>
              </a:lnSpc>
              <a:buNone/>
            </a:pPr>
            <a:r>
              <a:rPr lang="en-US" sz="3000" b="1" dirty="0">
                <a:solidFill>
                  <a:srgbClr val="6FC1EA"/>
                </a:solidFill>
                <a:latin typeface="DM Sans" pitchFamily="34" charset="0"/>
                <a:ea typeface="DM Sans" pitchFamily="34" charset="-122"/>
                <a:cs typeface="DM Sans" pitchFamily="34" charset="-120"/>
              </a:rPr>
              <a:t>$589,769</a:t>
            </a:r>
            <a:endParaRPr lang="en-US" sz="3000" dirty="0"/>
          </a:p>
        </p:txBody>
      </p:sp>
      <p:sp>
        <p:nvSpPr>
          <p:cNvPr id="37" name="Text 35"/>
          <p:cNvSpPr/>
          <p:nvPr/>
        </p:nvSpPr>
        <p:spPr>
          <a:xfrm>
            <a:off x="8382000" y="3662685"/>
            <a:ext cx="290398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1,831 alerts · 98.1% of loss</a:t>
            </a:r>
            <a:endParaRPr lang="en-US" sz="1200" dirty="0"/>
          </a:p>
        </p:txBody>
      </p:sp>
      <p:sp>
        <p:nvSpPr>
          <p:cNvPr id="38" name="Shape 36"/>
          <p:cNvSpPr/>
          <p:nvPr/>
        </p:nvSpPr>
        <p:spPr>
          <a:xfrm>
            <a:off x="8223250" y="4130042"/>
            <a:ext cx="0" cy="1129030"/>
          </a:xfrm>
          <a:prstGeom prst="line">
            <a:avLst/>
          </a:prstGeom>
          <a:noFill/>
          <a:ln w="38100">
            <a:solidFill>
              <a:srgbClr val="1D6A96"/>
            </a:solidFill>
            <a:prstDash val="solid"/>
          </a:ln>
        </p:spPr>
        <p:txBody>
          <a:bodyPr/>
          <a:lstStyle/>
          <a:p>
            <a:endParaRPr lang="en-US"/>
          </a:p>
        </p:txBody>
      </p:sp>
      <p:sp>
        <p:nvSpPr>
          <p:cNvPr id="39" name="Text 37"/>
          <p:cNvSpPr/>
          <p:nvPr/>
        </p:nvSpPr>
        <p:spPr>
          <a:xfrm>
            <a:off x="8392160" y="4155442"/>
            <a:ext cx="3076651" cy="669290"/>
          </a:xfrm>
          <a:prstGeom prst="rect">
            <a:avLst/>
          </a:prstGeom>
          <a:noFill/>
          <a:ln/>
        </p:spPr>
        <p:txBody>
          <a:bodyPr wrap="square" lIns="0" tIns="0" rIns="0" bIns="0" rtlCol="0" anchor="t">
            <a:normAutofit/>
          </a:bodyPr>
          <a:lstStyle/>
          <a:p>
            <a:pPr marL="0" indent="0" algn="l">
              <a:lnSpc>
                <a:spcPts val="1690"/>
              </a:lnSpc>
              <a:buNone/>
            </a:pPr>
            <a:r>
              <a:rPr lang="en-US" sz="1300" i="1" dirty="0">
                <a:solidFill>
                  <a:srgbClr val="10202E"/>
                </a:solidFill>
                <a:latin typeface="DM Sans" pitchFamily="34" charset="0"/>
                <a:ea typeface="DM Sans" pitchFamily="34" charset="-122"/>
                <a:cs typeface="DM Sans" pitchFamily="34" charset="-120"/>
              </a:rPr>
              <a:t>The value of Machine Learning is not total savings — it is the improvement over a strong baseline.</a:t>
            </a:r>
            <a:endParaRPr lang="en-US" sz="1300" dirty="0"/>
          </a:p>
        </p:txBody>
      </p:sp>
      <p:sp>
        <p:nvSpPr>
          <p:cNvPr id="40" name="Text 38"/>
          <p:cNvSpPr/>
          <p:nvPr/>
        </p:nvSpPr>
        <p:spPr>
          <a:xfrm>
            <a:off x="8392160" y="4837435"/>
            <a:ext cx="3076651" cy="42164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D6A96"/>
                </a:solidFill>
                <a:latin typeface="DM Sans" pitchFamily="34" charset="0"/>
                <a:ea typeface="DM Sans" pitchFamily="34" charset="-122"/>
                <a:cs typeface="DM Sans" pitchFamily="34" charset="-120"/>
              </a:rPr>
              <a:t>Takeaway:</a:t>
            </a:r>
            <a:r>
              <a:rPr lang="en-US" sz="1200" dirty="0">
                <a:solidFill>
                  <a:srgbClr val="10202E"/>
                </a:solidFill>
                <a:latin typeface="DM Sans" pitchFamily="34" charset="0"/>
                <a:ea typeface="DM Sans" pitchFamily="34" charset="-122"/>
                <a:cs typeface="DM Sans" pitchFamily="34" charset="-120"/>
              </a:rPr>
              <a:t> about $16,075 beyond a simple price rule.</a:t>
            </a:r>
            <a:endParaRPr lang="en-US" sz="1200" dirty="0"/>
          </a:p>
        </p:txBody>
      </p:sp>
      <p:sp>
        <p:nvSpPr>
          <p:cNvPr id="41" name="Text 39"/>
          <p:cNvSpPr/>
          <p:nvPr/>
        </p:nvSpPr>
        <p:spPr>
          <a:xfrm>
            <a:off x="812800" y="6238242"/>
            <a:ext cx="49707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§1, §5, §8.1, §9 (Test)</a:t>
            </a:r>
            <a:endParaRPr lang="en-US" sz="1200" dirty="0"/>
          </a:p>
        </p:txBody>
      </p:sp>
      <p:sp>
        <p:nvSpPr>
          <p:cNvPr id="42" name="Text 40"/>
          <p:cNvSpPr/>
          <p:nvPr/>
        </p:nvSpPr>
        <p:spPr>
          <a:xfrm>
            <a:off x="5675884" y="6238242"/>
            <a:ext cx="57033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(17) </a:t>
            </a:r>
            <a:r>
              <a:rPr lang="en-US" sz="1200" dirty="0">
                <a:solidFill>
                  <a:srgbClr val="54606C"/>
                </a:solidFill>
                <a:latin typeface="DM Sans" pitchFamily="34" charset="0"/>
                <a:ea typeface="DM Sans" pitchFamily="34" charset="-122"/>
                <a:cs typeface="DM Sans" pitchFamily="34" charset="-120"/>
              </a:rPr>
              <a:t>Next → How certain are we about this advantage?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DM Sans" pitchFamily="34" charset="0"/>
                <a:ea typeface="DM Sans" pitchFamily="34" charset="-122"/>
                <a:cs typeface="DM Sans" pitchFamily="34" charset="-120"/>
              </a:rPr>
              <a:t>PART III · STATISTICAL RELIABILITY</a:t>
            </a:r>
            <a:endParaRPr lang="en-US" sz="1200" dirty="0"/>
          </a:p>
        </p:txBody>
      </p:sp>
      <p:sp>
        <p:nvSpPr>
          <p:cNvPr id="3" name="Text 1"/>
          <p:cNvSpPr>
            <a:spLocks noGrp="1"/>
          </p:cNvSpPr>
          <p:nvPr>
            <p:ph type="title"/>
          </p:nvPr>
        </p:nvSpPr>
        <p:spPr>
          <a:xfrm>
            <a:off x="812800" y="1102358"/>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A High Score Is Not Enough. How Certain Are We?</a:t>
            </a:r>
            <a:endParaRPr lang="en-US" sz="2600" dirty="0"/>
          </a:p>
        </p:txBody>
      </p:sp>
      <p:sp>
        <p:nvSpPr>
          <p:cNvPr id="4" name="Shape 2"/>
          <p:cNvSpPr/>
          <p:nvPr/>
        </p:nvSpPr>
        <p:spPr>
          <a:xfrm>
            <a:off x="812800" y="1617985"/>
            <a:ext cx="3469640" cy="1008380"/>
          </a:xfrm>
          <a:prstGeom prst="roundRect">
            <a:avLst>
              <a:gd name="adj" fmla="val 12594"/>
            </a:avLst>
          </a:prstGeom>
          <a:solidFill>
            <a:srgbClr val="10202E"/>
          </a:solidFill>
          <a:ln/>
        </p:spPr>
        <p:txBody>
          <a:bodyPr/>
          <a:lstStyle/>
          <a:p>
            <a:endParaRPr lang="en-US"/>
          </a:p>
        </p:txBody>
      </p:sp>
      <p:sp>
        <p:nvSpPr>
          <p:cNvPr id="5" name="Text 3"/>
          <p:cNvSpPr/>
          <p:nvPr/>
        </p:nvSpPr>
        <p:spPr>
          <a:xfrm>
            <a:off x="990600" y="1816100"/>
            <a:ext cx="320746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SVM TEST PR-AUC · 95% CI</a:t>
            </a:r>
            <a:endParaRPr lang="en-US" sz="1200" dirty="0"/>
          </a:p>
        </p:txBody>
      </p:sp>
      <p:sp>
        <p:nvSpPr>
          <p:cNvPr id="6" name="Text 4"/>
          <p:cNvSpPr/>
          <p:nvPr/>
        </p:nvSpPr>
        <p:spPr>
          <a:xfrm>
            <a:off x="990600" y="2054858"/>
            <a:ext cx="3207461" cy="398780"/>
          </a:xfrm>
          <a:prstGeom prst="rect">
            <a:avLst/>
          </a:prstGeom>
          <a:noFill/>
          <a:ln/>
        </p:spPr>
        <p:txBody>
          <a:bodyPr wrap="square" lIns="0" tIns="0" rIns="0" bIns="0" rtlCol="0" anchor="t">
            <a:normAutofit/>
          </a:bodyPr>
          <a:lstStyle/>
          <a:p>
            <a:pPr marL="0" indent="0" algn="l">
              <a:lnSpc>
                <a:spcPts val="2940"/>
              </a:lnSpc>
              <a:buNone/>
            </a:pPr>
            <a:r>
              <a:rPr lang="en-US" sz="2800" b="1" dirty="0">
                <a:solidFill>
                  <a:srgbClr val="6FC1EA"/>
                </a:solidFill>
                <a:latin typeface="DM Sans" pitchFamily="34" charset="0"/>
                <a:ea typeface="DM Sans" pitchFamily="34" charset="-122"/>
                <a:cs typeface="DM Sans" pitchFamily="34" charset="-120"/>
              </a:rPr>
              <a:t>0.9109 – 0.9347</a:t>
            </a:r>
            <a:endParaRPr lang="en-US" sz="2800" dirty="0"/>
          </a:p>
        </p:txBody>
      </p:sp>
      <p:sp>
        <p:nvSpPr>
          <p:cNvPr id="7" name="Shape 5"/>
          <p:cNvSpPr/>
          <p:nvPr/>
        </p:nvSpPr>
        <p:spPr>
          <a:xfrm>
            <a:off x="4441190" y="1624335"/>
            <a:ext cx="3477260" cy="995680"/>
          </a:xfrm>
          <a:prstGeom prst="roundRect">
            <a:avLst>
              <a:gd name="adj" fmla="val 12117"/>
            </a:avLst>
          </a:prstGeom>
          <a:solidFill>
            <a:srgbClr val="FBF9F5"/>
          </a:solidFill>
          <a:ln w="12700">
            <a:solidFill>
              <a:srgbClr val="DAD4C8"/>
            </a:solidFill>
            <a:prstDash val="solid"/>
          </a:ln>
        </p:spPr>
        <p:txBody>
          <a:bodyPr/>
          <a:lstStyle/>
          <a:p>
            <a:endParaRPr lang="en-US"/>
          </a:p>
        </p:txBody>
      </p:sp>
      <p:sp>
        <p:nvSpPr>
          <p:cNvPr id="8" name="Text 6"/>
          <p:cNvSpPr/>
          <p:nvPr/>
        </p:nvSpPr>
        <p:spPr>
          <a:xfrm>
            <a:off x="4622800" y="1767842"/>
            <a:ext cx="320746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ASK YOURSELF</a:t>
            </a:r>
            <a:endParaRPr lang="en-US" sz="1200" dirty="0"/>
          </a:p>
        </p:txBody>
      </p:sp>
      <p:sp>
        <p:nvSpPr>
          <p:cNvPr id="9" name="Text 7"/>
          <p:cNvSpPr/>
          <p:nvPr/>
        </p:nvSpPr>
        <p:spPr>
          <a:xfrm>
            <a:off x="4622800" y="2019300"/>
            <a:ext cx="3207461" cy="482600"/>
          </a:xfrm>
          <a:prstGeom prst="rect">
            <a:avLst/>
          </a:prstGeom>
          <a:noFill/>
          <a:ln/>
        </p:spPr>
        <p:txBody>
          <a:bodyPr wrap="square" lIns="0" tIns="0" rIns="0" bIns="0" rtlCol="0" anchor="t">
            <a:normAutofit/>
          </a:bodyPr>
          <a:lstStyle/>
          <a:p>
            <a:pPr marL="0" indent="0" algn="l">
              <a:lnSpc>
                <a:spcPts val="1800"/>
              </a:lnSpc>
              <a:buNone/>
            </a:pPr>
            <a:r>
              <a:rPr lang="en-US" sz="1500" i="1" dirty="0">
                <a:solidFill>
                  <a:srgbClr val="10202E"/>
                </a:solidFill>
                <a:latin typeface="DM Sans" pitchFamily="34" charset="0"/>
                <a:ea typeface="DM Sans" pitchFamily="34" charset="-122"/>
                <a:cs typeface="DM Sans" pitchFamily="34" charset="-120"/>
              </a:rPr>
              <a:t>Is SVM truly better — or just slightly ahead on this test period?</a:t>
            </a:r>
            <a:endParaRPr lang="en-US" sz="1500" dirty="0"/>
          </a:p>
        </p:txBody>
      </p:sp>
      <p:sp>
        <p:nvSpPr>
          <p:cNvPr id="10" name="Shape 8"/>
          <p:cNvSpPr/>
          <p:nvPr/>
        </p:nvSpPr>
        <p:spPr>
          <a:xfrm>
            <a:off x="8096250" y="1617985"/>
            <a:ext cx="0" cy="1008380"/>
          </a:xfrm>
          <a:prstGeom prst="line">
            <a:avLst/>
          </a:prstGeom>
          <a:noFill/>
          <a:ln w="38100">
            <a:solidFill>
              <a:srgbClr val="1D6A96"/>
            </a:solidFill>
            <a:prstDash val="solid"/>
          </a:ln>
        </p:spPr>
        <p:txBody>
          <a:bodyPr/>
          <a:lstStyle/>
          <a:p>
            <a:endParaRPr lang="en-US"/>
          </a:p>
        </p:txBody>
      </p:sp>
      <p:sp>
        <p:nvSpPr>
          <p:cNvPr id="11" name="Text 9"/>
          <p:cNvSpPr/>
          <p:nvPr/>
        </p:nvSpPr>
        <p:spPr>
          <a:xfrm>
            <a:off x="8265160" y="1674502"/>
            <a:ext cx="320746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TAKEAWAY</a:t>
            </a:r>
            <a:endParaRPr lang="en-US" sz="1200" dirty="0"/>
          </a:p>
        </p:txBody>
      </p:sp>
      <p:sp>
        <p:nvSpPr>
          <p:cNvPr id="12" name="Text 10"/>
          <p:cNvSpPr/>
          <p:nvPr/>
        </p:nvSpPr>
        <p:spPr>
          <a:xfrm>
            <a:off x="8265160" y="1925960"/>
            <a:ext cx="3207461" cy="66929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0202E"/>
                </a:solidFill>
                <a:latin typeface="DM Sans" pitchFamily="34" charset="0"/>
                <a:ea typeface="DM Sans" pitchFamily="34" charset="-122"/>
                <a:cs typeface="DM Sans" pitchFamily="34" charset="-120"/>
              </a:rPr>
              <a:t>SVM clearly beats the baselines and tree. Against Logistic it is only marginally ahead, and not on F1.</a:t>
            </a:r>
            <a:endParaRPr lang="en-US" sz="1300" dirty="0"/>
          </a:p>
        </p:txBody>
      </p:sp>
      <p:sp>
        <p:nvSpPr>
          <p:cNvPr id="13" name="Text 11"/>
          <p:cNvSpPr/>
          <p:nvPr/>
        </p:nvSpPr>
        <p:spPr>
          <a:xfrm>
            <a:off x="812800" y="2778758"/>
            <a:ext cx="10883392"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4606C"/>
                </a:solidFill>
                <a:latin typeface="DM Sans" pitchFamily="34" charset="0"/>
                <a:ea typeface="DM Sans" pitchFamily="34" charset="-122"/>
                <a:cs typeface="DM Sans" pitchFamily="34" charset="-120"/>
              </a:rPr>
              <a:t>Paired block bootstrap over 30 consecutive time blocks. Difference = SVM minus comparator; P = share of resamples where SVM is better.</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3139445"/>
          <a:ext cx="10556241" cy="2404745"/>
        </p:xfrm>
        <a:graphic>
          <a:graphicData uri="http://schemas.openxmlformats.org/drawingml/2006/table">
            <a:tbl>
              <a:tblPr/>
              <a:tblGrid>
                <a:gridCol w="1583436">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1477874">
                  <a:extLst>
                    <a:ext uri="{9D8B030D-6E8A-4147-A177-3AD203B41FA5}">
                      <a16:colId xmlns:a16="http://schemas.microsoft.com/office/drawing/2014/main" val="20002"/>
                    </a:ext>
                  </a:extLst>
                </a:gridCol>
                <a:gridCol w="2533498">
                  <a:extLst>
                    <a:ext uri="{9D8B030D-6E8A-4147-A177-3AD203B41FA5}">
                      <a16:colId xmlns:a16="http://schemas.microsoft.com/office/drawing/2014/main" val="20003"/>
                    </a:ext>
                  </a:extLst>
                </a:gridCol>
                <a:gridCol w="1055624">
                  <a:extLst>
                    <a:ext uri="{9D8B030D-6E8A-4147-A177-3AD203B41FA5}">
                      <a16:colId xmlns:a16="http://schemas.microsoft.com/office/drawing/2014/main" val="20004"/>
                    </a:ext>
                  </a:extLst>
                </a:gridCol>
                <a:gridCol w="1266749">
                  <a:extLst>
                    <a:ext uri="{9D8B030D-6E8A-4147-A177-3AD203B41FA5}">
                      <a16:colId xmlns:a16="http://schemas.microsoft.com/office/drawing/2014/main" val="20005"/>
                    </a:ext>
                  </a:extLst>
                </a:gridCol>
              </a:tblGrid>
              <a:tr h="343535">
                <a:tc>
                  <a:txBody>
                    <a:bodyPr/>
                    <a:lstStyle/>
                    <a:p>
                      <a:pPr marL="0" indent="0">
                        <a:lnSpc>
                          <a:spcPts val="1750"/>
                        </a:lnSpc>
                        <a:buNone/>
                      </a:pPr>
                      <a:r>
                        <a:rPr lang="en-US" sz="1250" b="1" dirty="0">
                          <a:solidFill>
                            <a:srgbClr val="10202E"/>
                          </a:solidFill>
                          <a:latin typeface="DM Sans" pitchFamily="34" charset="0"/>
                          <a:ea typeface="DM Sans" pitchFamily="34" charset="-122"/>
                          <a:cs typeface="DM Sans" pitchFamily="34" charset="-120"/>
                        </a:rPr>
                        <a:t>Metric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nSpc>
                          <a:spcPts val="1750"/>
                        </a:lnSpc>
                        <a:buNone/>
                      </a:pPr>
                      <a:r>
                        <a:rPr lang="en-US" sz="1250" b="1" dirty="0">
                          <a:solidFill>
                            <a:srgbClr val="10202E"/>
                          </a:solidFill>
                          <a:latin typeface="DM Sans" pitchFamily="34" charset="0"/>
                          <a:ea typeface="DM Sans" pitchFamily="34" charset="-122"/>
                          <a:cs typeface="DM Sans" pitchFamily="34" charset="-120"/>
                        </a:rPr>
                        <a:t>Comparison</a:t>
                      </a:r>
                      <a:endParaRPr lang="en-US" sz="1250" dirty="0">
                        <a:latin typeface="DM Sans" charset="0"/>
                        <a:ea typeface="DM Sans" charset="0"/>
                        <a:cs typeface="DM Sans" charset="0"/>
                      </a:endParaRPr>
                    </a:p>
                  </a:txBody>
                  <a:tcPr marL="55563" marR="55563" marT="55563" marB="55563">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750"/>
                        </a:lnSpc>
                        <a:buNone/>
                      </a:pPr>
                      <a:r>
                        <a:rPr lang="en-US" sz="1250" b="1" dirty="0">
                          <a:solidFill>
                            <a:srgbClr val="10202E"/>
                          </a:solidFill>
                          <a:latin typeface="DM Sans" pitchFamily="34" charset="0"/>
                          <a:ea typeface="DM Sans" pitchFamily="34" charset="-122"/>
                          <a:cs typeface="DM Sans" pitchFamily="34" charset="-120"/>
                        </a:rPr>
                        <a:t>Difference</a:t>
                      </a:r>
                      <a:endParaRPr lang="en-US" sz="1250" dirty="0">
                        <a:latin typeface="DM Sans" charset="0"/>
                        <a:ea typeface="DM Sans" charset="0"/>
                        <a:cs typeface="DM Sans" charset="0"/>
                      </a:endParaRPr>
                    </a:p>
                  </a:txBody>
                  <a:tcPr marL="55563" marR="55563" marT="55563" marB="55563">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750"/>
                        </a:lnSpc>
                        <a:buNone/>
                      </a:pPr>
                      <a:r>
                        <a:rPr lang="en-US" sz="1250" b="1" dirty="0">
                          <a:solidFill>
                            <a:srgbClr val="10202E"/>
                          </a:solidFill>
                          <a:latin typeface="DM Sans" pitchFamily="34" charset="0"/>
                          <a:ea typeface="DM Sans" pitchFamily="34" charset="-122"/>
                          <a:cs typeface="DM Sans" pitchFamily="34" charset="-120"/>
                        </a:rPr>
                        <a:t>95% CI</a:t>
                      </a:r>
                      <a:endParaRPr lang="en-US" sz="1250" dirty="0">
                        <a:latin typeface="DM Sans" charset="0"/>
                        <a:ea typeface="DM Sans" charset="0"/>
                        <a:cs typeface="DM Sans" charset="0"/>
                      </a:endParaRPr>
                    </a:p>
                  </a:txBody>
                  <a:tcPr marL="55563" marR="55563" marT="55563" marB="55563">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gn="r">
                        <a:lnSpc>
                          <a:spcPts val="1750"/>
                        </a:lnSpc>
                        <a:buNone/>
                      </a:pPr>
                      <a:r>
                        <a:rPr lang="en-US" sz="1250" b="1" dirty="0">
                          <a:solidFill>
                            <a:srgbClr val="10202E"/>
                          </a:solidFill>
                          <a:latin typeface="DM Sans" pitchFamily="34" charset="0"/>
                          <a:ea typeface="DM Sans" pitchFamily="34" charset="-122"/>
                          <a:cs typeface="DM Sans" pitchFamily="34" charset="-120"/>
                        </a:rPr>
                        <a:t>P</a:t>
                      </a:r>
                      <a:endParaRPr lang="en-US" sz="1250" dirty="0">
                        <a:latin typeface="DM Sans" charset="0"/>
                        <a:ea typeface="DM Sans" charset="0"/>
                        <a:cs typeface="DM Sans" charset="0"/>
                      </a:endParaRPr>
                    </a:p>
                  </a:txBody>
                  <a:tcPr marL="55563" marR="55563" marT="55563" marB="55563">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marL="0" indent="0">
                        <a:lnSpc>
                          <a:spcPts val="1750"/>
                        </a:lnSpc>
                        <a:buNone/>
                      </a:pPr>
                      <a:r>
                        <a:rPr lang="en-US" sz="1250" b="1" dirty="0">
                          <a:solidFill>
                            <a:srgbClr val="10202E"/>
                          </a:solidFill>
                          <a:latin typeface="DM Sans" pitchFamily="34" charset="0"/>
                          <a:ea typeface="DM Sans" pitchFamily="34" charset="-122"/>
                          <a:cs typeface="DM Sans" pitchFamily="34" charset="-120"/>
                        </a:rPr>
                        <a:t>Reading</a:t>
                      </a:r>
                      <a:endParaRPr lang="en-US" sz="1250" dirty="0">
                        <a:latin typeface="DM Sans" charset="0"/>
                        <a:ea typeface="DM Sans" charset="0"/>
                        <a:cs typeface="DM Sans" charset="0"/>
                      </a:endParaRPr>
                    </a:p>
                  </a:txBody>
                  <a:tcPr marL="55563" marR="55563" marT="55563" marB="55563">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extLst>
                  <a:ext uri="{0D108BD9-81ED-4DB2-BD59-A6C34878D82A}">
                    <a16:rowId xmlns:a16="http://schemas.microsoft.com/office/drawing/2014/main" val="10000"/>
                  </a:ext>
                </a:extLst>
              </a:tr>
              <a:tr h="343535">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PR-AUC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SVM − Price rule</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+0.2192</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[0.1894, 0.2470]</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100%</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Clear</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1"/>
                  </a:ext>
                </a:extLst>
              </a:tr>
              <a:tr h="343535">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PR-AUC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SVM − Logistic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+0.0098</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[0.0010, 0.0179]</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98.4%</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Small</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2"/>
                  </a:ext>
                </a:extLst>
              </a:tr>
              <a:tr h="343535">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PR-AUC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SVM − Decision Tree</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+0.0549</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[0.0423, 0.0656]</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100%</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Clear</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3"/>
                  </a:ext>
                </a:extLst>
              </a:tr>
              <a:tr h="343535">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F1</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SVM − Logistic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+0.0031</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[−0.0110, 0.0188]</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65.4%</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C2410C"/>
                          </a:solidFill>
                          <a:latin typeface="DM Sans" pitchFamily="34" charset="0"/>
                          <a:ea typeface="DM Sans" pitchFamily="34" charset="-122"/>
                          <a:cs typeface="DM Sans" pitchFamily="34" charset="-120"/>
                        </a:rPr>
                        <a:t>Includes 0</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4"/>
                  </a:ext>
                </a:extLst>
              </a:tr>
              <a:tr h="343535">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Net saved</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SVM − Price rule</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+$16,059</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[$13,859, $18,031]</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100%</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Clear</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5"/>
                  </a:ext>
                </a:extLst>
              </a:tr>
              <a:tr h="343535">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Net saved</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SVM − Logistic</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+$940</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[$102, $1,742]</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gn="r">
                        <a:lnSpc>
                          <a:spcPts val="1750"/>
                        </a:lnSpc>
                        <a:buNone/>
                      </a:pPr>
                      <a:r>
                        <a:rPr lang="en-US" sz="1250" dirty="0">
                          <a:solidFill>
                            <a:srgbClr val="10202E"/>
                          </a:solidFill>
                          <a:latin typeface="DM Sans" pitchFamily="34" charset="0"/>
                          <a:ea typeface="DM Sans" pitchFamily="34" charset="-122"/>
                          <a:cs typeface="DM Sans" pitchFamily="34" charset="-120"/>
                        </a:rPr>
                        <a:t>98.4%</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marL="0" indent="0">
                        <a:lnSpc>
                          <a:spcPts val="1750"/>
                        </a:lnSpc>
                        <a:buNone/>
                      </a:pPr>
                      <a:r>
                        <a:rPr lang="en-US" sz="1250" dirty="0">
                          <a:solidFill>
                            <a:srgbClr val="10202E"/>
                          </a:solidFill>
                          <a:latin typeface="DM Sans" pitchFamily="34" charset="0"/>
                          <a:ea typeface="DM Sans" pitchFamily="34" charset="-122"/>
                          <a:cs typeface="DM Sans" pitchFamily="34" charset="-120"/>
                        </a:rPr>
                        <a:t>Small</a:t>
                      </a:r>
                      <a:endParaRPr lang="en-US" sz="1250" dirty="0">
                        <a:latin typeface="DM Sans" charset="0"/>
                        <a:ea typeface="DM Sans" charset="0"/>
                        <a:cs typeface="DM Sans" charset="0"/>
                      </a:endParaRPr>
                    </a:p>
                  </a:txBody>
                  <a:tcPr marL="55563" marR="55563" marT="55563" marB="55563">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5" name="Text 12"/>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§8.2 (Test)</a:t>
            </a:r>
            <a:endParaRPr lang="en-US" sz="1200" dirty="0"/>
          </a:p>
        </p:txBody>
      </p:sp>
      <p:sp>
        <p:nvSpPr>
          <p:cNvPr id="16" name="Text 13"/>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(18) </a:t>
            </a:r>
            <a:r>
              <a:rPr lang="en-US" sz="1200" dirty="0">
                <a:solidFill>
                  <a:srgbClr val="54606C"/>
                </a:solidFill>
                <a:latin typeface="DM Sans" pitchFamily="34" charset="0"/>
                <a:ea typeface="DM Sans" pitchFamily="34" charset="-122"/>
                <a:cs typeface="DM Sans" pitchFamily="34" charset="-120"/>
              </a:rPr>
              <a:t>Next → What if costs and conditions change?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8202"/>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C2410C"/>
                </a:solidFill>
                <a:latin typeface="DM Sans" pitchFamily="34" charset="0"/>
                <a:ea typeface="DM Sans" pitchFamily="34" charset="-122"/>
                <a:cs typeface="DM Sans" pitchFamily="34" charset="-120"/>
              </a:rPr>
              <a:t>PART III · STRESS TESTING &amp; LIMITATIONS</a:t>
            </a:r>
            <a:endParaRPr lang="en-US" sz="1088" dirty="0"/>
          </a:p>
        </p:txBody>
      </p:sp>
      <p:sp>
        <p:nvSpPr>
          <p:cNvPr id="3" name="Text 1"/>
          <p:cNvSpPr>
            <a:spLocks noGrp="1"/>
          </p:cNvSpPr>
          <p:nvPr>
            <p:ph type="title"/>
          </p:nvPr>
        </p:nvSpPr>
        <p:spPr>
          <a:xfrm>
            <a:off x="812800" y="1081807"/>
            <a:ext cx="10883392" cy="353616"/>
          </a:xfrm>
          <a:prstGeom prst="rect">
            <a:avLst/>
          </a:prstGeom>
          <a:noFill/>
          <a:ln/>
        </p:spPr>
        <p:txBody>
          <a:bodyPr wrap="square" lIns="0" tIns="0" rIns="0" bIns="0" rtlCol="0" anchor="t">
            <a:normAutofit/>
          </a:bodyPr>
          <a:lstStyle/>
          <a:p>
            <a:pPr marL="0" indent="0" algn="l">
              <a:lnSpc>
                <a:spcPts val="2619"/>
              </a:lnSpc>
              <a:buNone/>
            </a:pPr>
            <a:r>
              <a:rPr lang="en-US" sz="2381" b="1" i="0" dirty="0">
                <a:solidFill>
                  <a:srgbClr val="10202E"/>
                </a:solidFill>
                <a:latin typeface="DM Sans" pitchFamily="34" charset="0"/>
                <a:ea typeface="DM Sans" pitchFamily="34" charset="-122"/>
                <a:cs typeface="DM Sans" pitchFamily="34" charset="-120"/>
              </a:rPr>
              <a:t>What Happens When Reality Changes?</a:t>
            </a:r>
            <a:endParaRPr lang="en-US" sz="2381" dirty="0"/>
          </a:p>
        </p:txBody>
      </p:sp>
      <p:sp>
        <p:nvSpPr>
          <p:cNvPr id="4" name="Shape 2"/>
          <p:cNvSpPr/>
          <p:nvPr/>
        </p:nvSpPr>
        <p:spPr>
          <a:xfrm>
            <a:off x="819150" y="1556072"/>
            <a:ext cx="5067300" cy="3056811"/>
          </a:xfrm>
          <a:prstGeom prst="roundRect">
            <a:avLst>
              <a:gd name="adj" fmla="val 3947"/>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975360" y="1686880"/>
            <a:ext cx="489752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1D6A96"/>
                </a:solidFill>
                <a:latin typeface="DM Sans" pitchFamily="34" charset="0"/>
                <a:ea typeface="DM Sans" pitchFamily="34" charset="-122"/>
                <a:cs typeface="DM Sans" pitchFamily="34" charset="-120"/>
              </a:rPr>
              <a:t>COST SENSITIVITY · SVM GAIN OVER PRICE RULE</a:t>
            </a:r>
            <a:endParaRPr lang="en-US" sz="1200" dirty="0"/>
          </a:p>
        </p:txBody>
      </p:sp>
      <p:sp>
        <p:nvSpPr>
          <p:cNvPr id="6" name="Text 4"/>
          <p:cNvSpPr/>
          <p:nvPr/>
        </p:nvSpPr>
        <p:spPr>
          <a:xfrm>
            <a:off x="975360" y="1963738"/>
            <a:ext cx="10033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Cost / alert</a:t>
            </a:r>
            <a:endParaRPr lang="en-US" sz="1200" dirty="0"/>
          </a:p>
        </p:txBody>
      </p:sp>
      <p:sp>
        <p:nvSpPr>
          <p:cNvPr id="7" name="Text 5"/>
          <p:cNvSpPr/>
          <p:nvPr/>
        </p:nvSpPr>
        <p:spPr>
          <a:xfrm>
            <a:off x="1940560" y="1963738"/>
            <a:ext cx="963295"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0202E"/>
                </a:solidFill>
                <a:latin typeface="DM Sans" pitchFamily="34" charset="0"/>
                <a:ea typeface="DM Sans" pitchFamily="34" charset="-122"/>
                <a:cs typeface="DM Sans" pitchFamily="34" charset="-120"/>
              </a:rPr>
              <a:t>50%</a:t>
            </a:r>
            <a:endParaRPr lang="en-US" sz="1200" dirty="0"/>
          </a:p>
        </p:txBody>
      </p:sp>
      <p:sp>
        <p:nvSpPr>
          <p:cNvPr id="8" name="Text 6"/>
          <p:cNvSpPr/>
          <p:nvPr/>
        </p:nvSpPr>
        <p:spPr>
          <a:xfrm>
            <a:off x="2891155" y="1963738"/>
            <a:ext cx="963295"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0202E"/>
                </a:solidFill>
                <a:latin typeface="DM Sans" pitchFamily="34" charset="0"/>
                <a:ea typeface="DM Sans" pitchFamily="34" charset="-122"/>
                <a:cs typeface="DM Sans" pitchFamily="34" charset="-120"/>
              </a:rPr>
              <a:t>70%</a:t>
            </a:r>
            <a:endParaRPr lang="en-US" sz="1200" dirty="0"/>
          </a:p>
        </p:txBody>
      </p:sp>
      <p:sp>
        <p:nvSpPr>
          <p:cNvPr id="9" name="Text 7"/>
          <p:cNvSpPr/>
          <p:nvPr/>
        </p:nvSpPr>
        <p:spPr>
          <a:xfrm>
            <a:off x="3841750" y="1963738"/>
            <a:ext cx="963295"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0202E"/>
                </a:solidFill>
                <a:latin typeface="DM Sans" pitchFamily="34" charset="0"/>
                <a:ea typeface="DM Sans" pitchFamily="34" charset="-122"/>
                <a:cs typeface="DM Sans" pitchFamily="34" charset="-120"/>
              </a:rPr>
              <a:t>90%</a:t>
            </a:r>
            <a:endParaRPr lang="en-US" sz="1200" dirty="0"/>
          </a:p>
        </p:txBody>
      </p:sp>
      <p:sp>
        <p:nvSpPr>
          <p:cNvPr id="10" name="Text 8"/>
          <p:cNvSpPr/>
          <p:nvPr/>
        </p:nvSpPr>
        <p:spPr>
          <a:xfrm>
            <a:off x="4792345" y="1963738"/>
            <a:ext cx="963295"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0202E"/>
                </a:solidFill>
                <a:latin typeface="DM Sans" pitchFamily="34" charset="0"/>
                <a:ea typeface="DM Sans" pitchFamily="34" charset="-122"/>
                <a:cs typeface="DM Sans" pitchFamily="34" charset="-120"/>
              </a:rPr>
              <a:t>100%</a:t>
            </a:r>
            <a:endParaRPr lang="en-US" sz="1200" dirty="0"/>
          </a:p>
        </p:txBody>
      </p:sp>
      <p:sp>
        <p:nvSpPr>
          <p:cNvPr id="11" name="Text 9"/>
          <p:cNvSpPr/>
          <p:nvPr/>
        </p:nvSpPr>
        <p:spPr>
          <a:xfrm>
            <a:off x="975360" y="2265995"/>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$1</a:t>
            </a:r>
            <a:endParaRPr lang="en-US" sz="1200" dirty="0"/>
          </a:p>
        </p:txBody>
      </p:sp>
      <p:sp>
        <p:nvSpPr>
          <p:cNvPr id="12" name="Text 10"/>
          <p:cNvSpPr/>
          <p:nvPr/>
        </p:nvSpPr>
        <p:spPr>
          <a:xfrm>
            <a:off x="1965960" y="221519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DCEAF2"/>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$5,504</a:t>
            </a:r>
            <a:endParaRPr lang="en-US" sz="1200" dirty="0"/>
          </a:p>
        </p:txBody>
      </p:sp>
      <p:sp>
        <p:nvSpPr>
          <p:cNvPr id="13" name="Text 11"/>
          <p:cNvSpPr/>
          <p:nvPr/>
        </p:nvSpPr>
        <p:spPr>
          <a:xfrm>
            <a:off x="2916555" y="221519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DCEAF2"/>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$7,030</a:t>
            </a:r>
            <a:endParaRPr lang="en-US" sz="1200" dirty="0"/>
          </a:p>
        </p:txBody>
      </p:sp>
      <p:sp>
        <p:nvSpPr>
          <p:cNvPr id="14" name="Text 12"/>
          <p:cNvSpPr/>
          <p:nvPr/>
        </p:nvSpPr>
        <p:spPr>
          <a:xfrm>
            <a:off x="3867150" y="221519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DCEAF2"/>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$8,556</a:t>
            </a:r>
            <a:endParaRPr lang="en-US" sz="1200" dirty="0"/>
          </a:p>
        </p:txBody>
      </p:sp>
      <p:sp>
        <p:nvSpPr>
          <p:cNvPr id="15" name="Text 13"/>
          <p:cNvSpPr/>
          <p:nvPr/>
        </p:nvSpPr>
        <p:spPr>
          <a:xfrm>
            <a:off x="4817745" y="221519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DCEAF2"/>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$9,319</a:t>
            </a:r>
            <a:endParaRPr lang="en-US" sz="1200" dirty="0"/>
          </a:p>
        </p:txBody>
      </p:sp>
      <p:sp>
        <p:nvSpPr>
          <p:cNvPr id="16" name="Text 14"/>
          <p:cNvSpPr/>
          <p:nvPr/>
        </p:nvSpPr>
        <p:spPr>
          <a:xfrm>
            <a:off x="975360" y="2619065"/>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$5</a:t>
            </a:r>
            <a:endParaRPr lang="en-US" sz="1200" dirty="0"/>
          </a:p>
        </p:txBody>
      </p:sp>
      <p:sp>
        <p:nvSpPr>
          <p:cNvPr id="17" name="Text 15"/>
          <p:cNvSpPr/>
          <p:nvPr/>
        </p:nvSpPr>
        <p:spPr>
          <a:xfrm>
            <a:off x="1965960" y="256826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$12,260</a:t>
            </a:r>
            <a:endParaRPr lang="en-US" sz="1200" dirty="0"/>
          </a:p>
        </p:txBody>
      </p:sp>
      <p:sp>
        <p:nvSpPr>
          <p:cNvPr id="18" name="Text 16"/>
          <p:cNvSpPr/>
          <p:nvPr/>
        </p:nvSpPr>
        <p:spPr>
          <a:xfrm>
            <a:off x="2916555" y="256826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$13,786</a:t>
            </a:r>
            <a:endParaRPr lang="en-US" sz="1200" dirty="0"/>
          </a:p>
        </p:txBody>
      </p:sp>
      <p:sp>
        <p:nvSpPr>
          <p:cNvPr id="19" name="Text 17"/>
          <p:cNvSpPr/>
          <p:nvPr/>
        </p:nvSpPr>
        <p:spPr>
          <a:xfrm>
            <a:off x="3867150" y="256826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$15,312</a:t>
            </a:r>
            <a:endParaRPr lang="en-US" sz="1200" dirty="0"/>
          </a:p>
        </p:txBody>
      </p:sp>
      <p:sp>
        <p:nvSpPr>
          <p:cNvPr id="20" name="Text 18"/>
          <p:cNvSpPr/>
          <p:nvPr/>
        </p:nvSpPr>
        <p:spPr>
          <a:xfrm>
            <a:off x="4817745" y="2568265"/>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$16,075</a:t>
            </a:r>
            <a:endParaRPr lang="en-US" sz="1200" dirty="0"/>
          </a:p>
        </p:txBody>
      </p:sp>
      <p:sp>
        <p:nvSpPr>
          <p:cNvPr id="21" name="Text 19"/>
          <p:cNvSpPr/>
          <p:nvPr/>
        </p:nvSpPr>
        <p:spPr>
          <a:xfrm>
            <a:off x="975360" y="2972122"/>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$10</a:t>
            </a:r>
            <a:endParaRPr lang="en-US" sz="1200" dirty="0"/>
          </a:p>
        </p:txBody>
      </p:sp>
      <p:sp>
        <p:nvSpPr>
          <p:cNvPr id="22" name="Text 20"/>
          <p:cNvSpPr/>
          <p:nvPr/>
        </p:nvSpPr>
        <p:spPr>
          <a:xfrm>
            <a:off x="1965960" y="2921322"/>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$20,705</a:t>
            </a:r>
            <a:endParaRPr lang="en-US" sz="1200" dirty="0"/>
          </a:p>
        </p:txBody>
      </p:sp>
      <p:sp>
        <p:nvSpPr>
          <p:cNvPr id="23" name="Text 21"/>
          <p:cNvSpPr/>
          <p:nvPr/>
        </p:nvSpPr>
        <p:spPr>
          <a:xfrm>
            <a:off x="2916555" y="2921322"/>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$22,231</a:t>
            </a:r>
            <a:endParaRPr lang="en-US" sz="1200" dirty="0"/>
          </a:p>
        </p:txBody>
      </p:sp>
      <p:sp>
        <p:nvSpPr>
          <p:cNvPr id="24" name="Text 22"/>
          <p:cNvSpPr/>
          <p:nvPr/>
        </p:nvSpPr>
        <p:spPr>
          <a:xfrm>
            <a:off x="3867150" y="2921322"/>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$23,757</a:t>
            </a:r>
            <a:endParaRPr lang="en-US" sz="1200" dirty="0"/>
          </a:p>
        </p:txBody>
      </p:sp>
      <p:sp>
        <p:nvSpPr>
          <p:cNvPr id="25" name="Text 23"/>
          <p:cNvSpPr/>
          <p:nvPr/>
        </p:nvSpPr>
        <p:spPr>
          <a:xfrm>
            <a:off x="4817745" y="2921322"/>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A9CCE0"/>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$24,520</a:t>
            </a:r>
            <a:endParaRPr lang="en-US" sz="1200" dirty="0"/>
          </a:p>
        </p:txBody>
      </p:sp>
      <p:sp>
        <p:nvSpPr>
          <p:cNvPr id="26" name="Text 24"/>
          <p:cNvSpPr/>
          <p:nvPr/>
        </p:nvSpPr>
        <p:spPr>
          <a:xfrm>
            <a:off x="975360" y="3325180"/>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$20</a:t>
            </a:r>
            <a:endParaRPr lang="en-US" sz="1200" dirty="0"/>
          </a:p>
        </p:txBody>
      </p:sp>
      <p:sp>
        <p:nvSpPr>
          <p:cNvPr id="27" name="Text 25"/>
          <p:cNvSpPr/>
          <p:nvPr/>
        </p:nvSpPr>
        <p:spPr>
          <a:xfrm>
            <a:off x="1965960" y="3274380"/>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5FA2C8"/>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$37,595</a:t>
            </a:r>
            <a:endParaRPr lang="en-US" sz="1200" dirty="0"/>
          </a:p>
        </p:txBody>
      </p:sp>
      <p:sp>
        <p:nvSpPr>
          <p:cNvPr id="28" name="Text 26"/>
          <p:cNvSpPr/>
          <p:nvPr/>
        </p:nvSpPr>
        <p:spPr>
          <a:xfrm>
            <a:off x="2916555" y="3274380"/>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5FA2C8"/>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$39,121</a:t>
            </a:r>
            <a:endParaRPr lang="en-US" sz="1200" dirty="0"/>
          </a:p>
        </p:txBody>
      </p:sp>
      <p:sp>
        <p:nvSpPr>
          <p:cNvPr id="29" name="Text 27"/>
          <p:cNvSpPr/>
          <p:nvPr/>
        </p:nvSpPr>
        <p:spPr>
          <a:xfrm>
            <a:off x="3867150" y="3274380"/>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5FA2C8"/>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$40,647</a:t>
            </a:r>
            <a:endParaRPr lang="en-US" sz="1200" dirty="0"/>
          </a:p>
        </p:txBody>
      </p:sp>
      <p:sp>
        <p:nvSpPr>
          <p:cNvPr id="30" name="Text 28"/>
          <p:cNvSpPr/>
          <p:nvPr/>
        </p:nvSpPr>
        <p:spPr>
          <a:xfrm>
            <a:off x="4817745" y="3274380"/>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5FA2C8"/>
          </a:solidFill>
          <a:ln/>
        </p:spPr>
        <p:txBody>
          <a:bodyPr wrap="square" lIns="0" tIns="50800" rIns="0" bIns="25400" rtlCol="0" anchor="t">
            <a:normAutofit/>
          </a:bodyPr>
          <a:lstStyle/>
          <a:p>
            <a:pPr marL="0" indent="0" algn="ctr">
              <a:lnSpc>
                <a:spcPts val="1680"/>
              </a:lnSpc>
              <a:buNone/>
            </a:pPr>
            <a:r>
              <a:rPr lang="en-US" sz="1200" dirty="0">
                <a:solidFill>
                  <a:srgbClr val="10202E"/>
                </a:solidFill>
                <a:latin typeface="DM Sans" pitchFamily="34" charset="0"/>
                <a:ea typeface="DM Sans" pitchFamily="34" charset="-122"/>
                <a:cs typeface="DM Sans" pitchFamily="34" charset="-120"/>
              </a:rPr>
              <a:t>$41,410</a:t>
            </a:r>
            <a:endParaRPr lang="en-US" sz="1200" dirty="0"/>
          </a:p>
        </p:txBody>
      </p:sp>
      <p:sp>
        <p:nvSpPr>
          <p:cNvPr id="31" name="Text 29"/>
          <p:cNvSpPr/>
          <p:nvPr/>
        </p:nvSpPr>
        <p:spPr>
          <a:xfrm>
            <a:off x="975360" y="3678238"/>
            <a:ext cx="100330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0202E"/>
                </a:solidFill>
                <a:latin typeface="DM Sans" pitchFamily="34" charset="0"/>
                <a:ea typeface="DM Sans" pitchFamily="34" charset="-122"/>
                <a:cs typeface="DM Sans" pitchFamily="34" charset="-120"/>
              </a:rPr>
              <a:t>$50</a:t>
            </a:r>
            <a:endParaRPr lang="en-US" sz="1200" dirty="0"/>
          </a:p>
        </p:txBody>
      </p:sp>
      <p:sp>
        <p:nvSpPr>
          <p:cNvPr id="32" name="Text 30"/>
          <p:cNvSpPr/>
          <p:nvPr/>
        </p:nvSpPr>
        <p:spPr>
          <a:xfrm>
            <a:off x="1965960" y="3627438"/>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1D6A96"/>
          </a:solidFill>
          <a:ln/>
        </p:spPr>
        <p:txBody>
          <a:bodyPr wrap="square" lIns="0" tIns="50800" rIns="0" bIns="25400" rtlCol="0" anchor="t">
            <a:normAutofit/>
          </a:bodyPr>
          <a:lstStyle/>
          <a:p>
            <a:pPr marL="0" indent="0" algn="ctr">
              <a:lnSpc>
                <a:spcPts val="1680"/>
              </a:lnSpc>
              <a:buNone/>
            </a:pPr>
            <a:r>
              <a:rPr lang="en-US" sz="1200" dirty="0">
                <a:solidFill>
                  <a:srgbClr val="F5F2EC"/>
                </a:solidFill>
                <a:latin typeface="DM Sans" pitchFamily="34" charset="0"/>
                <a:ea typeface="DM Sans" pitchFamily="34" charset="-122"/>
                <a:cs typeface="DM Sans" pitchFamily="34" charset="-120"/>
              </a:rPr>
              <a:t>$88,265</a:t>
            </a:r>
            <a:endParaRPr lang="en-US" sz="1200" dirty="0"/>
          </a:p>
        </p:txBody>
      </p:sp>
      <p:sp>
        <p:nvSpPr>
          <p:cNvPr id="33" name="Text 31"/>
          <p:cNvSpPr/>
          <p:nvPr/>
        </p:nvSpPr>
        <p:spPr>
          <a:xfrm>
            <a:off x="2916555" y="3627438"/>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1D6A96"/>
          </a:solidFill>
          <a:ln/>
        </p:spPr>
        <p:txBody>
          <a:bodyPr wrap="square" lIns="0" tIns="50800" rIns="0" bIns="25400" rtlCol="0" anchor="t">
            <a:normAutofit/>
          </a:bodyPr>
          <a:lstStyle/>
          <a:p>
            <a:pPr marL="0" indent="0" algn="ctr">
              <a:lnSpc>
                <a:spcPts val="1680"/>
              </a:lnSpc>
              <a:buNone/>
            </a:pPr>
            <a:r>
              <a:rPr lang="en-US" sz="1200" dirty="0">
                <a:solidFill>
                  <a:srgbClr val="F5F2EC"/>
                </a:solidFill>
                <a:latin typeface="DM Sans" pitchFamily="34" charset="0"/>
                <a:ea typeface="DM Sans" pitchFamily="34" charset="-122"/>
                <a:cs typeface="DM Sans" pitchFamily="34" charset="-120"/>
              </a:rPr>
              <a:t>$89,791</a:t>
            </a:r>
            <a:endParaRPr lang="en-US" sz="1200" dirty="0"/>
          </a:p>
        </p:txBody>
      </p:sp>
      <p:sp>
        <p:nvSpPr>
          <p:cNvPr id="34" name="Text 32"/>
          <p:cNvSpPr/>
          <p:nvPr/>
        </p:nvSpPr>
        <p:spPr>
          <a:xfrm>
            <a:off x="3867150" y="3627438"/>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1D6A96"/>
          </a:solidFill>
          <a:ln/>
        </p:spPr>
        <p:txBody>
          <a:bodyPr wrap="square" lIns="0" tIns="50800" rIns="0" bIns="25400" rtlCol="0" anchor="t">
            <a:normAutofit/>
          </a:bodyPr>
          <a:lstStyle/>
          <a:p>
            <a:pPr marL="0" indent="0" algn="ctr">
              <a:lnSpc>
                <a:spcPts val="1680"/>
              </a:lnSpc>
              <a:buNone/>
            </a:pPr>
            <a:r>
              <a:rPr lang="en-US" sz="1200" dirty="0">
                <a:solidFill>
                  <a:srgbClr val="F5F2EC"/>
                </a:solidFill>
                <a:latin typeface="DM Sans" pitchFamily="34" charset="0"/>
                <a:ea typeface="DM Sans" pitchFamily="34" charset="-122"/>
                <a:cs typeface="DM Sans" pitchFamily="34" charset="-120"/>
              </a:rPr>
              <a:t>$91,317</a:t>
            </a:r>
            <a:endParaRPr lang="en-US" sz="1200" dirty="0"/>
          </a:p>
        </p:txBody>
      </p:sp>
      <p:sp>
        <p:nvSpPr>
          <p:cNvPr id="35" name="Text 33"/>
          <p:cNvSpPr/>
          <p:nvPr/>
        </p:nvSpPr>
        <p:spPr>
          <a:xfrm>
            <a:off x="4817745" y="3627438"/>
            <a:ext cx="912495" cy="314960"/>
          </a:xfrm>
          <a:custGeom>
            <a:avLst/>
            <a:gdLst/>
            <a:ahLst/>
            <a:cxnLst/>
            <a:rect l="l" t="t" r="r" b="b"/>
            <a:pathLst>
              <a:path w="912495" h="314960">
                <a:moveTo>
                  <a:pt x="38100" y="0"/>
                </a:moveTo>
                <a:lnTo>
                  <a:pt x="874395" y="0"/>
                </a:lnTo>
                <a:arcTo wR="38100" hR="38100" stAng="16200000" swAng="5400000"/>
                <a:lnTo>
                  <a:pt x="912495" y="276860"/>
                </a:lnTo>
                <a:arcTo wR="38100" hR="38100" stAng="0" swAng="5400000"/>
                <a:lnTo>
                  <a:pt x="38100" y="314960"/>
                </a:lnTo>
                <a:arcTo wR="38100" hR="38100" stAng="5400000" swAng="5400000"/>
                <a:lnTo>
                  <a:pt x="0" y="38100"/>
                </a:lnTo>
                <a:arcTo wR="38100" hR="38100" stAng="10800000" swAng="5400000"/>
                <a:close/>
              </a:path>
            </a:pathLst>
          </a:custGeom>
          <a:solidFill>
            <a:srgbClr val="1D6A96"/>
          </a:solidFill>
          <a:ln/>
        </p:spPr>
        <p:txBody>
          <a:bodyPr wrap="square" lIns="0" tIns="50800" rIns="0" bIns="25400" rtlCol="0" anchor="t">
            <a:normAutofit/>
          </a:bodyPr>
          <a:lstStyle/>
          <a:p>
            <a:pPr marL="0" indent="0" algn="ctr">
              <a:lnSpc>
                <a:spcPts val="1680"/>
              </a:lnSpc>
              <a:buNone/>
            </a:pPr>
            <a:r>
              <a:rPr lang="en-US" sz="1200" dirty="0">
                <a:solidFill>
                  <a:srgbClr val="F5F2EC"/>
                </a:solidFill>
                <a:latin typeface="DM Sans" pitchFamily="34" charset="0"/>
                <a:ea typeface="DM Sans" pitchFamily="34" charset="-122"/>
                <a:cs typeface="DM Sans" pitchFamily="34" charset="-120"/>
              </a:rPr>
              <a:t>$92,080</a:t>
            </a:r>
            <a:endParaRPr lang="en-US" sz="1200" dirty="0"/>
          </a:p>
        </p:txBody>
      </p:sp>
      <p:sp>
        <p:nvSpPr>
          <p:cNvPr id="36" name="Text 34"/>
          <p:cNvSpPr/>
          <p:nvPr/>
        </p:nvSpPr>
        <p:spPr>
          <a:xfrm>
            <a:off x="975360" y="4005895"/>
            <a:ext cx="4897526"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Columns: share of flagged fraud actually prevented. Positive in every cell.</a:t>
            </a:r>
            <a:endParaRPr lang="en-US" sz="1200" dirty="0"/>
          </a:p>
        </p:txBody>
      </p:sp>
      <p:sp>
        <p:nvSpPr>
          <p:cNvPr id="37" name="Shape 35"/>
          <p:cNvSpPr/>
          <p:nvPr/>
        </p:nvSpPr>
        <p:spPr>
          <a:xfrm>
            <a:off x="6076950" y="1556072"/>
            <a:ext cx="5295900" cy="3056811"/>
          </a:xfrm>
          <a:prstGeom prst="roundRect">
            <a:avLst>
              <a:gd name="adj" fmla="val 3947"/>
            </a:avLst>
          </a:prstGeom>
          <a:solidFill>
            <a:srgbClr val="FBF9F5"/>
          </a:solidFill>
          <a:ln w="12700">
            <a:solidFill>
              <a:srgbClr val="DAD4C8"/>
            </a:solidFill>
            <a:prstDash val="solid"/>
          </a:ln>
        </p:spPr>
        <p:txBody>
          <a:bodyPr/>
          <a:lstStyle/>
          <a:p>
            <a:endParaRPr lang="en-US"/>
          </a:p>
        </p:txBody>
      </p:sp>
      <p:sp>
        <p:nvSpPr>
          <p:cNvPr id="38" name="Text 36"/>
          <p:cNvSpPr/>
          <p:nvPr/>
        </p:nvSpPr>
        <p:spPr>
          <a:xfrm>
            <a:off x="6233160" y="1648309"/>
            <a:ext cx="827961" cy="8382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2410C"/>
                </a:solidFill>
                <a:latin typeface="DM Sans" pitchFamily="34" charset="0"/>
                <a:ea typeface="DM Sans" pitchFamily="34" charset="-122"/>
                <a:cs typeface="DM Sans" pitchFamily="34" charset="-120"/>
              </a:rPr>
              <a:t>9.4%</a:t>
            </a:r>
            <a:endParaRPr lang="en-US" sz="3200" dirty="0"/>
          </a:p>
        </p:txBody>
      </p:sp>
      <p:sp>
        <p:nvSpPr>
          <p:cNvPr id="39" name="Text 37"/>
          <p:cNvSpPr/>
          <p:nvPr/>
        </p:nvSpPr>
        <p:spPr>
          <a:xfrm>
            <a:off x="7137321" y="1856507"/>
            <a:ext cx="4201699" cy="4216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0202E"/>
                </a:solidFill>
                <a:latin typeface="DM Sans" pitchFamily="34" charset="0"/>
                <a:ea typeface="DM Sans" pitchFamily="34" charset="-122"/>
                <a:cs typeface="DM Sans" pitchFamily="34" charset="-120"/>
              </a:rPr>
              <a:t>of Test rows sit in categories with fraud in Train. Fraud rate inside: 11.46%.</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243320" y="2496111"/>
          <a:ext cx="4973321" cy="1985964"/>
        </p:xfrm>
        <a:graphic>
          <a:graphicData uri="http://schemas.openxmlformats.org/drawingml/2006/table">
            <a:tbl>
              <a:tblPr/>
              <a:tblGrid>
                <a:gridCol w="1541729">
                  <a:extLst>
                    <a:ext uri="{9D8B030D-6E8A-4147-A177-3AD203B41FA5}">
                      <a16:colId xmlns:a16="http://schemas.microsoft.com/office/drawing/2014/main" val="20000"/>
                    </a:ext>
                  </a:extLst>
                </a:gridCol>
                <a:gridCol w="1143864">
                  <a:extLst>
                    <a:ext uri="{9D8B030D-6E8A-4147-A177-3AD203B41FA5}">
                      <a16:colId xmlns:a16="http://schemas.microsoft.com/office/drawing/2014/main" val="20001"/>
                    </a:ext>
                  </a:extLst>
                </a:gridCol>
                <a:gridCol w="1143864">
                  <a:extLst>
                    <a:ext uri="{9D8B030D-6E8A-4147-A177-3AD203B41FA5}">
                      <a16:colId xmlns:a16="http://schemas.microsoft.com/office/drawing/2014/main" val="20002"/>
                    </a:ext>
                  </a:extLst>
                </a:gridCol>
                <a:gridCol w="1143864">
                  <a:extLst>
                    <a:ext uri="{9D8B030D-6E8A-4147-A177-3AD203B41FA5}">
                      <a16:colId xmlns:a16="http://schemas.microsoft.com/office/drawing/2014/main" val="20003"/>
                    </a:ext>
                  </a:extLst>
                </a:gridCol>
              </a:tblGrid>
              <a:tr h="490934">
                <a:tc>
                  <a:txBody>
                    <a:bodyPr/>
                    <a:lstStyle/>
                    <a:p>
                      <a:pPr marL="0" indent="0">
                        <a:lnSpc>
                          <a:spcPts val="1517"/>
                        </a:lnSpc>
                        <a:buNone/>
                      </a:pPr>
                      <a:r>
                        <a:rPr lang="en-US" sz="1084" b="1" dirty="0">
                          <a:solidFill>
                            <a:srgbClr val="10202E"/>
                          </a:solidFill>
                          <a:latin typeface="DM Sans" pitchFamily="34" charset="0"/>
                          <a:ea typeface="DM Sans" pitchFamily="34" charset="-122"/>
                          <a:cs typeface="DM Sans" pitchFamily="34" charset="-120"/>
                        </a:rPr>
                        <a:t>Hard subset</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517"/>
                        </a:lnSpc>
                        <a:buNone/>
                      </a:pPr>
                      <a:r>
                        <a:rPr lang="en-US" sz="1084" b="1" dirty="0">
                          <a:solidFill>
                            <a:srgbClr val="10202E"/>
                          </a:solidFill>
                          <a:latin typeface="DM Sans" pitchFamily="34" charset="0"/>
                          <a:ea typeface="DM Sans" pitchFamily="34" charset="-122"/>
                          <a:cs typeface="DM Sans" pitchFamily="34" charset="-120"/>
                        </a:rPr>
                        <a:t>PR-AUC all</a:t>
                      </a:r>
                      <a:endParaRPr lang="en-US" sz="1084" dirty="0">
                        <a:latin typeface="DM Sans" charset="0"/>
                        <a:ea typeface="DM Sans" charset="0"/>
                        <a:cs typeface="DM Sans" charset="0"/>
                      </a:endParaRPr>
                    </a:p>
                  </a:txBody>
                  <a:tcPr marL="48173" marR="48173" marT="48173" marB="48173">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517"/>
                        </a:lnSpc>
                        <a:buNone/>
                      </a:pPr>
                      <a:r>
                        <a:rPr lang="en-US" sz="1084" b="1" dirty="0">
                          <a:solidFill>
                            <a:srgbClr val="10202E"/>
                          </a:solidFill>
                          <a:latin typeface="DM Sans" pitchFamily="34" charset="0"/>
                          <a:ea typeface="DM Sans" pitchFamily="34" charset="-122"/>
                          <a:cs typeface="DM Sans" pitchFamily="34" charset="-120"/>
                        </a:rPr>
                        <a:t>PR-AUC risky</a:t>
                      </a:r>
                      <a:endParaRPr lang="en-US" sz="1084" dirty="0">
                        <a:latin typeface="DM Sans" charset="0"/>
                        <a:ea typeface="DM Sans" charset="0"/>
                        <a:cs typeface="DM Sans" charset="0"/>
                      </a:endParaRPr>
                    </a:p>
                  </a:txBody>
                  <a:tcPr marL="48173" marR="48173" marT="48173" marB="48173">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517"/>
                        </a:lnSpc>
                        <a:buNone/>
                      </a:pPr>
                      <a:r>
                        <a:rPr lang="en-US" sz="1084" b="1" dirty="0">
                          <a:solidFill>
                            <a:srgbClr val="10202E"/>
                          </a:solidFill>
                          <a:latin typeface="DM Sans" pitchFamily="34" charset="0"/>
                          <a:ea typeface="DM Sans" pitchFamily="34" charset="-122"/>
                          <a:cs typeface="DM Sans" pitchFamily="34" charset="-120"/>
                        </a:rPr>
                        <a:t>ROC-AUC risky</a:t>
                      </a:r>
                      <a:endParaRPr lang="en-US" sz="1084" dirty="0">
                        <a:latin typeface="DM Sans" charset="0"/>
                        <a:ea typeface="DM Sans" charset="0"/>
                        <a:cs typeface="DM Sans" charset="0"/>
                      </a:endParaRPr>
                    </a:p>
                  </a:txBody>
                  <a:tcPr marL="48173" marR="48173" marT="48173" marB="48173">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299006">
                <a:tc>
                  <a:txBody>
                    <a:bodyPr/>
                    <a:lstStyle/>
                    <a:p>
                      <a:pPr marL="0" indent="0">
                        <a:lnSpc>
                          <a:spcPts val="1517"/>
                        </a:lnSpc>
                        <a:buNone/>
                      </a:pPr>
                      <a:r>
                        <a:rPr lang="en-US" sz="1084" dirty="0">
                          <a:solidFill>
                            <a:srgbClr val="10202E"/>
                          </a:solidFill>
                          <a:latin typeface="DM Sans" pitchFamily="34" charset="0"/>
                          <a:ea typeface="DM Sans" pitchFamily="34" charset="-122"/>
                          <a:cs typeface="DM Sans" pitchFamily="34" charset="-120"/>
                        </a:rPr>
                        <a:t>SVM (RBF)</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0.9226</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0.9231</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0.9848</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299006">
                <a:tc>
                  <a:txBody>
                    <a:bodyPr/>
                    <a:lstStyle/>
                    <a:p>
                      <a:pPr marL="0" indent="0">
                        <a:lnSpc>
                          <a:spcPts val="1517"/>
                        </a:lnSpc>
                        <a:buNone/>
                      </a:pPr>
                      <a:r>
                        <a:rPr lang="en-US" sz="1084" dirty="0">
                          <a:solidFill>
                            <a:srgbClr val="10202E"/>
                          </a:solidFill>
                          <a:latin typeface="DM Sans" pitchFamily="34" charset="0"/>
                          <a:ea typeface="DM Sans" pitchFamily="34" charset="-122"/>
                          <a:cs typeface="DM Sans" pitchFamily="34" charset="-120"/>
                        </a:rPr>
                        <a:t>Logistic</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0.9129</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0.9130</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0.9778</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299006">
                <a:tc>
                  <a:txBody>
                    <a:bodyPr/>
                    <a:lstStyle/>
                    <a:p>
                      <a:pPr marL="0" indent="0">
                        <a:lnSpc>
                          <a:spcPts val="1517"/>
                        </a:lnSpc>
                        <a:buNone/>
                      </a:pPr>
                      <a:r>
                        <a:rPr lang="en-US" sz="1084" dirty="0">
                          <a:solidFill>
                            <a:srgbClr val="10202E"/>
                          </a:solidFill>
                          <a:latin typeface="DM Sans" pitchFamily="34" charset="0"/>
                          <a:ea typeface="DM Sans" pitchFamily="34" charset="-122"/>
                          <a:cs typeface="DM Sans" pitchFamily="34" charset="-120"/>
                        </a:rPr>
                        <a:t>Tree</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0.8680</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0.8726</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0.9617</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299006">
                <a:tc>
                  <a:txBody>
                    <a:bodyPr/>
                    <a:lstStyle/>
                    <a:p>
                      <a:pPr marL="0" indent="0">
                        <a:lnSpc>
                          <a:spcPts val="1517"/>
                        </a:lnSpc>
                        <a:buNone/>
                      </a:pPr>
                      <a:r>
                        <a:rPr lang="en-US" sz="1084" dirty="0">
                          <a:solidFill>
                            <a:srgbClr val="10202E"/>
                          </a:solidFill>
                          <a:latin typeface="DM Sans" pitchFamily="34" charset="0"/>
                          <a:ea typeface="DM Sans" pitchFamily="34" charset="-122"/>
                          <a:cs typeface="DM Sans" pitchFamily="34" charset="-120"/>
                        </a:rPr>
                        <a:t>Price rule</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0.7036</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0.7189</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0.8660</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r h="299006">
                <a:tc>
                  <a:txBody>
                    <a:bodyPr/>
                    <a:lstStyle/>
                    <a:p>
                      <a:pPr marL="0" indent="0">
                        <a:lnSpc>
                          <a:spcPts val="1517"/>
                        </a:lnSpc>
                        <a:buNone/>
                      </a:pPr>
                      <a:r>
                        <a:rPr lang="en-US" sz="1084" dirty="0">
                          <a:solidFill>
                            <a:srgbClr val="10202E"/>
                          </a:solidFill>
                          <a:latin typeface="DM Sans" pitchFamily="34" charset="0"/>
                          <a:ea typeface="DM Sans" pitchFamily="34" charset="-122"/>
                          <a:cs typeface="DM Sans" pitchFamily="34" charset="-120"/>
                        </a:rPr>
                        <a:t>Category rule</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0.4641</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0.4641</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517"/>
                        </a:lnSpc>
                        <a:buNone/>
                      </a:pPr>
                      <a:r>
                        <a:rPr lang="en-US" sz="1084" dirty="0">
                          <a:solidFill>
                            <a:srgbClr val="10202E"/>
                          </a:solidFill>
                          <a:latin typeface="DM Sans" pitchFamily="34" charset="0"/>
                          <a:ea typeface="DM Sans" pitchFamily="34" charset="-122"/>
                          <a:cs typeface="DM Sans" pitchFamily="34" charset="-120"/>
                        </a:rPr>
                        <a:t>0.7814</a:t>
                      </a:r>
                      <a:endParaRPr lang="en-US" sz="1084" dirty="0">
                        <a:latin typeface="DM Sans" charset="0"/>
                        <a:ea typeface="DM Sans" charset="0"/>
                        <a:cs typeface="DM Sans" charset="0"/>
                      </a:endParaRPr>
                    </a:p>
                  </a:txBody>
                  <a:tcPr marL="48173" marR="48173" marT="48173" marB="48173">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1" name="Shape 38"/>
          <p:cNvSpPr/>
          <p:nvPr/>
        </p:nvSpPr>
        <p:spPr>
          <a:xfrm>
            <a:off x="812800" y="4758928"/>
            <a:ext cx="3454400" cy="525145"/>
          </a:xfrm>
          <a:prstGeom prst="roundRect">
            <a:avLst>
              <a:gd name="adj" fmla="val 16929"/>
            </a:avLst>
          </a:prstGeom>
          <a:solidFill>
            <a:srgbClr val="10202E"/>
          </a:solidFill>
          <a:ln/>
        </p:spPr>
        <p:txBody>
          <a:bodyPr/>
          <a:lstStyle/>
          <a:p>
            <a:endParaRPr lang="en-US"/>
          </a:p>
        </p:txBody>
      </p:sp>
      <p:sp>
        <p:nvSpPr>
          <p:cNvPr id="42" name="Text 39"/>
          <p:cNvSpPr/>
          <p:nvPr/>
        </p:nvSpPr>
        <p:spPr>
          <a:xfrm>
            <a:off x="939800" y="4847828"/>
            <a:ext cx="3296412" cy="372745"/>
          </a:xfrm>
          <a:prstGeom prst="rect">
            <a:avLst/>
          </a:prstGeom>
          <a:noFill/>
          <a:ln/>
        </p:spPr>
        <p:txBody>
          <a:bodyPr wrap="square" lIns="0" tIns="0" rIns="0" bIns="0" rtlCol="0" anchor="t">
            <a:normAutofit/>
          </a:bodyPr>
          <a:lstStyle/>
          <a:p>
            <a:pPr marL="0" indent="0" algn="l">
              <a:lnSpc>
                <a:spcPts val="1385"/>
              </a:lnSpc>
              <a:buNone/>
            </a:pPr>
            <a:r>
              <a:rPr lang="en-US" sz="1065" b="1" dirty="0">
                <a:solidFill>
                  <a:srgbClr val="FF8A5C"/>
                </a:solidFill>
                <a:latin typeface="DM Sans" pitchFamily="34" charset="0"/>
                <a:ea typeface="DM Sans" pitchFamily="34" charset="-122"/>
                <a:cs typeface="DM Sans" pitchFamily="34" charset="-120"/>
              </a:rPr>
              <a:t>1 · Simulated data.</a:t>
            </a:r>
            <a:r>
              <a:rPr lang="en-US" sz="1065" dirty="0">
                <a:solidFill>
                  <a:srgbClr val="F5F2EC"/>
                </a:solidFill>
                <a:latin typeface="DM Sans" pitchFamily="34" charset="0"/>
                <a:ea typeface="DM Sans" pitchFamily="34" charset="-122"/>
                <a:cs typeface="DM Sans" pitchFamily="34" charset="-120"/>
              </a:rPr>
              <a:t> Fraud is easier to separate than in real life.</a:t>
            </a:r>
            <a:endParaRPr lang="en-US" sz="1065" dirty="0"/>
          </a:p>
        </p:txBody>
      </p:sp>
      <p:sp>
        <p:nvSpPr>
          <p:cNvPr id="43" name="Shape 40"/>
          <p:cNvSpPr/>
          <p:nvPr/>
        </p:nvSpPr>
        <p:spPr>
          <a:xfrm>
            <a:off x="4368800" y="4758928"/>
            <a:ext cx="3454400" cy="525145"/>
          </a:xfrm>
          <a:prstGeom prst="roundRect">
            <a:avLst>
              <a:gd name="adj" fmla="val 16929"/>
            </a:avLst>
          </a:prstGeom>
          <a:solidFill>
            <a:srgbClr val="10202E"/>
          </a:solidFill>
          <a:ln/>
        </p:spPr>
        <p:txBody>
          <a:bodyPr/>
          <a:lstStyle/>
          <a:p>
            <a:endParaRPr lang="en-US"/>
          </a:p>
        </p:txBody>
      </p:sp>
      <p:sp>
        <p:nvSpPr>
          <p:cNvPr id="44" name="Text 41"/>
          <p:cNvSpPr/>
          <p:nvPr/>
        </p:nvSpPr>
        <p:spPr>
          <a:xfrm>
            <a:off x="4495800" y="4847828"/>
            <a:ext cx="3296412" cy="372745"/>
          </a:xfrm>
          <a:prstGeom prst="rect">
            <a:avLst/>
          </a:prstGeom>
          <a:noFill/>
          <a:ln/>
        </p:spPr>
        <p:txBody>
          <a:bodyPr wrap="square" lIns="0" tIns="0" rIns="0" bIns="0" rtlCol="0" anchor="t">
            <a:normAutofit/>
          </a:bodyPr>
          <a:lstStyle/>
          <a:p>
            <a:pPr marL="0" indent="0" algn="l">
              <a:lnSpc>
                <a:spcPts val="1385"/>
              </a:lnSpc>
              <a:buNone/>
            </a:pPr>
            <a:r>
              <a:rPr lang="en-US" sz="1065" b="1" dirty="0">
                <a:solidFill>
                  <a:srgbClr val="FF8A5C"/>
                </a:solidFill>
                <a:latin typeface="DM Sans" pitchFamily="34" charset="0"/>
                <a:ea typeface="DM Sans" pitchFamily="34" charset="-122"/>
                <a:cs typeface="DM Sans" pitchFamily="34" charset="-120"/>
              </a:rPr>
              <a:t>2 · Assumed costs.</a:t>
            </a:r>
            <a:r>
              <a:rPr lang="en-US" sz="1065" dirty="0">
                <a:solidFill>
                  <a:srgbClr val="F5F2EC"/>
                </a:solidFill>
                <a:latin typeface="DM Sans" pitchFamily="34" charset="0"/>
                <a:ea typeface="DM Sans" pitchFamily="34" charset="-122"/>
                <a:cs typeface="DM Sans" pitchFamily="34" charset="-120"/>
              </a:rPr>
              <a:t> $5 per alert, flagged fraud fully prevented.</a:t>
            </a:r>
            <a:endParaRPr lang="en-US" sz="1065" dirty="0"/>
          </a:p>
        </p:txBody>
      </p:sp>
      <p:sp>
        <p:nvSpPr>
          <p:cNvPr id="45" name="Shape 42"/>
          <p:cNvSpPr/>
          <p:nvPr/>
        </p:nvSpPr>
        <p:spPr>
          <a:xfrm>
            <a:off x="7924800" y="4758928"/>
            <a:ext cx="3454400" cy="525145"/>
          </a:xfrm>
          <a:prstGeom prst="roundRect">
            <a:avLst>
              <a:gd name="adj" fmla="val 16929"/>
            </a:avLst>
          </a:prstGeom>
          <a:solidFill>
            <a:srgbClr val="10202E"/>
          </a:solidFill>
          <a:ln/>
        </p:spPr>
        <p:txBody>
          <a:bodyPr/>
          <a:lstStyle/>
          <a:p>
            <a:endParaRPr lang="en-US"/>
          </a:p>
        </p:txBody>
      </p:sp>
      <p:sp>
        <p:nvSpPr>
          <p:cNvPr id="46" name="Text 43"/>
          <p:cNvSpPr/>
          <p:nvPr/>
        </p:nvSpPr>
        <p:spPr>
          <a:xfrm>
            <a:off x="8051800" y="4847828"/>
            <a:ext cx="3296412" cy="372745"/>
          </a:xfrm>
          <a:prstGeom prst="rect">
            <a:avLst/>
          </a:prstGeom>
          <a:noFill/>
          <a:ln/>
        </p:spPr>
        <p:txBody>
          <a:bodyPr wrap="square" lIns="0" tIns="0" rIns="0" bIns="0" rtlCol="0" anchor="t">
            <a:normAutofit/>
          </a:bodyPr>
          <a:lstStyle/>
          <a:p>
            <a:pPr marL="0" indent="0" algn="l">
              <a:lnSpc>
                <a:spcPts val="1385"/>
              </a:lnSpc>
              <a:buNone/>
            </a:pPr>
            <a:r>
              <a:rPr lang="en-US" sz="1065" b="1" dirty="0">
                <a:solidFill>
                  <a:srgbClr val="FF8A5C"/>
                </a:solidFill>
                <a:latin typeface="DM Sans" pitchFamily="34" charset="0"/>
                <a:ea typeface="DM Sans" pitchFamily="34" charset="-122"/>
                <a:cs typeface="DM Sans" pitchFamily="34" charset="-120"/>
              </a:rPr>
              <a:t>3 · Merchant ID.</a:t>
            </a:r>
            <a:r>
              <a:rPr lang="en-US" sz="1065" dirty="0">
                <a:solidFill>
                  <a:srgbClr val="F5F2EC"/>
                </a:solidFill>
                <a:latin typeface="DM Sans" pitchFamily="34" charset="0"/>
                <a:ea typeface="DM Sans" pitchFamily="34" charset="-122"/>
                <a:cs typeface="DM Sans" pitchFamily="34" charset="-120"/>
              </a:rPr>
              <a:t> Possible dependence; see the ablation.</a:t>
            </a:r>
            <a:endParaRPr lang="en-US" sz="1065" dirty="0"/>
          </a:p>
        </p:txBody>
      </p:sp>
      <p:sp>
        <p:nvSpPr>
          <p:cNvPr id="47" name="Text 44"/>
          <p:cNvSpPr/>
          <p:nvPr/>
        </p:nvSpPr>
        <p:spPr>
          <a:xfrm>
            <a:off x="812800" y="5404334"/>
            <a:ext cx="5266411" cy="482600"/>
          </a:xfrm>
          <a:prstGeom prst="rect">
            <a:avLst/>
          </a:prstGeom>
          <a:noFill/>
          <a:ln/>
        </p:spPr>
        <p:txBody>
          <a:bodyPr wrap="square" lIns="0" tIns="0" rIns="0" bIns="0" rtlCol="0" anchor="t">
            <a:normAutofit/>
          </a:bodyPr>
          <a:lstStyle/>
          <a:p>
            <a:pPr marL="0" indent="0" algn="l">
              <a:lnSpc>
                <a:spcPts val="1800"/>
              </a:lnSpc>
              <a:buNone/>
            </a:pPr>
            <a:r>
              <a:rPr lang="en-US" sz="1500" i="1" dirty="0">
                <a:solidFill>
                  <a:srgbClr val="10202E"/>
                </a:solidFill>
                <a:latin typeface="DM Sans" pitchFamily="34" charset="0"/>
                <a:ea typeface="DM Sans" pitchFamily="34" charset="-122"/>
                <a:cs typeface="DM Sans" pitchFamily="34" charset="-120"/>
              </a:rPr>
              <a:t>A model that works in a simulation still needs to survive real-world change.</a:t>
            </a:r>
            <a:endParaRPr lang="en-US" sz="1500" dirty="0"/>
          </a:p>
        </p:txBody>
      </p:sp>
      <p:sp>
        <p:nvSpPr>
          <p:cNvPr id="48" name="Shape 45"/>
          <p:cNvSpPr/>
          <p:nvPr/>
        </p:nvSpPr>
        <p:spPr>
          <a:xfrm>
            <a:off x="6122670" y="5512829"/>
            <a:ext cx="0" cy="240030"/>
          </a:xfrm>
          <a:prstGeom prst="line">
            <a:avLst/>
          </a:prstGeom>
          <a:noFill/>
          <a:ln w="38100">
            <a:solidFill>
              <a:srgbClr val="1D6A96"/>
            </a:solidFill>
            <a:prstDash val="solid"/>
          </a:ln>
        </p:spPr>
        <p:txBody>
          <a:bodyPr/>
          <a:lstStyle/>
          <a:p>
            <a:endParaRPr lang="en-US"/>
          </a:p>
        </p:txBody>
      </p:sp>
      <p:sp>
        <p:nvSpPr>
          <p:cNvPr id="49" name="Text 46"/>
          <p:cNvSpPr/>
          <p:nvPr/>
        </p:nvSpPr>
        <p:spPr>
          <a:xfrm>
            <a:off x="6266180" y="5525529"/>
            <a:ext cx="5266411" cy="24003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D6A96"/>
                </a:solidFill>
                <a:latin typeface="DM Sans" pitchFamily="34" charset="0"/>
                <a:ea typeface="DM Sans" pitchFamily="34" charset="-122"/>
                <a:cs typeface="DM Sans" pitchFamily="34" charset="-120"/>
              </a:rPr>
              <a:t>Takeaway:</a:t>
            </a:r>
            <a:r>
              <a:rPr lang="en-US" sz="1300" dirty="0">
                <a:solidFill>
                  <a:srgbClr val="10202E"/>
                </a:solidFill>
                <a:latin typeface="DM Sans" pitchFamily="34" charset="0"/>
                <a:ea typeface="DM Sans" pitchFamily="34" charset="-122"/>
                <a:cs typeface="DM Sans" pitchFamily="34" charset="-120"/>
              </a:rPr>
              <a:t> The advantage stays positive in all 20 scenarios.</a:t>
            </a:r>
            <a:endParaRPr lang="en-US" sz="1300" dirty="0"/>
          </a:p>
        </p:txBody>
      </p:sp>
      <p:sp>
        <p:nvSpPr>
          <p:cNvPr id="50" name="Text 47"/>
          <p:cNvSpPr/>
          <p:nvPr/>
        </p:nvSpPr>
        <p:spPr>
          <a:xfrm>
            <a:off x="812800" y="6238242"/>
            <a:ext cx="3662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§8.3–8.4, §9 (Test)</a:t>
            </a:r>
            <a:endParaRPr lang="en-US" sz="1200" dirty="0"/>
          </a:p>
        </p:txBody>
      </p:sp>
      <p:sp>
        <p:nvSpPr>
          <p:cNvPr id="51" name="Text 48"/>
          <p:cNvSpPr/>
          <p:nvPr/>
        </p:nvSpPr>
        <p:spPr>
          <a:xfrm>
            <a:off x="4367784" y="6238242"/>
            <a:ext cx="701141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(19) </a:t>
            </a:r>
            <a:r>
              <a:rPr lang="en-US" sz="1200" dirty="0">
                <a:solidFill>
                  <a:srgbClr val="54606C"/>
                </a:solidFill>
                <a:latin typeface="DM Sans" pitchFamily="34" charset="0"/>
                <a:ea typeface="DM Sans" pitchFamily="34" charset="-122"/>
                <a:cs typeface="DM Sans" pitchFamily="34" charset="-120"/>
              </a:rPr>
              <a:t>Next → What we conclude, and where to go next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8A5C"/>
                </a:solidFill>
                <a:latin typeface="DM Sans" pitchFamily="34" charset="0"/>
                <a:ea typeface="DM Sans" pitchFamily="34" charset="-122"/>
                <a:cs typeface="DM Sans" pitchFamily="34" charset="-120"/>
              </a:rPr>
              <a:t>PART III · CONCLUSION</a:t>
            </a:r>
            <a:endParaRPr lang="en-US" sz="1200" dirty="0"/>
          </a:p>
        </p:txBody>
      </p:sp>
      <p:sp>
        <p:nvSpPr>
          <p:cNvPr id="3" name="Text 1"/>
          <p:cNvSpPr>
            <a:spLocks noGrp="1"/>
          </p:cNvSpPr>
          <p:nvPr>
            <p:ph type="title"/>
          </p:nvPr>
        </p:nvSpPr>
        <p:spPr>
          <a:xfrm>
            <a:off x="812800" y="1102358"/>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F5F2EC"/>
                </a:solidFill>
                <a:latin typeface="DM Sans" pitchFamily="34" charset="0"/>
                <a:ea typeface="DM Sans" pitchFamily="34" charset="-122"/>
                <a:cs typeface="DM Sans" pitchFamily="34" charset="-120"/>
              </a:rPr>
              <a:t>From Fraud Prediction to Better Decisions</a:t>
            </a:r>
            <a:endParaRPr lang="en-US" sz="2600" dirty="0"/>
          </a:p>
        </p:txBody>
      </p:sp>
      <p:sp>
        <p:nvSpPr>
          <p:cNvPr id="4" name="Shape 2"/>
          <p:cNvSpPr/>
          <p:nvPr/>
        </p:nvSpPr>
        <p:spPr>
          <a:xfrm>
            <a:off x="812800" y="1643385"/>
            <a:ext cx="3420507" cy="1760220"/>
          </a:xfrm>
          <a:prstGeom prst="roundRect">
            <a:avLst>
              <a:gd name="adj" fmla="val 7215"/>
            </a:avLst>
          </a:prstGeom>
          <a:solidFill>
            <a:srgbClr val="1B3147"/>
          </a:solidFill>
          <a:ln/>
        </p:spPr>
        <p:txBody>
          <a:bodyPr/>
          <a:lstStyle/>
          <a:p>
            <a:endParaRPr lang="en-US"/>
          </a:p>
        </p:txBody>
      </p:sp>
      <p:sp>
        <p:nvSpPr>
          <p:cNvPr id="5" name="Shape 3"/>
          <p:cNvSpPr/>
          <p:nvPr/>
        </p:nvSpPr>
        <p:spPr>
          <a:xfrm>
            <a:off x="812800" y="1643385"/>
            <a:ext cx="3420507" cy="1760220"/>
          </a:xfrm>
          <a:custGeom>
            <a:avLst/>
            <a:gdLst/>
            <a:ahLst/>
            <a:cxnLst/>
            <a:rect l="l" t="t" r="r" b="b"/>
            <a:pathLst>
              <a:path w="3420507" h="1760220">
                <a:moveTo>
                  <a:pt x="0" y="127000"/>
                </a:moveTo>
                <a:lnTo>
                  <a:pt x="0" y="127000"/>
                </a:lnTo>
                <a:arcTo wR="127000" hR="127000" stAng="10800000" swAng="5400000"/>
                <a:lnTo>
                  <a:pt x="3293507" y="0"/>
                </a:lnTo>
                <a:arcTo wR="127000" hR="127000" stAng="16200000" swAng="5400000"/>
                <a:lnTo>
                  <a:pt x="3420507" y="127000"/>
                </a:lnTo>
                <a:arcTo wR="127000" hR="76200" stAng="0" swAng="-5400000"/>
                <a:lnTo>
                  <a:pt x="127000" y="50800"/>
                </a:lnTo>
                <a:arcTo wR="127000" hR="76200" stAng="16200000" swAng="-5400000"/>
                <a:close/>
              </a:path>
            </a:pathLst>
          </a:custGeom>
          <a:solidFill>
            <a:srgbClr val="6FC1EA"/>
          </a:solidFill>
          <a:ln/>
        </p:spPr>
        <p:txBody>
          <a:bodyPr/>
          <a:lstStyle/>
          <a:p>
            <a:endParaRPr lang="en-US"/>
          </a:p>
        </p:txBody>
      </p:sp>
      <p:sp>
        <p:nvSpPr>
          <p:cNvPr id="6" name="Text 4"/>
          <p:cNvSpPr/>
          <p:nvPr/>
        </p:nvSpPr>
        <p:spPr>
          <a:xfrm>
            <a:off x="990600" y="1871985"/>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1EA"/>
                </a:solidFill>
                <a:latin typeface="DM Sans" pitchFamily="34" charset="0"/>
                <a:ea typeface="DM Sans" pitchFamily="34" charset="-122"/>
                <a:cs typeface="DM Sans" pitchFamily="34" charset="-120"/>
              </a:rPr>
              <a:t>ACCURATELY</a:t>
            </a:r>
            <a:endParaRPr lang="en-US" sz="1200" dirty="0"/>
          </a:p>
        </p:txBody>
      </p:sp>
      <p:sp>
        <p:nvSpPr>
          <p:cNvPr id="7" name="Text 5"/>
          <p:cNvSpPr/>
          <p:nvPr/>
        </p:nvSpPr>
        <p:spPr>
          <a:xfrm>
            <a:off x="990600" y="2148842"/>
            <a:ext cx="315685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5F2EC"/>
                </a:solidFill>
                <a:latin typeface="DM Sans" pitchFamily="34" charset="0"/>
                <a:ea typeface="DM Sans" pitchFamily="34" charset="-122"/>
                <a:cs typeface="DM Sans" pitchFamily="34" charset="-120"/>
              </a:rPr>
              <a:t>Prediction</a:t>
            </a:r>
            <a:endParaRPr lang="en-US" sz="1800" dirty="0"/>
          </a:p>
        </p:txBody>
      </p:sp>
      <p:sp>
        <p:nvSpPr>
          <p:cNvPr id="8" name="Text 6"/>
          <p:cNvSpPr/>
          <p:nvPr/>
        </p:nvSpPr>
        <p:spPr>
          <a:xfrm>
            <a:off x="990600" y="2532385"/>
            <a:ext cx="3156854"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D6DEE6"/>
                </a:solidFill>
                <a:latin typeface="DM Sans" pitchFamily="34" charset="0"/>
                <a:ea typeface="DM Sans" pitchFamily="34" charset="-122"/>
                <a:cs typeface="DM Sans" pitchFamily="34" charset="-120"/>
              </a:rPr>
              <a:t>SVM reaches Test PR-AUC 0.9226 and F1 0.8390.</a:t>
            </a:r>
            <a:endParaRPr lang="en-US" sz="1400" dirty="0"/>
          </a:p>
        </p:txBody>
      </p:sp>
      <p:sp>
        <p:nvSpPr>
          <p:cNvPr id="9" name="Shape 7"/>
          <p:cNvSpPr/>
          <p:nvPr/>
        </p:nvSpPr>
        <p:spPr>
          <a:xfrm>
            <a:off x="4385707" y="1643385"/>
            <a:ext cx="3420586" cy="1760220"/>
          </a:xfrm>
          <a:prstGeom prst="roundRect">
            <a:avLst>
              <a:gd name="adj" fmla="val 7215"/>
            </a:avLst>
          </a:prstGeom>
          <a:solidFill>
            <a:srgbClr val="1B3147"/>
          </a:solidFill>
          <a:ln/>
        </p:spPr>
        <p:txBody>
          <a:bodyPr/>
          <a:lstStyle/>
          <a:p>
            <a:endParaRPr lang="en-US"/>
          </a:p>
        </p:txBody>
      </p:sp>
      <p:sp>
        <p:nvSpPr>
          <p:cNvPr id="10" name="Shape 8"/>
          <p:cNvSpPr/>
          <p:nvPr/>
        </p:nvSpPr>
        <p:spPr>
          <a:xfrm>
            <a:off x="4385707" y="1643385"/>
            <a:ext cx="3420586" cy="1760220"/>
          </a:xfrm>
          <a:custGeom>
            <a:avLst/>
            <a:gdLst/>
            <a:ahLst/>
            <a:cxnLst/>
            <a:rect l="l" t="t" r="r" b="b"/>
            <a:pathLst>
              <a:path w="3420586" h="1760220">
                <a:moveTo>
                  <a:pt x="0" y="127000"/>
                </a:moveTo>
                <a:lnTo>
                  <a:pt x="0" y="127000"/>
                </a:lnTo>
                <a:arcTo wR="127000" hR="127000" stAng="10800000" swAng="5400000"/>
                <a:lnTo>
                  <a:pt x="3293586" y="0"/>
                </a:lnTo>
                <a:arcTo wR="127000" hR="127000" stAng="16200000" swAng="5400000"/>
                <a:lnTo>
                  <a:pt x="3420586" y="127000"/>
                </a:lnTo>
                <a:arcTo wR="127000" hR="76200" stAng="0" swAng="-5400000"/>
                <a:lnTo>
                  <a:pt x="127000" y="50800"/>
                </a:lnTo>
                <a:arcTo wR="127000" hR="76200" stAng="16200000" swAng="-5400000"/>
                <a:close/>
              </a:path>
            </a:pathLst>
          </a:custGeom>
          <a:solidFill>
            <a:srgbClr val="6FC1EA"/>
          </a:solidFill>
          <a:ln/>
        </p:spPr>
        <p:txBody>
          <a:bodyPr/>
          <a:lstStyle/>
          <a:p>
            <a:endParaRPr lang="en-US"/>
          </a:p>
        </p:txBody>
      </p:sp>
      <p:sp>
        <p:nvSpPr>
          <p:cNvPr id="11" name="Text 9"/>
          <p:cNvSpPr/>
          <p:nvPr/>
        </p:nvSpPr>
        <p:spPr>
          <a:xfrm>
            <a:off x="4563507" y="1871985"/>
            <a:ext cx="3156936"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1EA"/>
                </a:solidFill>
                <a:latin typeface="DM Sans" pitchFamily="34" charset="0"/>
                <a:ea typeface="DM Sans" pitchFamily="34" charset="-122"/>
                <a:cs typeface="DM Sans" pitchFamily="34" charset="-120"/>
              </a:rPr>
              <a:t>RELIABLY</a:t>
            </a:r>
            <a:endParaRPr lang="en-US" sz="1200" dirty="0"/>
          </a:p>
        </p:txBody>
      </p:sp>
      <p:sp>
        <p:nvSpPr>
          <p:cNvPr id="12" name="Text 10"/>
          <p:cNvSpPr/>
          <p:nvPr/>
        </p:nvSpPr>
        <p:spPr>
          <a:xfrm>
            <a:off x="4563507" y="2148842"/>
            <a:ext cx="315693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5F2EC"/>
                </a:solidFill>
                <a:latin typeface="DM Sans" pitchFamily="34" charset="0"/>
                <a:ea typeface="DM Sans" pitchFamily="34" charset="-122"/>
                <a:cs typeface="DM Sans" pitchFamily="34" charset="-120"/>
              </a:rPr>
              <a:t>Validation</a:t>
            </a:r>
            <a:endParaRPr lang="en-US" sz="1800" dirty="0"/>
          </a:p>
        </p:txBody>
      </p:sp>
      <p:sp>
        <p:nvSpPr>
          <p:cNvPr id="13" name="Text 11"/>
          <p:cNvSpPr/>
          <p:nvPr/>
        </p:nvSpPr>
        <p:spPr>
          <a:xfrm>
            <a:off x="4563507" y="2532385"/>
            <a:ext cx="3156936" cy="48768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D6DEE6"/>
                </a:solidFill>
                <a:latin typeface="DM Sans" pitchFamily="34" charset="0"/>
                <a:ea typeface="DM Sans" pitchFamily="34" charset="-122"/>
                <a:cs typeface="DM Sans" pitchFamily="34" charset="-120"/>
              </a:rPr>
              <a:t>Time split, leakage audit, locked Test and block-bootstrap intervals.</a:t>
            </a:r>
            <a:endParaRPr lang="en-US" sz="1400" dirty="0"/>
          </a:p>
        </p:txBody>
      </p:sp>
      <p:sp>
        <p:nvSpPr>
          <p:cNvPr id="14" name="Shape 12"/>
          <p:cNvSpPr/>
          <p:nvPr/>
        </p:nvSpPr>
        <p:spPr>
          <a:xfrm>
            <a:off x="7958693" y="1643385"/>
            <a:ext cx="3420507" cy="1760220"/>
          </a:xfrm>
          <a:prstGeom prst="roundRect">
            <a:avLst>
              <a:gd name="adj" fmla="val 7215"/>
            </a:avLst>
          </a:prstGeom>
          <a:solidFill>
            <a:srgbClr val="1B3147"/>
          </a:solidFill>
          <a:ln/>
        </p:spPr>
        <p:txBody>
          <a:bodyPr/>
          <a:lstStyle/>
          <a:p>
            <a:endParaRPr lang="en-US"/>
          </a:p>
        </p:txBody>
      </p:sp>
      <p:sp>
        <p:nvSpPr>
          <p:cNvPr id="15" name="Shape 13"/>
          <p:cNvSpPr/>
          <p:nvPr/>
        </p:nvSpPr>
        <p:spPr>
          <a:xfrm>
            <a:off x="7958693" y="1643385"/>
            <a:ext cx="3420507" cy="1760220"/>
          </a:xfrm>
          <a:custGeom>
            <a:avLst/>
            <a:gdLst/>
            <a:ahLst/>
            <a:cxnLst/>
            <a:rect l="l" t="t" r="r" b="b"/>
            <a:pathLst>
              <a:path w="3420507" h="1760220">
                <a:moveTo>
                  <a:pt x="0" y="127000"/>
                </a:moveTo>
                <a:lnTo>
                  <a:pt x="0" y="127000"/>
                </a:lnTo>
                <a:arcTo wR="127000" hR="127000" stAng="10800000" swAng="5400000"/>
                <a:lnTo>
                  <a:pt x="3293507" y="0"/>
                </a:lnTo>
                <a:arcTo wR="127000" hR="127000" stAng="16200000" swAng="5400000"/>
                <a:lnTo>
                  <a:pt x="3420507" y="127000"/>
                </a:lnTo>
                <a:arcTo wR="127000" hR="76200" stAng="0" swAng="-5400000"/>
                <a:lnTo>
                  <a:pt x="127000" y="50800"/>
                </a:lnTo>
                <a:arcTo wR="127000" hR="76200" stAng="16200000" swAng="-5400000"/>
                <a:close/>
              </a:path>
            </a:pathLst>
          </a:custGeom>
          <a:solidFill>
            <a:srgbClr val="6FC1EA"/>
          </a:solidFill>
          <a:ln/>
        </p:spPr>
        <p:txBody>
          <a:bodyPr/>
          <a:lstStyle/>
          <a:p>
            <a:endParaRPr lang="en-US"/>
          </a:p>
        </p:txBody>
      </p:sp>
      <p:sp>
        <p:nvSpPr>
          <p:cNvPr id="16" name="Text 14"/>
          <p:cNvSpPr/>
          <p:nvPr/>
        </p:nvSpPr>
        <p:spPr>
          <a:xfrm>
            <a:off x="8136493" y="1871985"/>
            <a:ext cx="315685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1EA"/>
                </a:solidFill>
                <a:latin typeface="DM Sans" pitchFamily="34" charset="0"/>
                <a:ea typeface="DM Sans" pitchFamily="34" charset="-122"/>
                <a:cs typeface="DM Sans" pitchFamily="34" charset="-120"/>
              </a:rPr>
              <a:t>PROFITABLY</a:t>
            </a:r>
            <a:endParaRPr lang="en-US" sz="1200" dirty="0"/>
          </a:p>
        </p:txBody>
      </p:sp>
      <p:sp>
        <p:nvSpPr>
          <p:cNvPr id="17" name="Text 15"/>
          <p:cNvSpPr/>
          <p:nvPr/>
        </p:nvSpPr>
        <p:spPr>
          <a:xfrm>
            <a:off x="8136493" y="2148842"/>
            <a:ext cx="3156854"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5F2EC"/>
                </a:solidFill>
                <a:latin typeface="DM Sans" pitchFamily="34" charset="0"/>
                <a:ea typeface="DM Sans" pitchFamily="34" charset="-122"/>
                <a:cs typeface="DM Sans" pitchFamily="34" charset="-120"/>
              </a:rPr>
              <a:t>Business</a:t>
            </a:r>
            <a:endParaRPr lang="en-US" sz="1800" dirty="0"/>
          </a:p>
        </p:txBody>
      </p:sp>
      <p:sp>
        <p:nvSpPr>
          <p:cNvPr id="18" name="Text 16"/>
          <p:cNvSpPr/>
          <p:nvPr/>
        </p:nvSpPr>
        <p:spPr>
          <a:xfrm>
            <a:off x="8136493" y="2532385"/>
            <a:ext cx="3156854" cy="7188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D6DEE6"/>
                </a:solidFill>
                <a:latin typeface="DM Sans" pitchFamily="34" charset="0"/>
                <a:ea typeface="DM Sans" pitchFamily="34" charset="-122"/>
                <a:cs typeface="DM Sans" pitchFamily="34" charset="-120"/>
              </a:rPr>
              <a:t>About $589,769 simulated net savings on Test, $16,075 over the price rule.</a:t>
            </a:r>
            <a:endParaRPr lang="en-US" sz="1400" dirty="0"/>
          </a:p>
        </p:txBody>
      </p:sp>
      <p:sp>
        <p:nvSpPr>
          <p:cNvPr id="19" name="Text 17"/>
          <p:cNvSpPr/>
          <p:nvPr/>
        </p:nvSpPr>
        <p:spPr>
          <a:xfrm>
            <a:off x="812800" y="3581400"/>
            <a:ext cx="10566400" cy="690880"/>
          </a:xfrm>
          <a:prstGeom prst="roundRect">
            <a:avLst>
              <a:gd name="adj" fmla="val 18382"/>
            </a:avLst>
          </a:prstGeom>
          <a:solidFill>
            <a:srgbClr val="C2410C"/>
          </a:solidFill>
          <a:ln/>
        </p:spPr>
        <p:txBody>
          <a:bodyPr wrap="square" lIns="191403" tIns="140603" rIns="0" bIns="115203" rtlCol="0" anchor="t">
            <a:normAutofit/>
          </a:bodyPr>
          <a:lstStyle/>
          <a:p>
            <a:pPr marL="0" indent="0" algn="l">
              <a:lnSpc>
                <a:spcPts val="2640"/>
              </a:lnSpc>
              <a:buNone/>
            </a:pPr>
            <a:r>
              <a:rPr lang="en-US" sz="2400" b="1" dirty="0">
                <a:solidFill>
                  <a:srgbClr val="F5F2EC"/>
                </a:solidFill>
                <a:latin typeface="DM Sans" pitchFamily="34" charset="0"/>
                <a:ea typeface="DM Sans" pitchFamily="34" charset="-122"/>
                <a:cs typeface="DM Sans" pitchFamily="34" charset="-120"/>
              </a:rPr>
              <a:t>The Best Model Is the One That Makes Better Decisions.</a:t>
            </a:r>
            <a:endParaRPr lang="en-US" sz="2400" dirty="0"/>
          </a:p>
        </p:txBody>
      </p:sp>
      <p:sp>
        <p:nvSpPr>
          <p:cNvPr id="20" name="Shape 18"/>
          <p:cNvSpPr/>
          <p:nvPr/>
        </p:nvSpPr>
        <p:spPr>
          <a:xfrm>
            <a:off x="812800" y="4450085"/>
            <a:ext cx="5814298" cy="934720"/>
          </a:xfrm>
          <a:prstGeom prst="roundRect">
            <a:avLst>
              <a:gd name="adj" fmla="val 10870"/>
            </a:avLst>
          </a:prstGeom>
          <a:solidFill>
            <a:srgbClr val="1B3147"/>
          </a:solidFill>
          <a:ln/>
        </p:spPr>
        <p:txBody>
          <a:bodyPr/>
          <a:lstStyle/>
          <a:p>
            <a:endParaRPr lang="en-US"/>
          </a:p>
        </p:txBody>
      </p:sp>
      <p:sp>
        <p:nvSpPr>
          <p:cNvPr id="21" name="Text 19"/>
          <p:cNvSpPr/>
          <p:nvPr/>
        </p:nvSpPr>
        <p:spPr>
          <a:xfrm>
            <a:off x="990600" y="4577085"/>
            <a:ext cx="5622459"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F8A5C"/>
                </a:solidFill>
                <a:latin typeface="DM Sans" pitchFamily="34" charset="0"/>
                <a:ea typeface="DM Sans" pitchFamily="34" charset="-122"/>
                <a:cs typeface="DM Sans" pitchFamily="34" charset="-120"/>
              </a:rPr>
              <a:t>NEXT STEPS</a:t>
            </a:r>
            <a:endParaRPr lang="en-US" sz="1200" dirty="0"/>
          </a:p>
        </p:txBody>
      </p:sp>
      <p:sp>
        <p:nvSpPr>
          <p:cNvPr id="22" name="Text 20"/>
          <p:cNvSpPr/>
          <p:nvPr/>
        </p:nvSpPr>
        <p:spPr>
          <a:xfrm>
            <a:off x="990600" y="4828542"/>
            <a:ext cx="5622459"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5F2EC"/>
                </a:solidFill>
                <a:latin typeface="DM Sans" pitchFamily="34" charset="0"/>
                <a:ea typeface="DM Sans" pitchFamily="34" charset="-122"/>
                <a:cs typeface="DM Sans" pitchFamily="34" charset="-120"/>
              </a:rPr>
              <a:t>Real data · probability calibration · drift monitoring · more models · thresholds set by alert-handling capacity</a:t>
            </a:r>
            <a:endParaRPr lang="en-US" sz="1300" dirty="0"/>
          </a:p>
        </p:txBody>
      </p:sp>
      <p:sp>
        <p:nvSpPr>
          <p:cNvPr id="23" name="Text 21"/>
          <p:cNvSpPr/>
          <p:nvPr/>
        </p:nvSpPr>
        <p:spPr>
          <a:xfrm>
            <a:off x="6830299" y="4560255"/>
            <a:ext cx="4685369" cy="739775"/>
          </a:xfrm>
          <a:prstGeom prst="rect">
            <a:avLst/>
          </a:prstGeom>
          <a:noFill/>
          <a:ln/>
        </p:spPr>
        <p:txBody>
          <a:bodyPr wrap="square" lIns="0" tIns="0" rIns="0" bIns="0" rtlCol="0" anchor="t">
            <a:normAutofit/>
          </a:bodyPr>
          <a:lstStyle/>
          <a:p>
            <a:pPr marL="0" indent="0" algn="l">
              <a:lnSpc>
                <a:spcPts val="1875"/>
              </a:lnSpc>
              <a:buNone/>
            </a:pPr>
            <a:r>
              <a:rPr lang="en-US" sz="1500" i="1" dirty="0">
                <a:solidFill>
                  <a:srgbClr val="F5F2EC"/>
                </a:solidFill>
                <a:latin typeface="DM Sans" pitchFamily="34" charset="0"/>
                <a:ea typeface="DM Sans" pitchFamily="34" charset="-122"/>
                <a:cs typeface="DM Sans" pitchFamily="34" charset="-120"/>
              </a:rPr>
              <a:t>“Our goal is not just to predict fraud. It is to support reliable and financially meaningful decisions.”</a:t>
            </a:r>
            <a:endParaRPr lang="en-US" sz="1500" dirty="0"/>
          </a:p>
        </p:txBody>
      </p:sp>
      <p:sp>
        <p:nvSpPr>
          <p:cNvPr id="24" name="Text 22"/>
          <p:cNvSpPr/>
          <p:nvPr/>
        </p:nvSpPr>
        <p:spPr>
          <a:xfrm>
            <a:off x="812800" y="6202685"/>
            <a:ext cx="588645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FC1EA"/>
                </a:solidFill>
                <a:latin typeface="DM Sans" pitchFamily="34" charset="0"/>
                <a:ea typeface="DM Sans" pitchFamily="34" charset="-122"/>
                <a:cs typeface="DM Sans" pitchFamily="34" charset="-120"/>
              </a:rPr>
              <a:t>Thank you — Questions &amp; Discussion</a:t>
            </a:r>
            <a:endParaRPr lang="en-US" sz="1400" dirty="0"/>
          </a:p>
        </p:txBody>
      </p:sp>
      <p:sp>
        <p:nvSpPr>
          <p:cNvPr id="25" name="Text 23"/>
          <p:cNvSpPr/>
          <p:nvPr/>
        </p:nvSpPr>
        <p:spPr>
          <a:xfrm>
            <a:off x="6591554" y="6238242"/>
            <a:ext cx="478764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AEBBC7"/>
                </a:solidFill>
                <a:latin typeface="DM Sans" pitchFamily="34" charset="0"/>
                <a:ea typeface="DM Sans" pitchFamily="34" charset="-122"/>
                <a:cs typeface="DM Sans" pitchFamily="34" charset="-120"/>
              </a:rPr>
              <a:t>(20) </a:t>
            </a:r>
            <a:r>
              <a:rPr lang="en-US" sz="1200" dirty="0">
                <a:solidFill>
                  <a:srgbClr val="AEBBC7"/>
                </a:solidFill>
                <a:latin typeface="DM Sans" pitchFamily="34" charset="0"/>
                <a:ea typeface="DM Sans" pitchFamily="34" charset="-122"/>
                <a:cs typeface="DM Sans" pitchFamily="34" charset="-120"/>
              </a:rPr>
              <a:t>Source: Notebook §9 · Backup slides follow</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A96"/>
                </a:solidFill>
                <a:latin typeface="DM Sans" pitchFamily="34" charset="0"/>
                <a:ea typeface="DM Sans" pitchFamily="34" charset="-122"/>
                <a:cs typeface="DM Sans" pitchFamily="34" charset="-120"/>
              </a:rPr>
              <a:t>BACKUP B1 · DATA QUALITY &amp; DRIFT</a:t>
            </a:r>
            <a:endParaRPr lang="en-US" sz="1200" dirty="0"/>
          </a:p>
        </p:txBody>
      </p:sp>
      <p:sp>
        <p:nvSpPr>
          <p:cNvPr id="3" name="Text 1"/>
          <p:cNvSpPr>
            <a:spLocks noGrp="1"/>
          </p:cNvSpPr>
          <p:nvPr>
            <p:ph type="title"/>
          </p:nvPr>
        </p:nvSpPr>
        <p:spPr>
          <a:xfrm>
            <a:off x="812800" y="1102358"/>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Clean Data, a Time-Ordered Split, and Mild Drift</a:t>
            </a:r>
            <a:endParaRPr lang="en-US" sz="2600" dirty="0"/>
          </a:p>
        </p:txBody>
      </p:sp>
      <p:sp>
        <p:nvSpPr>
          <p:cNvPr id="4" name="Shape 2"/>
          <p:cNvSpPr/>
          <p:nvPr/>
        </p:nvSpPr>
        <p:spPr>
          <a:xfrm>
            <a:off x="819150" y="1637035"/>
            <a:ext cx="5719763" cy="1894840"/>
          </a:xfrm>
          <a:prstGeom prst="roundRect">
            <a:avLst>
              <a:gd name="adj" fmla="val 6367"/>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988060" y="1780542"/>
            <a:ext cx="5543401"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SPLIT OVERVIEW</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98220" y="2067560"/>
          <a:ext cx="5371783" cy="1320800"/>
        </p:xfrm>
        <a:graphic>
          <a:graphicData uri="http://schemas.openxmlformats.org/drawingml/2006/table">
            <a:tbl>
              <a:tblPr/>
              <a:tblGrid>
                <a:gridCol w="966921">
                  <a:extLst>
                    <a:ext uri="{9D8B030D-6E8A-4147-A177-3AD203B41FA5}">
                      <a16:colId xmlns:a16="http://schemas.microsoft.com/office/drawing/2014/main" val="20000"/>
                    </a:ext>
                  </a:extLst>
                </a:gridCol>
                <a:gridCol w="1074356">
                  <a:extLst>
                    <a:ext uri="{9D8B030D-6E8A-4147-A177-3AD203B41FA5}">
                      <a16:colId xmlns:a16="http://schemas.microsoft.com/office/drawing/2014/main" val="20001"/>
                    </a:ext>
                  </a:extLst>
                </a:gridCol>
                <a:gridCol w="966921">
                  <a:extLst>
                    <a:ext uri="{9D8B030D-6E8A-4147-A177-3AD203B41FA5}">
                      <a16:colId xmlns:a16="http://schemas.microsoft.com/office/drawing/2014/main" val="20002"/>
                    </a:ext>
                  </a:extLst>
                </a:gridCol>
                <a:gridCol w="752050">
                  <a:extLst>
                    <a:ext uri="{9D8B030D-6E8A-4147-A177-3AD203B41FA5}">
                      <a16:colId xmlns:a16="http://schemas.microsoft.com/office/drawing/2014/main" val="20003"/>
                    </a:ext>
                  </a:extLst>
                </a:gridCol>
                <a:gridCol w="752050">
                  <a:extLst>
                    <a:ext uri="{9D8B030D-6E8A-4147-A177-3AD203B41FA5}">
                      <a16:colId xmlns:a16="http://schemas.microsoft.com/office/drawing/2014/main" val="20004"/>
                    </a:ext>
                  </a:extLst>
                </a:gridCol>
                <a:gridCol w="859485">
                  <a:extLst>
                    <a:ext uri="{9D8B030D-6E8A-4147-A177-3AD203B41FA5}">
                      <a16:colId xmlns:a16="http://schemas.microsoft.com/office/drawing/2014/main" val="20005"/>
                    </a:ext>
                  </a:extLst>
                </a:gridCol>
              </a:tblGrid>
              <a:tr h="330200">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Split</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Steps</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Rows</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Frauds</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Rate</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Fraud $</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Train</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0–119</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374,914</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4,800</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1.28%</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$2.58M</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Validation</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120–149</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108,423</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1,200</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1.11%</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$0.64M</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Test</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150–179</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111,306</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locked</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locked</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locked</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6729413" y="1637035"/>
            <a:ext cx="4643438" cy="1894840"/>
          </a:xfrm>
          <a:prstGeom prst="roundRect">
            <a:avLst>
              <a:gd name="adj" fmla="val 6367"/>
            </a:avLst>
          </a:prstGeom>
          <a:solidFill>
            <a:srgbClr val="FBF9F5"/>
          </a:solidFill>
          <a:ln w="12700">
            <a:solidFill>
              <a:srgbClr val="DAD4C8"/>
            </a:solidFill>
            <a:prstDash val="solid"/>
          </a:ln>
        </p:spPr>
        <p:txBody>
          <a:bodyPr/>
          <a:lstStyle/>
          <a:p>
            <a:endParaRPr lang="en-US"/>
          </a:p>
        </p:txBody>
      </p:sp>
      <p:sp>
        <p:nvSpPr>
          <p:cNvPr id="8" name="Text 5"/>
          <p:cNvSpPr/>
          <p:nvPr/>
        </p:nvSpPr>
        <p:spPr>
          <a:xfrm>
            <a:off x="6898322" y="1780542"/>
            <a:ext cx="443478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DATA QUALITY</a:t>
            </a:r>
            <a:endParaRPr lang="en-US" sz="1200" dirty="0"/>
          </a:p>
        </p:txBody>
      </p:sp>
      <p:sp>
        <p:nvSpPr>
          <p:cNvPr id="9" name="Text 6"/>
          <p:cNvSpPr/>
          <p:nvPr/>
        </p:nvSpPr>
        <p:spPr>
          <a:xfrm>
            <a:off x="6898322" y="2044700"/>
            <a:ext cx="443478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0202E"/>
                </a:solidFill>
                <a:latin typeface="DM Sans" pitchFamily="34" charset="0"/>
                <a:ea typeface="DM Sans" pitchFamily="34" charset="-122"/>
                <a:cs typeface="DM Sans" pitchFamily="34" charset="-120"/>
              </a:rPr>
              <a:t>Missing values: </a:t>
            </a:r>
            <a:r>
              <a:rPr lang="en-US" sz="1300" b="1" dirty="0">
                <a:solidFill>
                  <a:srgbClr val="10202E"/>
                </a:solidFill>
                <a:latin typeface="DM Sans" pitchFamily="34" charset="0"/>
                <a:ea typeface="DM Sans" pitchFamily="34" charset="-122"/>
                <a:cs typeface="DM Sans" pitchFamily="34" charset="-120"/>
              </a:rPr>
              <a:t>0</a:t>
            </a:r>
            <a:r>
              <a:rPr lang="en-US" sz="1300" dirty="0">
                <a:solidFill>
                  <a:srgbClr val="10202E"/>
                </a:solidFill>
                <a:latin typeface="DM Sans" pitchFamily="34" charset="0"/>
                <a:ea typeface="DM Sans" pitchFamily="34" charset="-122"/>
                <a:cs typeface="DM Sans" pitchFamily="34" charset="-120"/>
              </a:rPr>
              <a:t> · Duplicates: </a:t>
            </a:r>
            <a:r>
              <a:rPr lang="en-US" sz="1300" b="1" dirty="0">
                <a:solidFill>
                  <a:srgbClr val="10202E"/>
                </a:solidFill>
                <a:latin typeface="DM Sans" pitchFamily="34" charset="0"/>
                <a:ea typeface="DM Sans" pitchFamily="34" charset="-122"/>
                <a:cs typeface="DM Sans" pitchFamily="34" charset="-120"/>
              </a:rPr>
              <a:t>0</a:t>
            </a:r>
            <a:endParaRPr lang="en-US" sz="1300" dirty="0"/>
          </a:p>
        </p:txBody>
      </p:sp>
      <p:sp>
        <p:nvSpPr>
          <p:cNvPr id="10" name="Text 7"/>
          <p:cNvSpPr/>
          <p:nvPr/>
        </p:nvSpPr>
        <p:spPr>
          <a:xfrm>
            <a:off x="6898322" y="2310135"/>
            <a:ext cx="4434786" cy="2400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0202E"/>
                </a:solidFill>
                <a:latin typeface="DM Sans" pitchFamily="34" charset="0"/>
                <a:ea typeface="DM Sans" pitchFamily="34" charset="-122"/>
                <a:cs typeface="DM Sans" pitchFamily="34" charset="-120"/>
              </a:rPr>
              <a:t>Zip columns are constant, so they were removed.</a:t>
            </a:r>
            <a:endParaRPr lang="en-US" sz="1300" dirty="0"/>
          </a:p>
        </p:txBody>
      </p:sp>
      <p:sp>
        <p:nvSpPr>
          <p:cNvPr id="11" name="Text 8"/>
          <p:cNvSpPr/>
          <p:nvPr/>
        </p:nvSpPr>
        <p:spPr>
          <a:xfrm>
            <a:off x="6898322" y="2575558"/>
            <a:ext cx="4434786" cy="45466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0202E"/>
                </a:solidFill>
                <a:latin typeface="DM Sans" pitchFamily="34" charset="0"/>
                <a:ea typeface="DM Sans" pitchFamily="34" charset="-122"/>
                <a:cs typeface="DM Sans" pitchFamily="34" charset="-120"/>
              </a:rPr>
              <a:t>age “U” ⇔ gender “E”, so it was relabeled as group 7 and one-hot encoded.</a:t>
            </a:r>
            <a:endParaRPr lang="en-US" sz="1300" dirty="0"/>
          </a:p>
        </p:txBody>
      </p:sp>
      <p:sp>
        <p:nvSpPr>
          <p:cNvPr id="12" name="Shape 9"/>
          <p:cNvSpPr/>
          <p:nvPr/>
        </p:nvSpPr>
        <p:spPr>
          <a:xfrm>
            <a:off x="812800" y="3703327"/>
            <a:ext cx="2546350" cy="1051560"/>
          </a:xfrm>
          <a:prstGeom prst="roundRect">
            <a:avLst>
              <a:gd name="adj" fmla="val 9662"/>
            </a:avLst>
          </a:prstGeom>
          <a:solidFill>
            <a:srgbClr val="10202E"/>
          </a:solidFill>
          <a:ln/>
        </p:spPr>
        <p:txBody>
          <a:bodyPr/>
          <a:lstStyle/>
          <a:p>
            <a:endParaRPr lang="en-US"/>
          </a:p>
        </p:txBody>
      </p:sp>
      <p:sp>
        <p:nvSpPr>
          <p:cNvPr id="13" name="Text 10"/>
          <p:cNvSpPr/>
          <p:nvPr/>
        </p:nvSpPr>
        <p:spPr>
          <a:xfrm>
            <a:off x="965200" y="38303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8A5C"/>
                </a:solidFill>
                <a:latin typeface="DM Sans" pitchFamily="34" charset="0"/>
                <a:ea typeface="DM Sans" pitchFamily="34" charset="-122"/>
                <a:cs typeface="DM Sans" pitchFamily="34" charset="-120"/>
              </a:rPr>
              <a:t>Fraud rate</a:t>
            </a:r>
            <a:endParaRPr lang="en-US" sz="1200" dirty="0"/>
          </a:p>
        </p:txBody>
      </p:sp>
      <p:sp>
        <p:nvSpPr>
          <p:cNvPr id="14" name="Text 11"/>
          <p:cNvSpPr/>
          <p:nvPr/>
        </p:nvSpPr>
        <p:spPr>
          <a:xfrm>
            <a:off x="965200" y="4069085"/>
            <a:ext cx="230879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6FC1EA"/>
                </a:solidFill>
                <a:latin typeface="DM Sans" pitchFamily="34" charset="0"/>
                <a:ea typeface="DM Sans" pitchFamily="34" charset="-122"/>
                <a:cs typeface="DM Sans" pitchFamily="34" charset="-120"/>
              </a:rPr>
              <a:t>1.28% → 1.11%</a:t>
            </a:r>
            <a:endParaRPr lang="en-US" sz="1800" dirty="0"/>
          </a:p>
        </p:txBody>
      </p:sp>
      <p:sp>
        <p:nvSpPr>
          <p:cNvPr id="15" name="Text 12"/>
          <p:cNvSpPr/>
          <p:nvPr/>
        </p:nvSpPr>
        <p:spPr>
          <a:xfrm>
            <a:off x="965200" y="44145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Train → Validation</a:t>
            </a:r>
            <a:endParaRPr lang="en-US" sz="1200" dirty="0"/>
          </a:p>
        </p:txBody>
      </p:sp>
      <p:sp>
        <p:nvSpPr>
          <p:cNvPr id="16" name="Shape 13"/>
          <p:cNvSpPr/>
          <p:nvPr/>
        </p:nvSpPr>
        <p:spPr>
          <a:xfrm>
            <a:off x="3486150" y="3703327"/>
            <a:ext cx="2546350" cy="1051560"/>
          </a:xfrm>
          <a:prstGeom prst="roundRect">
            <a:avLst>
              <a:gd name="adj" fmla="val 9662"/>
            </a:avLst>
          </a:prstGeom>
          <a:solidFill>
            <a:srgbClr val="10202E"/>
          </a:solidFill>
          <a:ln/>
        </p:spPr>
        <p:txBody>
          <a:bodyPr/>
          <a:lstStyle/>
          <a:p>
            <a:endParaRPr lang="en-US"/>
          </a:p>
        </p:txBody>
      </p:sp>
      <p:sp>
        <p:nvSpPr>
          <p:cNvPr id="17" name="Text 14"/>
          <p:cNvSpPr/>
          <p:nvPr/>
        </p:nvSpPr>
        <p:spPr>
          <a:xfrm>
            <a:off x="3638550" y="38303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8A5C"/>
                </a:solidFill>
                <a:latin typeface="DM Sans" pitchFamily="34" charset="0"/>
                <a:ea typeface="DM Sans" pitchFamily="34" charset="-122"/>
                <a:cs typeface="DM Sans" pitchFamily="34" charset="-120"/>
              </a:rPr>
              <a:t>Category mix shift</a:t>
            </a:r>
            <a:endParaRPr lang="en-US" sz="1200" dirty="0"/>
          </a:p>
        </p:txBody>
      </p:sp>
      <p:sp>
        <p:nvSpPr>
          <p:cNvPr id="18" name="Text 15"/>
          <p:cNvSpPr/>
          <p:nvPr/>
        </p:nvSpPr>
        <p:spPr>
          <a:xfrm>
            <a:off x="3638550" y="4069085"/>
            <a:ext cx="230879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6FC1EA"/>
                </a:solidFill>
                <a:latin typeface="DM Sans" pitchFamily="34" charset="0"/>
                <a:ea typeface="DM Sans" pitchFamily="34" charset="-122"/>
                <a:cs typeface="DM Sans" pitchFamily="34" charset="-120"/>
              </a:rPr>
              <a:t>2.15%</a:t>
            </a:r>
            <a:endParaRPr lang="en-US" sz="1800" dirty="0"/>
          </a:p>
        </p:txBody>
      </p:sp>
      <p:sp>
        <p:nvSpPr>
          <p:cNvPr id="19" name="Text 16"/>
          <p:cNvSpPr/>
          <p:nvPr/>
        </p:nvSpPr>
        <p:spPr>
          <a:xfrm>
            <a:off x="3638550" y="44145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sum of |Δ| / 2</a:t>
            </a:r>
            <a:endParaRPr lang="en-US" sz="1200" dirty="0"/>
          </a:p>
        </p:txBody>
      </p:sp>
      <p:sp>
        <p:nvSpPr>
          <p:cNvPr id="20" name="Shape 17"/>
          <p:cNvSpPr/>
          <p:nvPr/>
        </p:nvSpPr>
        <p:spPr>
          <a:xfrm>
            <a:off x="6159500" y="3703327"/>
            <a:ext cx="2546350" cy="1051560"/>
          </a:xfrm>
          <a:prstGeom prst="roundRect">
            <a:avLst>
              <a:gd name="adj" fmla="val 9662"/>
            </a:avLst>
          </a:prstGeom>
          <a:solidFill>
            <a:srgbClr val="10202E"/>
          </a:solidFill>
          <a:ln/>
        </p:spPr>
        <p:txBody>
          <a:bodyPr/>
          <a:lstStyle/>
          <a:p>
            <a:endParaRPr lang="en-US"/>
          </a:p>
        </p:txBody>
      </p:sp>
      <p:sp>
        <p:nvSpPr>
          <p:cNvPr id="21" name="Text 18"/>
          <p:cNvSpPr/>
          <p:nvPr/>
        </p:nvSpPr>
        <p:spPr>
          <a:xfrm>
            <a:off x="6311900" y="38303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8A5C"/>
                </a:solidFill>
                <a:latin typeface="DM Sans" pitchFamily="34" charset="0"/>
                <a:ea typeface="DM Sans" pitchFamily="34" charset="-122"/>
                <a:cs typeface="DM Sans" pitchFamily="34" charset="-120"/>
              </a:rPr>
              <a:t>Median amount</a:t>
            </a:r>
            <a:endParaRPr lang="en-US" sz="1200" dirty="0"/>
          </a:p>
        </p:txBody>
      </p:sp>
      <p:sp>
        <p:nvSpPr>
          <p:cNvPr id="22" name="Text 19"/>
          <p:cNvSpPr/>
          <p:nvPr/>
        </p:nvSpPr>
        <p:spPr>
          <a:xfrm>
            <a:off x="6311900" y="4069085"/>
            <a:ext cx="230879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6FC1EA"/>
                </a:solidFill>
                <a:latin typeface="DM Sans" pitchFamily="34" charset="0"/>
                <a:ea typeface="DM Sans" pitchFamily="34" charset="-122"/>
                <a:cs typeface="DM Sans" pitchFamily="34" charset="-120"/>
              </a:rPr>
              <a:t>$26.87 → $26.95</a:t>
            </a:r>
            <a:endParaRPr lang="en-US" sz="1800" dirty="0"/>
          </a:p>
        </p:txBody>
      </p:sp>
      <p:sp>
        <p:nvSpPr>
          <p:cNvPr id="23" name="Text 20"/>
          <p:cNvSpPr/>
          <p:nvPr/>
        </p:nvSpPr>
        <p:spPr>
          <a:xfrm>
            <a:off x="6311900" y="44145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Train → Validation</a:t>
            </a:r>
            <a:endParaRPr lang="en-US" sz="1200" dirty="0"/>
          </a:p>
        </p:txBody>
      </p:sp>
      <p:sp>
        <p:nvSpPr>
          <p:cNvPr id="24" name="Shape 21"/>
          <p:cNvSpPr/>
          <p:nvPr/>
        </p:nvSpPr>
        <p:spPr>
          <a:xfrm>
            <a:off x="8832850" y="3703327"/>
            <a:ext cx="2546350" cy="1051560"/>
          </a:xfrm>
          <a:prstGeom prst="roundRect">
            <a:avLst>
              <a:gd name="adj" fmla="val 9662"/>
            </a:avLst>
          </a:prstGeom>
          <a:solidFill>
            <a:srgbClr val="10202E"/>
          </a:solidFill>
          <a:ln/>
        </p:spPr>
        <p:txBody>
          <a:bodyPr/>
          <a:lstStyle/>
          <a:p>
            <a:endParaRPr lang="en-US"/>
          </a:p>
        </p:txBody>
      </p:sp>
      <p:sp>
        <p:nvSpPr>
          <p:cNvPr id="25" name="Text 22"/>
          <p:cNvSpPr/>
          <p:nvPr/>
        </p:nvSpPr>
        <p:spPr>
          <a:xfrm>
            <a:off x="8985250" y="38303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8A5C"/>
                </a:solidFill>
                <a:latin typeface="DM Sans" pitchFamily="34" charset="0"/>
                <a:ea typeface="DM Sans" pitchFamily="34" charset="-122"/>
                <a:cs typeface="DM Sans" pitchFamily="34" charset="-120"/>
              </a:rPr>
              <a:t>Val customers seen in Train</a:t>
            </a:r>
            <a:endParaRPr lang="en-US" sz="1200" dirty="0"/>
          </a:p>
        </p:txBody>
      </p:sp>
      <p:sp>
        <p:nvSpPr>
          <p:cNvPr id="26" name="Text 23"/>
          <p:cNvSpPr/>
          <p:nvPr/>
        </p:nvSpPr>
        <p:spPr>
          <a:xfrm>
            <a:off x="8985250" y="4069085"/>
            <a:ext cx="230879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6FC1EA"/>
                </a:solidFill>
                <a:latin typeface="DM Sans" pitchFamily="34" charset="0"/>
                <a:ea typeface="DM Sans" pitchFamily="34" charset="-122"/>
                <a:cs typeface="DM Sans" pitchFamily="34" charset="-120"/>
              </a:rPr>
              <a:t>100%</a:t>
            </a:r>
            <a:endParaRPr lang="en-US" sz="1800" dirty="0"/>
          </a:p>
        </p:txBody>
      </p:sp>
      <p:sp>
        <p:nvSpPr>
          <p:cNvPr id="27" name="Text 24"/>
          <p:cNvSpPr/>
          <p:nvPr/>
        </p:nvSpPr>
        <p:spPr>
          <a:xfrm>
            <a:off x="8985250" y="4414527"/>
            <a:ext cx="230879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BC7"/>
                </a:solidFill>
                <a:latin typeface="DM Sans" pitchFamily="34" charset="0"/>
                <a:ea typeface="DM Sans" pitchFamily="34" charset="-122"/>
                <a:cs typeface="DM Sans" pitchFamily="34" charset="-120"/>
              </a:rPr>
              <a:t>like a real bank</a:t>
            </a:r>
            <a:endParaRPr lang="en-US" sz="1200" dirty="0"/>
          </a:p>
        </p:txBody>
      </p:sp>
      <p:sp>
        <p:nvSpPr>
          <p:cNvPr id="28" name="Text 25"/>
          <p:cNvSpPr/>
          <p:nvPr/>
        </p:nvSpPr>
        <p:spPr>
          <a:xfrm>
            <a:off x="812800" y="5140325"/>
            <a:ext cx="4388676" cy="254000"/>
          </a:xfrm>
          <a:prstGeom prst="rect">
            <a:avLst/>
          </a:prstGeom>
          <a:noFill/>
          <a:ln/>
        </p:spPr>
        <p:txBody>
          <a:bodyPr wrap="square" lIns="0" tIns="0" rIns="0" bIns="0" rtlCol="0" anchor="t">
            <a:normAutofit/>
          </a:bodyPr>
          <a:lstStyle/>
          <a:p>
            <a:pPr marL="0" indent="0" algn="l">
              <a:lnSpc>
                <a:spcPts val="1800"/>
              </a:lnSpc>
              <a:buNone/>
            </a:pPr>
            <a:r>
              <a:rPr lang="en-US" sz="1500" i="1" dirty="0">
                <a:solidFill>
                  <a:srgbClr val="10202E"/>
                </a:solidFill>
                <a:latin typeface="DM Sans" pitchFamily="34" charset="0"/>
                <a:ea typeface="DM Sans" pitchFamily="34" charset="-122"/>
                <a:cs typeface="DM Sans" pitchFamily="34" charset="-120"/>
              </a:rPr>
              <a:t>“Why split by time? Is there drift?”</a:t>
            </a:r>
            <a:endParaRPr lang="en-US" sz="1500" dirty="0"/>
          </a:p>
        </p:txBody>
      </p:sp>
      <p:sp>
        <p:nvSpPr>
          <p:cNvPr id="29" name="Shape 26"/>
          <p:cNvSpPr/>
          <p:nvPr/>
        </p:nvSpPr>
        <p:spPr>
          <a:xfrm>
            <a:off x="5270500" y="4919985"/>
            <a:ext cx="0" cy="669290"/>
          </a:xfrm>
          <a:prstGeom prst="line">
            <a:avLst/>
          </a:prstGeom>
          <a:noFill/>
          <a:ln w="38100">
            <a:solidFill>
              <a:srgbClr val="1D6A96"/>
            </a:solidFill>
            <a:prstDash val="solid"/>
          </a:ln>
        </p:spPr>
        <p:txBody>
          <a:bodyPr/>
          <a:lstStyle/>
          <a:p>
            <a:endParaRPr lang="en-US"/>
          </a:p>
        </p:txBody>
      </p:sp>
      <p:sp>
        <p:nvSpPr>
          <p:cNvPr id="30" name="Text 27"/>
          <p:cNvSpPr/>
          <p:nvPr/>
        </p:nvSpPr>
        <p:spPr>
          <a:xfrm>
            <a:off x="5414010" y="4932685"/>
            <a:ext cx="6144146" cy="66929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D6A96"/>
                </a:solidFill>
                <a:latin typeface="DM Sans" pitchFamily="34" charset="0"/>
                <a:ea typeface="DM Sans" pitchFamily="34" charset="-122"/>
                <a:cs typeface="DM Sans" pitchFamily="34" charset="-120"/>
              </a:rPr>
              <a:t>Answer:</a:t>
            </a:r>
            <a:r>
              <a:rPr lang="en-US" sz="1300" dirty="0">
                <a:solidFill>
                  <a:srgbClr val="10202E"/>
                </a:solidFill>
                <a:latin typeface="DM Sans" pitchFamily="34" charset="0"/>
                <a:ea typeface="DM Sans" pitchFamily="34" charset="-122"/>
                <a:cs typeface="DM Sans" pitchFamily="34" charset="-120"/>
              </a:rPr>
              <a:t> The future must not leak into training. Fraud per day is roughly constant while legitimate volume grows, so the rate drifts slightly; thresholds are tuned on Validation, not fixed at 0.5.</a:t>
            </a:r>
            <a:endParaRPr lang="en-US" sz="1300" dirty="0"/>
          </a:p>
        </p:txBody>
      </p:sp>
      <p:sp>
        <p:nvSpPr>
          <p:cNvPr id="31" name="Text 2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§2, §3.8</a:t>
            </a:r>
            <a:endParaRPr lang="en-US" sz="1200" dirty="0"/>
          </a:p>
        </p:txBody>
      </p:sp>
      <p:sp>
        <p:nvSpPr>
          <p:cNvPr id="32" name="Text 29"/>
          <p:cNvSpPr/>
          <p:nvPr/>
        </p:nvSpPr>
        <p:spPr>
          <a:xfrm>
            <a:off x="6591554" y="6238242"/>
            <a:ext cx="478764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(21) </a:t>
            </a:r>
            <a:r>
              <a:rPr lang="en-US" sz="1200" dirty="0">
                <a:solidFill>
                  <a:srgbClr val="54606C"/>
                </a:solidFill>
                <a:latin typeface="DM Sans" pitchFamily="34" charset="0"/>
                <a:ea typeface="DM Sans" pitchFamily="34" charset="-122"/>
                <a:cs typeface="DM Sans" pitchFamily="34" charset="-120"/>
              </a:rPr>
              <a:t>Backup · not part of the main 20 minutes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7089"/>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1D6A96"/>
                </a:solidFill>
                <a:latin typeface="DM Sans" pitchFamily="34" charset="0"/>
                <a:ea typeface="DM Sans" pitchFamily="34" charset="-122"/>
                <a:cs typeface="DM Sans" pitchFamily="34" charset="-120"/>
              </a:rPr>
              <a:t>BACKUP B2 · MODEL TUNING DETAILS</a:t>
            </a:r>
            <a:endParaRPr lang="en-US" sz="1050" dirty="0"/>
          </a:p>
        </p:txBody>
      </p:sp>
      <p:sp>
        <p:nvSpPr>
          <p:cNvPr id="3" name="Text 1"/>
          <p:cNvSpPr>
            <a:spLocks noGrp="1"/>
          </p:cNvSpPr>
          <p:nvPr>
            <p:ph type="title"/>
          </p:nvPr>
        </p:nvSpPr>
        <p:spPr>
          <a:xfrm>
            <a:off x="812800" y="1070694"/>
            <a:ext cx="10883392" cy="334724"/>
          </a:xfrm>
          <a:prstGeom prst="rect">
            <a:avLst/>
          </a:prstGeom>
          <a:noFill/>
          <a:ln/>
        </p:spPr>
        <p:txBody>
          <a:bodyPr wrap="square" lIns="0" tIns="0" rIns="0" bIns="0" rtlCol="0" anchor="t">
            <a:normAutofit/>
          </a:bodyPr>
          <a:lstStyle/>
          <a:p>
            <a:pPr marL="0" indent="0" algn="l">
              <a:lnSpc>
                <a:spcPts val="2467"/>
              </a:lnSpc>
              <a:buNone/>
            </a:pPr>
            <a:r>
              <a:rPr lang="en-US" sz="2243" b="1" i="0" dirty="0">
                <a:solidFill>
                  <a:srgbClr val="10202E"/>
                </a:solidFill>
                <a:latin typeface="DM Sans" pitchFamily="34" charset="0"/>
                <a:ea typeface="DM Sans" pitchFamily="34" charset="-122"/>
                <a:cs typeface="DM Sans" pitchFamily="34" charset="-120"/>
              </a:rPr>
              <a:t>Top Validation Configurations per Model</a:t>
            </a:r>
            <a:endParaRPr lang="en-US" sz="2243" dirty="0"/>
          </a:p>
        </p:txBody>
      </p:sp>
      <p:sp>
        <p:nvSpPr>
          <p:cNvPr id="4" name="Shape 2"/>
          <p:cNvSpPr/>
          <p:nvPr/>
        </p:nvSpPr>
        <p:spPr>
          <a:xfrm>
            <a:off x="819150" y="1551471"/>
            <a:ext cx="3275330" cy="1898571"/>
          </a:xfrm>
          <a:prstGeom prst="roundRect">
            <a:avLst>
              <a:gd name="adj" fmla="val 6355"/>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962660" y="1682279"/>
            <a:ext cx="3077959" cy="205740"/>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1D6A96"/>
                </a:solidFill>
                <a:latin typeface="DM Sans" pitchFamily="34" charset="0"/>
                <a:ea typeface="DM Sans" pitchFamily="34" charset="-122"/>
                <a:cs typeface="DM Sans" pitchFamily="34" charset="-120"/>
              </a:rPr>
              <a:t>LOGISTIC REGRESSION</a:t>
            </a:r>
            <a:endParaRPr lang="en-US" sz="1016"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2820" y="1923581"/>
          <a:ext cx="2978150" cy="1395652"/>
        </p:xfrm>
        <a:graphic>
          <a:graphicData uri="http://schemas.openxmlformats.org/drawingml/2006/table">
            <a:tbl>
              <a:tblPr/>
              <a:tblGrid>
                <a:gridCol w="2025142">
                  <a:extLst>
                    <a:ext uri="{9D8B030D-6E8A-4147-A177-3AD203B41FA5}">
                      <a16:colId xmlns:a16="http://schemas.microsoft.com/office/drawing/2014/main" val="20000"/>
                    </a:ext>
                  </a:extLst>
                </a:gridCol>
                <a:gridCol w="953008">
                  <a:extLst>
                    <a:ext uri="{9D8B030D-6E8A-4147-A177-3AD203B41FA5}">
                      <a16:colId xmlns:a16="http://schemas.microsoft.com/office/drawing/2014/main" val="20001"/>
                    </a:ext>
                  </a:extLst>
                </a:gridCol>
              </a:tblGrid>
              <a:tr h="279083">
                <a:tc>
                  <a:txBody>
                    <a:bodyPr/>
                    <a:lstStyle/>
                    <a:p>
                      <a:pPr marL="0" indent="0">
                        <a:lnSpc>
                          <a:spcPts val="1412"/>
                        </a:lnSpc>
                        <a:buNone/>
                      </a:pPr>
                      <a:r>
                        <a:rPr lang="en-US" sz="1009" b="1" dirty="0">
                          <a:solidFill>
                            <a:srgbClr val="10202E"/>
                          </a:solidFill>
                          <a:latin typeface="DM Sans" pitchFamily="34" charset="0"/>
                          <a:ea typeface="DM Sans" pitchFamily="34" charset="-122"/>
                          <a:cs typeface="DM Sans" pitchFamily="34" charset="-120"/>
                        </a:rPr>
                        <a:t>Config</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412"/>
                        </a:lnSpc>
                        <a:buNone/>
                      </a:pPr>
                      <a:r>
                        <a:rPr lang="en-US" sz="1009" b="1" dirty="0">
                          <a:solidFill>
                            <a:srgbClr val="10202E"/>
                          </a:solidFill>
                          <a:latin typeface="DM Sans" pitchFamily="34" charset="0"/>
                          <a:ea typeface="DM Sans" pitchFamily="34" charset="-122"/>
                          <a:cs typeface="DM Sans" pitchFamily="34" charset="-120"/>
                        </a:rPr>
                        <a:t>PR-AUC</a:t>
                      </a:r>
                      <a:endParaRPr lang="en-US" sz="1009" dirty="0">
                        <a:latin typeface="DM Sans" charset="0"/>
                        <a:ea typeface="DM Sans" charset="0"/>
                        <a:cs typeface="DM Sans" charset="0"/>
                      </a:endParaRPr>
                    </a:p>
                  </a:txBody>
                  <a:tcPr marL="44839" marR="44839" marT="44839" marB="44839">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279083">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C=10, none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0.9073</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 none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0.9070</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C=0.1, none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0.9022</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C=10, balanced</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0.8897</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4234180" y="1551471"/>
            <a:ext cx="3275409" cy="1898571"/>
          </a:xfrm>
          <a:prstGeom prst="roundRect">
            <a:avLst>
              <a:gd name="adj" fmla="val 6355"/>
            </a:avLst>
          </a:prstGeom>
          <a:solidFill>
            <a:srgbClr val="FBF9F5"/>
          </a:solidFill>
          <a:ln w="12700">
            <a:solidFill>
              <a:srgbClr val="DAD4C8"/>
            </a:solidFill>
            <a:prstDash val="solid"/>
          </a:ln>
        </p:spPr>
        <p:txBody>
          <a:bodyPr/>
          <a:lstStyle/>
          <a:p>
            <a:endParaRPr lang="en-US"/>
          </a:p>
        </p:txBody>
      </p:sp>
      <p:sp>
        <p:nvSpPr>
          <p:cNvPr id="8" name="Text 5"/>
          <p:cNvSpPr/>
          <p:nvPr/>
        </p:nvSpPr>
        <p:spPr>
          <a:xfrm>
            <a:off x="4377690" y="1682279"/>
            <a:ext cx="3078041" cy="205740"/>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1D6A96"/>
                </a:solidFill>
                <a:latin typeface="DM Sans" pitchFamily="34" charset="0"/>
                <a:ea typeface="DM Sans" pitchFamily="34" charset="-122"/>
                <a:cs typeface="DM Sans" pitchFamily="34" charset="-120"/>
              </a:rPr>
              <a:t>SVM (RBF)</a:t>
            </a:r>
            <a:endParaRPr lang="en-US" sz="1016"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387850" y="1923581"/>
          <a:ext cx="2978229" cy="1395652"/>
        </p:xfrm>
        <a:graphic>
          <a:graphicData uri="http://schemas.openxmlformats.org/drawingml/2006/table">
            <a:tbl>
              <a:tblPr/>
              <a:tblGrid>
                <a:gridCol w="2025196">
                  <a:extLst>
                    <a:ext uri="{9D8B030D-6E8A-4147-A177-3AD203B41FA5}">
                      <a16:colId xmlns:a16="http://schemas.microsoft.com/office/drawing/2014/main" val="20000"/>
                    </a:ext>
                  </a:extLst>
                </a:gridCol>
                <a:gridCol w="953033">
                  <a:extLst>
                    <a:ext uri="{9D8B030D-6E8A-4147-A177-3AD203B41FA5}">
                      <a16:colId xmlns:a16="http://schemas.microsoft.com/office/drawing/2014/main" val="20001"/>
                    </a:ext>
                  </a:extLst>
                </a:gridCol>
              </a:tblGrid>
              <a:tr h="279083">
                <a:tc>
                  <a:txBody>
                    <a:bodyPr/>
                    <a:lstStyle/>
                    <a:p>
                      <a:pPr marL="0" indent="0">
                        <a:lnSpc>
                          <a:spcPts val="1412"/>
                        </a:lnSpc>
                        <a:buNone/>
                      </a:pPr>
                      <a:r>
                        <a:rPr lang="en-US" sz="1009" b="1" dirty="0">
                          <a:solidFill>
                            <a:srgbClr val="10202E"/>
                          </a:solidFill>
                          <a:latin typeface="DM Sans" pitchFamily="34" charset="0"/>
                          <a:ea typeface="DM Sans" pitchFamily="34" charset="-122"/>
                          <a:cs typeface="DM Sans" pitchFamily="34" charset="-120"/>
                        </a:rPr>
                        <a:t>Config</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412"/>
                        </a:lnSpc>
                        <a:buNone/>
                      </a:pPr>
                      <a:r>
                        <a:rPr lang="en-US" sz="1009" b="1" dirty="0">
                          <a:solidFill>
                            <a:srgbClr val="10202E"/>
                          </a:solidFill>
                          <a:latin typeface="DM Sans" pitchFamily="34" charset="0"/>
                          <a:ea typeface="DM Sans" pitchFamily="34" charset="-122"/>
                          <a:cs typeface="DM Sans" pitchFamily="34" charset="-120"/>
                        </a:rPr>
                        <a:t>PR-AUC</a:t>
                      </a:r>
                      <a:endParaRPr lang="en-US" sz="1009" dirty="0">
                        <a:latin typeface="DM Sans" charset="0"/>
                        <a:ea typeface="DM Sans" charset="0"/>
                        <a:cs typeface="DM Sans" charset="0"/>
                      </a:endParaRPr>
                    </a:p>
                  </a:txBody>
                  <a:tcPr marL="44839" marR="44839" marT="44839" marB="44839">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279083">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C=10, γ=0.02</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0.9235</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 γ=0.02</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0.9165</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 scale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0.9072</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C=10, scale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0.8986</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6"/>
          <p:cNvSpPr/>
          <p:nvPr/>
        </p:nvSpPr>
        <p:spPr>
          <a:xfrm>
            <a:off x="7649290" y="1551471"/>
            <a:ext cx="3723561" cy="1898571"/>
          </a:xfrm>
          <a:prstGeom prst="roundRect">
            <a:avLst>
              <a:gd name="adj" fmla="val 6355"/>
            </a:avLst>
          </a:prstGeom>
          <a:solidFill>
            <a:srgbClr val="FBF9F5"/>
          </a:solidFill>
          <a:ln w="12700">
            <a:solidFill>
              <a:srgbClr val="DAD4C8"/>
            </a:solidFill>
            <a:prstDash val="solid"/>
          </a:ln>
        </p:spPr>
        <p:txBody>
          <a:bodyPr/>
          <a:lstStyle/>
          <a:p>
            <a:endParaRPr lang="en-US"/>
          </a:p>
        </p:txBody>
      </p:sp>
      <p:sp>
        <p:nvSpPr>
          <p:cNvPr id="11" name="Text 7"/>
          <p:cNvSpPr/>
          <p:nvPr/>
        </p:nvSpPr>
        <p:spPr>
          <a:xfrm>
            <a:off x="7792800" y="1682279"/>
            <a:ext cx="3539637" cy="205740"/>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1D6A96"/>
                </a:solidFill>
                <a:latin typeface="DM Sans" pitchFamily="34" charset="0"/>
                <a:ea typeface="DM Sans" pitchFamily="34" charset="-122"/>
                <a:cs typeface="DM Sans" pitchFamily="34" charset="-120"/>
              </a:rPr>
              <a:t>DECISION TREE</a:t>
            </a:r>
            <a:endParaRPr lang="en-US" sz="1016" dirty="0"/>
          </a:p>
        </p:txBody>
      </p:sp>
      <p:graphicFrame>
        <p:nvGraphicFramePr>
          <p:cNvPr id="12" name="Table 2"/>
          <p:cNvGraphicFramePr>
            <a:graphicFrameLocks noGrp="1"/>
          </p:cNvGraphicFramePr>
          <p:nvPr>
            <p:extLst>
              <p:ext uri="{D42A27DB-BD31-4B8C-83A1-F6EECF244321}">
                <p14:modId xmlns:p14="http://schemas.microsoft.com/office/powerpoint/2010/main" val="1579011935"/>
              </p:ext>
            </p:extLst>
          </p:nvPr>
        </p:nvGraphicFramePr>
        <p:xfrm>
          <a:off x="7802960" y="1923581"/>
          <a:ext cx="3426381" cy="1395652"/>
        </p:xfrm>
        <a:graphic>
          <a:graphicData uri="http://schemas.openxmlformats.org/drawingml/2006/table">
            <a:tbl>
              <a:tblPr/>
              <a:tblGrid>
                <a:gridCol w="2329939">
                  <a:extLst>
                    <a:ext uri="{9D8B030D-6E8A-4147-A177-3AD203B41FA5}">
                      <a16:colId xmlns:a16="http://schemas.microsoft.com/office/drawing/2014/main" val="20000"/>
                    </a:ext>
                  </a:extLst>
                </a:gridCol>
                <a:gridCol w="1096442">
                  <a:extLst>
                    <a:ext uri="{9D8B030D-6E8A-4147-A177-3AD203B41FA5}">
                      <a16:colId xmlns:a16="http://schemas.microsoft.com/office/drawing/2014/main" val="20001"/>
                    </a:ext>
                  </a:extLst>
                </a:gridCol>
              </a:tblGrid>
              <a:tr h="279083">
                <a:tc>
                  <a:txBody>
                    <a:bodyPr/>
                    <a:lstStyle/>
                    <a:p>
                      <a:pPr marL="0" indent="0">
                        <a:lnSpc>
                          <a:spcPts val="1412"/>
                        </a:lnSpc>
                        <a:buNone/>
                      </a:pPr>
                      <a:r>
                        <a:rPr lang="en-US" sz="1009" b="1" dirty="0">
                          <a:solidFill>
                            <a:srgbClr val="10202E"/>
                          </a:solidFill>
                          <a:latin typeface="DM Sans" pitchFamily="34" charset="0"/>
                          <a:ea typeface="DM Sans" pitchFamily="34" charset="-122"/>
                          <a:cs typeface="DM Sans" pitchFamily="34" charset="-120"/>
                        </a:rPr>
                        <a:t>Depth / leaf / weight</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412"/>
                        </a:lnSpc>
                        <a:buNone/>
                      </a:pPr>
                      <a:r>
                        <a:rPr lang="en-US" sz="1009" b="1" dirty="0">
                          <a:solidFill>
                            <a:srgbClr val="10202E"/>
                          </a:solidFill>
                          <a:latin typeface="DM Sans" pitchFamily="34" charset="0"/>
                          <a:ea typeface="DM Sans" pitchFamily="34" charset="-122"/>
                          <a:cs typeface="DM Sans" pitchFamily="34" charset="-120"/>
                        </a:rPr>
                        <a:t>PR-AUC</a:t>
                      </a:r>
                      <a:endParaRPr lang="en-US" sz="1009" dirty="0">
                        <a:latin typeface="DM Sans" charset="0"/>
                        <a:ea typeface="DM Sans" charset="0"/>
                        <a:cs typeface="DM Sans" charset="0"/>
                      </a:endParaRPr>
                    </a:p>
                  </a:txBody>
                  <a:tcPr marL="44839" marR="44839" marT="44839" marB="44839">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279083">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12 / 100 / none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0.8711</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12 / 20 / none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0.8649</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12 / 100 / balanced</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0.8459</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279162">
                <a:tc>
                  <a:txBody>
                    <a:bodyPr/>
                    <a:lstStyle/>
                    <a:p>
                      <a:pPr marL="0" indent="0">
                        <a:lnSpc>
                          <a:spcPts val="1412"/>
                        </a:lnSpc>
                        <a:buNone/>
                      </a:pPr>
                      <a:r>
                        <a:rPr lang="en-US" sz="1009" dirty="0">
                          <a:solidFill>
                            <a:srgbClr val="10202E"/>
                          </a:solidFill>
                          <a:latin typeface="DM Sans" pitchFamily="34" charset="0"/>
                          <a:ea typeface="DM Sans" pitchFamily="34" charset="-122"/>
                          <a:cs typeface="DM Sans" pitchFamily="34" charset="-120"/>
                        </a:rPr>
                        <a:t>8 / 100 / none</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12"/>
                        </a:lnSpc>
                        <a:buNone/>
                      </a:pPr>
                      <a:r>
                        <a:rPr lang="en-US" sz="1009" dirty="0">
                          <a:solidFill>
                            <a:srgbClr val="10202E"/>
                          </a:solidFill>
                          <a:latin typeface="DM Sans" pitchFamily="34" charset="0"/>
                          <a:ea typeface="DM Sans" pitchFamily="34" charset="-122"/>
                          <a:cs typeface="DM Sans" pitchFamily="34" charset="-120"/>
                        </a:rPr>
                        <a:t>0.8454</a:t>
                      </a:r>
                      <a:endParaRPr lang="en-US" sz="1009" dirty="0">
                        <a:latin typeface="DM Sans" charset="0"/>
                        <a:ea typeface="DM Sans" charset="0"/>
                        <a:cs typeface="DM Sans" charset="0"/>
                      </a:endParaRPr>
                    </a:p>
                  </a:txBody>
                  <a:tcPr marL="44839" marR="44839" marT="44839" marB="44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Shape 8"/>
          <p:cNvSpPr/>
          <p:nvPr/>
        </p:nvSpPr>
        <p:spPr>
          <a:xfrm>
            <a:off x="819150" y="3627834"/>
            <a:ext cx="10553700" cy="1647666"/>
          </a:xfrm>
          <a:prstGeom prst="roundRect">
            <a:avLst>
              <a:gd name="adj" fmla="val 7322"/>
            </a:avLst>
          </a:prstGeom>
          <a:solidFill>
            <a:srgbClr val="FBF9F5"/>
          </a:solidFill>
          <a:ln w="12700">
            <a:solidFill>
              <a:srgbClr val="DAD4C8"/>
            </a:solidFill>
            <a:prstDash val="solid"/>
          </a:ln>
        </p:spPr>
        <p:txBody>
          <a:bodyPr/>
          <a:lstStyle/>
          <a:p>
            <a:endParaRPr lang="en-US"/>
          </a:p>
        </p:txBody>
      </p:sp>
      <p:sp>
        <p:nvSpPr>
          <p:cNvPr id="14" name="Text 9"/>
          <p:cNvSpPr/>
          <p:nvPr/>
        </p:nvSpPr>
        <p:spPr>
          <a:xfrm>
            <a:off x="988060" y="3758642"/>
            <a:ext cx="10522357" cy="209709"/>
          </a:xfrm>
          <a:prstGeom prst="rect">
            <a:avLst/>
          </a:prstGeom>
          <a:noFill/>
          <a:ln/>
        </p:spPr>
        <p:txBody>
          <a:bodyPr wrap="square" lIns="0" tIns="0" rIns="0" bIns="0" rtlCol="0" anchor="t">
            <a:normAutofit/>
          </a:bodyPr>
          <a:lstStyle/>
          <a:p>
            <a:pPr marL="0" indent="0" algn="l">
              <a:lnSpc>
                <a:spcPts val="1470"/>
              </a:lnSpc>
              <a:buNone/>
            </a:pPr>
            <a:r>
              <a:rPr lang="en-US" sz="1050" b="1" kern="0" spc="50" dirty="0">
                <a:solidFill>
                  <a:srgbClr val="54606C"/>
                </a:solidFill>
                <a:latin typeface="DM Sans" pitchFamily="34" charset="0"/>
                <a:ea typeface="DM Sans" pitchFamily="34" charset="-122"/>
                <a:cs typeface="DM Sans" pitchFamily="34" charset="-120"/>
              </a:rPr>
              <a:t>STATIC VS STATIC + BEHAVIORAL FEATURES (DEFAULT SETTINGS, VALIDATION PR-AUC)</a:t>
            </a:r>
            <a:endParaRPr lang="en-US" sz="1050" dirty="0"/>
          </a:p>
        </p:txBody>
      </p:sp>
      <p:graphicFrame>
        <p:nvGraphicFramePr>
          <p:cNvPr id="15" name="Table 3"/>
          <p:cNvGraphicFramePr>
            <a:graphicFrameLocks noGrp="1"/>
          </p:cNvGraphicFramePr>
          <p:nvPr>
            <p:extLst>
              <p:ext uri="{D42A27DB-BD31-4B8C-83A1-F6EECF244321}">
                <p14:modId xmlns:p14="http://schemas.microsoft.com/office/powerpoint/2010/main" val="1579011935"/>
              </p:ext>
            </p:extLst>
          </p:nvPr>
        </p:nvGraphicFramePr>
        <p:xfrm>
          <a:off x="998220" y="4003913"/>
          <a:ext cx="10205720" cy="1140776"/>
        </p:xfrm>
        <a:graphic>
          <a:graphicData uri="http://schemas.openxmlformats.org/drawingml/2006/table">
            <a:tbl>
              <a:tblPr/>
              <a:tblGrid>
                <a:gridCol w="3469945">
                  <a:extLst>
                    <a:ext uri="{9D8B030D-6E8A-4147-A177-3AD203B41FA5}">
                      <a16:colId xmlns:a16="http://schemas.microsoft.com/office/drawing/2014/main" val="20000"/>
                    </a:ext>
                  </a:extLst>
                </a:gridCol>
                <a:gridCol w="2245258">
                  <a:extLst>
                    <a:ext uri="{9D8B030D-6E8A-4147-A177-3AD203B41FA5}">
                      <a16:colId xmlns:a16="http://schemas.microsoft.com/office/drawing/2014/main" val="20001"/>
                    </a:ext>
                  </a:extLst>
                </a:gridCol>
                <a:gridCol w="2653487">
                  <a:extLst>
                    <a:ext uri="{9D8B030D-6E8A-4147-A177-3AD203B41FA5}">
                      <a16:colId xmlns:a16="http://schemas.microsoft.com/office/drawing/2014/main" val="20002"/>
                    </a:ext>
                  </a:extLst>
                </a:gridCol>
                <a:gridCol w="1837030">
                  <a:extLst>
                    <a:ext uri="{9D8B030D-6E8A-4147-A177-3AD203B41FA5}">
                      <a16:colId xmlns:a16="http://schemas.microsoft.com/office/drawing/2014/main" val="20003"/>
                    </a:ext>
                  </a:extLst>
                </a:gridCol>
              </a:tblGrid>
              <a:tr h="285194">
                <a:tc>
                  <a:txBody>
                    <a:bodyPr/>
                    <a:lstStyle/>
                    <a:p>
                      <a:pPr marL="0" indent="0">
                        <a:lnSpc>
                          <a:spcPts val="1444"/>
                        </a:lnSpc>
                        <a:buNone/>
                      </a:pPr>
                      <a:r>
                        <a:rPr lang="en-US" sz="1031" b="1" dirty="0">
                          <a:solidFill>
                            <a:srgbClr val="10202E"/>
                          </a:solidFill>
                          <a:latin typeface="DM Sans" pitchFamily="34" charset="0"/>
                          <a:ea typeface="DM Sans" pitchFamily="34" charset="-122"/>
                          <a:cs typeface="DM Sans" pitchFamily="34" charset="-120"/>
                        </a:rPr>
                        <a:t>Model</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444"/>
                        </a:lnSpc>
                        <a:buNone/>
                      </a:pPr>
                      <a:r>
                        <a:rPr lang="en-US" sz="1031" b="1" dirty="0">
                          <a:solidFill>
                            <a:srgbClr val="10202E"/>
                          </a:solidFill>
                          <a:latin typeface="DM Sans" pitchFamily="34" charset="0"/>
                          <a:ea typeface="DM Sans" pitchFamily="34" charset="-122"/>
                          <a:cs typeface="DM Sans" pitchFamily="34" charset="-120"/>
                        </a:rPr>
                        <a:t>Static</a:t>
                      </a:r>
                      <a:endParaRPr lang="en-US" sz="1031" dirty="0">
                        <a:latin typeface="DM Sans" charset="0"/>
                        <a:ea typeface="DM Sans" charset="0"/>
                        <a:cs typeface="DM Sans" charset="0"/>
                      </a:endParaRPr>
                    </a:p>
                  </a:txBody>
                  <a:tcPr marL="45839" marR="45839" marT="45839" marB="45839">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444"/>
                        </a:lnSpc>
                        <a:buNone/>
                      </a:pPr>
                      <a:r>
                        <a:rPr lang="en-US" sz="1031" b="1" dirty="0">
                          <a:solidFill>
                            <a:srgbClr val="10202E"/>
                          </a:solidFill>
                          <a:latin typeface="DM Sans" pitchFamily="34" charset="0"/>
                          <a:ea typeface="DM Sans" pitchFamily="34" charset="-122"/>
                          <a:cs typeface="DM Sans" pitchFamily="34" charset="-120"/>
                        </a:rPr>
                        <a:t>+ Behavioral</a:t>
                      </a:r>
                      <a:endParaRPr lang="en-US" sz="1031" dirty="0">
                        <a:latin typeface="DM Sans" charset="0"/>
                        <a:ea typeface="DM Sans" charset="0"/>
                        <a:cs typeface="DM Sans" charset="0"/>
                      </a:endParaRPr>
                    </a:p>
                  </a:txBody>
                  <a:tcPr marL="45839" marR="45839" marT="45839" marB="45839">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444"/>
                        </a:lnSpc>
                        <a:buNone/>
                      </a:pPr>
                      <a:r>
                        <a:rPr lang="en-US" sz="1031" b="1" dirty="0">
                          <a:solidFill>
                            <a:srgbClr val="10202E"/>
                          </a:solidFill>
                          <a:latin typeface="DM Sans" pitchFamily="34" charset="0"/>
                          <a:ea typeface="DM Sans" pitchFamily="34" charset="-122"/>
                          <a:cs typeface="DM Sans" pitchFamily="34" charset="-120"/>
                        </a:rPr>
                        <a:t>Gain</a:t>
                      </a:r>
                      <a:endParaRPr lang="en-US" sz="1031" dirty="0">
                        <a:latin typeface="DM Sans" charset="0"/>
                        <a:ea typeface="DM Sans" charset="0"/>
                        <a:cs typeface="DM Sans" charset="0"/>
                      </a:endParaRPr>
                    </a:p>
                  </a:txBody>
                  <a:tcPr marL="45839" marR="45839" marT="45839" marB="45839">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285194">
                <a:tc>
                  <a:txBody>
                    <a:bodyPr/>
                    <a:lstStyle/>
                    <a:p>
                      <a:pPr marL="0" indent="0">
                        <a:lnSpc>
                          <a:spcPts val="1444"/>
                        </a:lnSpc>
                        <a:buNone/>
                      </a:pPr>
                      <a:r>
                        <a:rPr lang="en-US" sz="1031" dirty="0">
                          <a:solidFill>
                            <a:srgbClr val="10202E"/>
                          </a:solidFill>
                          <a:latin typeface="DM Sans" pitchFamily="34" charset="0"/>
                          <a:ea typeface="DM Sans" pitchFamily="34" charset="-122"/>
                          <a:cs typeface="DM Sans" pitchFamily="34" charset="-120"/>
                        </a:rPr>
                        <a:t>Logistic Regression</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0.8893</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0.9070</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+0.0178</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285194">
                <a:tc>
                  <a:txBody>
                    <a:bodyPr/>
                    <a:lstStyle/>
                    <a:p>
                      <a:pPr marL="0" indent="0">
                        <a:lnSpc>
                          <a:spcPts val="1444"/>
                        </a:lnSpc>
                        <a:buNone/>
                      </a:pPr>
                      <a:r>
                        <a:rPr lang="en-US" sz="1031" dirty="0">
                          <a:solidFill>
                            <a:srgbClr val="10202E"/>
                          </a:solidFill>
                          <a:latin typeface="DM Sans" pitchFamily="34" charset="0"/>
                          <a:ea typeface="DM Sans" pitchFamily="34" charset="-122"/>
                          <a:cs typeface="DM Sans" pitchFamily="34" charset="-120"/>
                        </a:rPr>
                        <a:t>SVM (RBF)</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0.8998</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0.9072</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+0.0074</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285194">
                <a:tc>
                  <a:txBody>
                    <a:bodyPr/>
                    <a:lstStyle/>
                    <a:p>
                      <a:pPr marL="0" indent="0">
                        <a:lnSpc>
                          <a:spcPts val="1444"/>
                        </a:lnSpc>
                        <a:buNone/>
                      </a:pPr>
                      <a:r>
                        <a:rPr lang="en-US" sz="1031" dirty="0">
                          <a:solidFill>
                            <a:srgbClr val="10202E"/>
                          </a:solidFill>
                          <a:latin typeface="DM Sans" pitchFamily="34" charset="0"/>
                          <a:ea typeface="DM Sans" pitchFamily="34" charset="-122"/>
                          <a:cs typeface="DM Sans" pitchFamily="34" charset="-120"/>
                        </a:rPr>
                        <a:t>Decision Tree</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0.8378</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0.8520</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444"/>
                        </a:lnSpc>
                        <a:buNone/>
                      </a:pPr>
                      <a:r>
                        <a:rPr lang="en-US" sz="1031" dirty="0">
                          <a:solidFill>
                            <a:srgbClr val="10202E"/>
                          </a:solidFill>
                          <a:latin typeface="DM Sans" pitchFamily="34" charset="0"/>
                          <a:ea typeface="DM Sans" pitchFamily="34" charset="-122"/>
                          <a:cs typeface="DM Sans" pitchFamily="34" charset="-120"/>
                        </a:rPr>
                        <a:t>+0.0142</a:t>
                      </a:r>
                      <a:endParaRPr lang="en-US" sz="1031" dirty="0">
                        <a:latin typeface="DM Sans" charset="0"/>
                        <a:ea typeface="DM Sans" charset="0"/>
                        <a:cs typeface="DM Sans" charset="0"/>
                      </a:endParaRPr>
                    </a:p>
                  </a:txBody>
                  <a:tcPr marL="45839" marR="45839" marT="45839" marB="45839">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6" name="Text 10"/>
          <p:cNvSpPr/>
          <p:nvPr/>
        </p:nvSpPr>
        <p:spPr>
          <a:xfrm>
            <a:off x="812800" y="5530143"/>
            <a:ext cx="4213145" cy="254000"/>
          </a:xfrm>
          <a:prstGeom prst="rect">
            <a:avLst/>
          </a:prstGeom>
          <a:noFill/>
          <a:ln/>
        </p:spPr>
        <p:txBody>
          <a:bodyPr wrap="square" lIns="0" tIns="0" rIns="0" bIns="0" rtlCol="0" anchor="t">
            <a:normAutofit/>
          </a:bodyPr>
          <a:lstStyle/>
          <a:p>
            <a:pPr marL="0" indent="0" algn="l">
              <a:lnSpc>
                <a:spcPts val="1800"/>
              </a:lnSpc>
              <a:buNone/>
            </a:pPr>
            <a:r>
              <a:rPr lang="en-US" sz="1500" i="1" dirty="0">
                <a:solidFill>
                  <a:srgbClr val="10202E"/>
                </a:solidFill>
                <a:latin typeface="DM Sans" pitchFamily="34" charset="0"/>
                <a:ea typeface="DM Sans" pitchFamily="34" charset="-122"/>
                <a:cs typeface="DM Sans" pitchFamily="34" charset="-120"/>
              </a:rPr>
              <a:t>“Why C=10? Does class weight help?”</a:t>
            </a:r>
            <a:endParaRPr lang="en-US" sz="1500" dirty="0"/>
          </a:p>
        </p:txBody>
      </p:sp>
      <p:sp>
        <p:nvSpPr>
          <p:cNvPr id="17" name="Shape 11"/>
          <p:cNvSpPr/>
          <p:nvPr/>
        </p:nvSpPr>
        <p:spPr>
          <a:xfrm>
            <a:off x="5100082" y="5417183"/>
            <a:ext cx="0" cy="454660"/>
          </a:xfrm>
          <a:prstGeom prst="line">
            <a:avLst/>
          </a:prstGeom>
          <a:noFill/>
          <a:ln w="38100">
            <a:solidFill>
              <a:srgbClr val="1D6A96"/>
            </a:solidFill>
            <a:prstDash val="solid"/>
          </a:ln>
        </p:spPr>
        <p:txBody>
          <a:bodyPr/>
          <a:lstStyle/>
          <a:p>
            <a:endParaRPr lang="en-US"/>
          </a:p>
        </p:txBody>
      </p:sp>
      <p:sp>
        <p:nvSpPr>
          <p:cNvPr id="18" name="Text 12"/>
          <p:cNvSpPr/>
          <p:nvPr/>
        </p:nvSpPr>
        <p:spPr>
          <a:xfrm>
            <a:off x="5243592" y="5429883"/>
            <a:ext cx="6319676"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D6A96"/>
                </a:solidFill>
                <a:latin typeface="DM Sans" pitchFamily="34" charset="0"/>
                <a:ea typeface="DM Sans" pitchFamily="34" charset="-122"/>
                <a:cs typeface="DM Sans" pitchFamily="34" charset="-120"/>
              </a:rPr>
              <a:t>Answer:</a:t>
            </a:r>
            <a:r>
              <a:rPr lang="en-US" sz="1300" dirty="0">
                <a:solidFill>
                  <a:srgbClr val="10202E"/>
                </a:solidFill>
                <a:latin typeface="DM Sans" pitchFamily="34" charset="0"/>
                <a:ea typeface="DM Sans" pitchFamily="34" charset="-122"/>
                <a:cs typeface="DM Sans" pitchFamily="34" charset="-120"/>
              </a:rPr>
              <a:t> C=10 has the top score but C=1 is within 0.0003, so it is noise. Class weight “balanced” lowered PR-AUC (LR 0.8897, tree 0.8459).</a:t>
            </a:r>
            <a:endParaRPr lang="en-US" sz="1300" dirty="0"/>
          </a:p>
        </p:txBody>
      </p:sp>
      <p:sp>
        <p:nvSpPr>
          <p:cNvPr id="19" name="Text 1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§5.2–5.3 · grids are small on purpose</a:t>
            </a:r>
            <a:endParaRPr lang="en-US" sz="1200" dirty="0"/>
          </a:p>
        </p:txBody>
      </p:sp>
      <p:sp>
        <p:nvSpPr>
          <p:cNvPr id="20" name="Text 14"/>
          <p:cNvSpPr/>
          <p:nvPr/>
        </p:nvSpPr>
        <p:spPr>
          <a:xfrm>
            <a:off x="6591554" y="6238242"/>
            <a:ext cx="478764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(22) </a:t>
            </a:r>
            <a:r>
              <a:rPr lang="en-US" sz="1200" dirty="0">
                <a:solidFill>
                  <a:srgbClr val="54606C"/>
                </a:solidFill>
                <a:latin typeface="DM Sans" pitchFamily="34" charset="0"/>
                <a:ea typeface="DM Sans" pitchFamily="34" charset="-122"/>
                <a:cs typeface="DM Sans" pitchFamily="34" charset="-120"/>
              </a:rPr>
              <a:t>Backup · not part of the main 20 minutes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A96"/>
                </a:solidFill>
                <a:latin typeface="DM Sans" pitchFamily="34" charset="0"/>
                <a:ea typeface="DM Sans" pitchFamily="34" charset="-122"/>
                <a:cs typeface="DM Sans" pitchFamily="34" charset="-120"/>
              </a:rPr>
              <a:t>BACKUP B3 · ERROR &amp; ABLATION DETAILS · VALIDATION</a:t>
            </a:r>
            <a:endParaRPr lang="en-US" sz="1200" dirty="0"/>
          </a:p>
        </p:txBody>
      </p:sp>
      <p:sp>
        <p:nvSpPr>
          <p:cNvPr id="3" name="Text 1"/>
          <p:cNvSpPr>
            <a:spLocks noGrp="1"/>
          </p:cNvSpPr>
          <p:nvPr>
            <p:ph type="title"/>
          </p:nvPr>
        </p:nvSpPr>
        <p:spPr>
          <a:xfrm>
            <a:off x="812800" y="1102358"/>
            <a:ext cx="10883392" cy="388620"/>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10202E"/>
                </a:solidFill>
                <a:latin typeface="DM Sans" pitchFamily="34" charset="0"/>
                <a:ea typeface="DM Sans" pitchFamily="34" charset="-122"/>
                <a:cs typeface="DM Sans" pitchFamily="34" charset="-120"/>
              </a:rPr>
              <a:t>What the Model Misses, and What It Depends On</a:t>
            </a:r>
            <a:endParaRPr lang="en-US" sz="2600" dirty="0"/>
          </a:p>
        </p:txBody>
      </p:sp>
      <p:sp>
        <p:nvSpPr>
          <p:cNvPr id="4" name="Shape 2"/>
          <p:cNvSpPr/>
          <p:nvPr/>
        </p:nvSpPr>
        <p:spPr>
          <a:xfrm>
            <a:off x="819150" y="1637035"/>
            <a:ext cx="2883773" cy="2618740"/>
          </a:xfrm>
          <a:prstGeom prst="roundRect">
            <a:avLst>
              <a:gd name="adj" fmla="val 4607"/>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962660" y="1767842"/>
            <a:ext cx="267465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CONFUSION MATRIX, SVM</a:t>
            </a:r>
            <a:endParaRPr lang="en-US" sz="1200" dirty="0"/>
          </a:p>
        </p:txBody>
      </p:sp>
      <p:sp>
        <p:nvSpPr>
          <p:cNvPr id="6" name="Shape 4"/>
          <p:cNvSpPr/>
          <p:nvPr/>
        </p:nvSpPr>
        <p:spPr>
          <a:xfrm>
            <a:off x="962660" y="2044700"/>
            <a:ext cx="1272937" cy="685800"/>
          </a:xfrm>
          <a:prstGeom prst="roundRect">
            <a:avLst>
              <a:gd name="adj" fmla="val 9259"/>
            </a:avLst>
          </a:prstGeom>
          <a:solidFill>
            <a:srgbClr val="A9CCE0"/>
          </a:solidFill>
          <a:ln/>
        </p:spPr>
        <p:txBody>
          <a:bodyPr/>
          <a:lstStyle/>
          <a:p>
            <a:endParaRPr lang="en-US"/>
          </a:p>
        </p:txBody>
      </p:sp>
      <p:sp>
        <p:nvSpPr>
          <p:cNvPr id="7" name="Text 5"/>
          <p:cNvSpPr/>
          <p:nvPr/>
        </p:nvSpPr>
        <p:spPr>
          <a:xfrm>
            <a:off x="1038860" y="2120900"/>
            <a:ext cx="11713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Fraud caught</a:t>
            </a:r>
            <a:endParaRPr lang="en-US" sz="1200" dirty="0"/>
          </a:p>
        </p:txBody>
      </p:sp>
      <p:sp>
        <p:nvSpPr>
          <p:cNvPr id="8" name="Text 6"/>
          <p:cNvSpPr/>
          <p:nvPr/>
        </p:nvSpPr>
        <p:spPr>
          <a:xfrm>
            <a:off x="1038860" y="2334258"/>
            <a:ext cx="1171337"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1,151</a:t>
            </a:r>
            <a:endParaRPr lang="en-US" sz="1800" dirty="0"/>
          </a:p>
        </p:txBody>
      </p:sp>
      <p:sp>
        <p:nvSpPr>
          <p:cNvPr id="9" name="Shape 7"/>
          <p:cNvSpPr/>
          <p:nvPr/>
        </p:nvSpPr>
        <p:spPr>
          <a:xfrm>
            <a:off x="2286397" y="2044700"/>
            <a:ext cx="1273016" cy="685800"/>
          </a:xfrm>
          <a:prstGeom prst="roundRect">
            <a:avLst>
              <a:gd name="adj" fmla="val 9259"/>
            </a:avLst>
          </a:prstGeom>
          <a:solidFill>
            <a:srgbClr val="F2C9B8"/>
          </a:solidFill>
          <a:ln/>
        </p:spPr>
        <p:txBody>
          <a:bodyPr/>
          <a:lstStyle/>
          <a:p>
            <a:endParaRPr lang="en-US"/>
          </a:p>
        </p:txBody>
      </p:sp>
      <p:sp>
        <p:nvSpPr>
          <p:cNvPr id="10" name="Text 8"/>
          <p:cNvSpPr/>
          <p:nvPr/>
        </p:nvSpPr>
        <p:spPr>
          <a:xfrm>
            <a:off x="2362597" y="2120900"/>
            <a:ext cx="117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Fraud missed</a:t>
            </a:r>
            <a:endParaRPr lang="en-US" sz="1200" dirty="0"/>
          </a:p>
        </p:txBody>
      </p:sp>
      <p:sp>
        <p:nvSpPr>
          <p:cNvPr id="11" name="Text 9"/>
          <p:cNvSpPr/>
          <p:nvPr/>
        </p:nvSpPr>
        <p:spPr>
          <a:xfrm>
            <a:off x="2362597" y="2334258"/>
            <a:ext cx="117141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49</a:t>
            </a:r>
            <a:endParaRPr lang="en-US" sz="1800" dirty="0"/>
          </a:p>
        </p:txBody>
      </p:sp>
      <p:sp>
        <p:nvSpPr>
          <p:cNvPr id="12" name="Shape 10"/>
          <p:cNvSpPr/>
          <p:nvPr/>
        </p:nvSpPr>
        <p:spPr>
          <a:xfrm>
            <a:off x="962660" y="2781300"/>
            <a:ext cx="1272937" cy="685800"/>
          </a:xfrm>
          <a:prstGeom prst="roundRect">
            <a:avLst>
              <a:gd name="adj" fmla="val 9259"/>
            </a:avLst>
          </a:prstGeom>
          <a:solidFill>
            <a:srgbClr val="F2C9B8"/>
          </a:solidFill>
          <a:ln/>
        </p:spPr>
        <p:txBody>
          <a:bodyPr/>
          <a:lstStyle/>
          <a:p>
            <a:endParaRPr lang="en-US"/>
          </a:p>
        </p:txBody>
      </p:sp>
      <p:sp>
        <p:nvSpPr>
          <p:cNvPr id="13" name="Text 11"/>
          <p:cNvSpPr/>
          <p:nvPr/>
        </p:nvSpPr>
        <p:spPr>
          <a:xfrm>
            <a:off x="1038860" y="2857500"/>
            <a:ext cx="117133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False alerts</a:t>
            </a:r>
            <a:endParaRPr lang="en-US" sz="1200" dirty="0"/>
          </a:p>
        </p:txBody>
      </p:sp>
      <p:sp>
        <p:nvSpPr>
          <p:cNvPr id="14" name="Text 12"/>
          <p:cNvSpPr/>
          <p:nvPr/>
        </p:nvSpPr>
        <p:spPr>
          <a:xfrm>
            <a:off x="1038860" y="3070858"/>
            <a:ext cx="1171337"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677</a:t>
            </a:r>
            <a:endParaRPr lang="en-US" sz="1800" dirty="0"/>
          </a:p>
        </p:txBody>
      </p:sp>
      <p:sp>
        <p:nvSpPr>
          <p:cNvPr id="15" name="Shape 13"/>
          <p:cNvSpPr/>
          <p:nvPr/>
        </p:nvSpPr>
        <p:spPr>
          <a:xfrm>
            <a:off x="2286397" y="2781300"/>
            <a:ext cx="1273016" cy="685800"/>
          </a:xfrm>
          <a:prstGeom prst="roundRect">
            <a:avLst>
              <a:gd name="adj" fmla="val 9259"/>
            </a:avLst>
          </a:prstGeom>
          <a:solidFill>
            <a:srgbClr val="A9CCE0"/>
          </a:solidFill>
          <a:ln/>
        </p:spPr>
        <p:txBody>
          <a:bodyPr/>
          <a:lstStyle/>
          <a:p>
            <a:endParaRPr lang="en-US"/>
          </a:p>
        </p:txBody>
      </p:sp>
      <p:sp>
        <p:nvSpPr>
          <p:cNvPr id="16" name="Text 14"/>
          <p:cNvSpPr/>
          <p:nvPr/>
        </p:nvSpPr>
        <p:spPr>
          <a:xfrm>
            <a:off x="2362597" y="2857500"/>
            <a:ext cx="117141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2E"/>
                </a:solidFill>
                <a:latin typeface="DM Sans" pitchFamily="34" charset="0"/>
                <a:ea typeface="DM Sans" pitchFamily="34" charset="-122"/>
                <a:cs typeface="DM Sans" pitchFamily="34" charset="-120"/>
              </a:rPr>
              <a:t>Legit passed</a:t>
            </a:r>
            <a:endParaRPr lang="en-US" sz="1200" dirty="0"/>
          </a:p>
        </p:txBody>
      </p:sp>
      <p:sp>
        <p:nvSpPr>
          <p:cNvPr id="17" name="Text 15"/>
          <p:cNvSpPr/>
          <p:nvPr/>
        </p:nvSpPr>
        <p:spPr>
          <a:xfrm>
            <a:off x="2362597" y="3070858"/>
            <a:ext cx="1171416"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0202E"/>
                </a:solidFill>
                <a:latin typeface="DM Sans" pitchFamily="34" charset="0"/>
                <a:ea typeface="DM Sans" pitchFamily="34" charset="-122"/>
                <a:cs typeface="DM Sans" pitchFamily="34" charset="-120"/>
              </a:rPr>
              <a:t>106,546</a:t>
            </a:r>
            <a:endParaRPr lang="en-US" sz="1800" dirty="0"/>
          </a:p>
        </p:txBody>
      </p:sp>
      <p:sp>
        <p:nvSpPr>
          <p:cNvPr id="18" name="Text 16"/>
          <p:cNvSpPr/>
          <p:nvPr/>
        </p:nvSpPr>
        <p:spPr>
          <a:xfrm>
            <a:off x="962660" y="3530600"/>
            <a:ext cx="2674656"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4606C"/>
                </a:solidFill>
                <a:latin typeface="DM Sans" pitchFamily="34" charset="0"/>
                <a:ea typeface="DM Sans" pitchFamily="34" charset="-122"/>
                <a:cs typeface="DM Sans" pitchFamily="34" charset="-120"/>
              </a:rPr>
              <a:t>Caught and passed are derived from the notebook counts (1,200 frauds, 108,423 rows).</a:t>
            </a:r>
            <a:endParaRPr lang="en-US" sz="1200" dirty="0"/>
          </a:p>
        </p:txBody>
      </p:sp>
      <p:sp>
        <p:nvSpPr>
          <p:cNvPr id="19" name="Shape 17"/>
          <p:cNvSpPr/>
          <p:nvPr/>
        </p:nvSpPr>
        <p:spPr>
          <a:xfrm>
            <a:off x="3842623" y="1637035"/>
            <a:ext cx="3857546" cy="2618740"/>
          </a:xfrm>
          <a:prstGeom prst="roundRect">
            <a:avLst>
              <a:gd name="adj" fmla="val 4607"/>
            </a:avLst>
          </a:prstGeom>
          <a:solidFill>
            <a:srgbClr val="FBF9F5"/>
          </a:solidFill>
          <a:ln w="12700">
            <a:solidFill>
              <a:srgbClr val="DAD4C8"/>
            </a:solidFill>
            <a:prstDash val="solid"/>
          </a:ln>
        </p:spPr>
        <p:txBody>
          <a:bodyPr/>
          <a:lstStyle/>
          <a:p>
            <a:endParaRPr lang="en-US"/>
          </a:p>
        </p:txBody>
      </p:sp>
      <p:sp>
        <p:nvSpPr>
          <p:cNvPr id="20" name="Text 18"/>
          <p:cNvSpPr/>
          <p:nvPr/>
        </p:nvSpPr>
        <p:spPr>
          <a:xfrm>
            <a:off x="3986133" y="1767842"/>
            <a:ext cx="3677642"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ABLATION · VALIDATION PR-AUC</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996293" y="2054860"/>
          <a:ext cx="3560366" cy="1651000"/>
        </p:xfrm>
        <a:graphic>
          <a:graphicData uri="http://schemas.openxmlformats.org/drawingml/2006/table">
            <a:tbl>
              <a:tblPr/>
              <a:tblGrid>
                <a:gridCol w="1352939">
                  <a:extLst>
                    <a:ext uri="{9D8B030D-6E8A-4147-A177-3AD203B41FA5}">
                      <a16:colId xmlns:a16="http://schemas.microsoft.com/office/drawing/2014/main" val="20000"/>
                    </a:ext>
                  </a:extLst>
                </a:gridCol>
                <a:gridCol w="712073">
                  <a:extLst>
                    <a:ext uri="{9D8B030D-6E8A-4147-A177-3AD203B41FA5}">
                      <a16:colId xmlns:a16="http://schemas.microsoft.com/office/drawing/2014/main" val="20001"/>
                    </a:ext>
                  </a:extLst>
                </a:gridCol>
                <a:gridCol w="747677">
                  <a:extLst>
                    <a:ext uri="{9D8B030D-6E8A-4147-A177-3AD203B41FA5}">
                      <a16:colId xmlns:a16="http://schemas.microsoft.com/office/drawing/2014/main" val="20002"/>
                    </a:ext>
                  </a:extLst>
                </a:gridCol>
                <a:gridCol w="747677">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Variant</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SVM</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LR</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Tree</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Full</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0.9235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0.9073</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0.8711</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No merchant</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0.8691</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0.8317</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0.8317</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No age/gender</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0.9236</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0.9122</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0.8717</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No behavior</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0.9063</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0.8895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0.8724</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2" name="Shape 19"/>
          <p:cNvSpPr/>
          <p:nvPr/>
        </p:nvSpPr>
        <p:spPr>
          <a:xfrm>
            <a:off x="7839869" y="1637035"/>
            <a:ext cx="3532981" cy="2618740"/>
          </a:xfrm>
          <a:prstGeom prst="roundRect">
            <a:avLst>
              <a:gd name="adj" fmla="val 4607"/>
            </a:avLst>
          </a:prstGeom>
          <a:solidFill>
            <a:srgbClr val="FBF9F5"/>
          </a:solidFill>
          <a:ln w="12700">
            <a:solidFill>
              <a:srgbClr val="DAD4C8"/>
            </a:solidFill>
            <a:prstDash val="solid"/>
          </a:ln>
        </p:spPr>
        <p:txBody>
          <a:bodyPr/>
          <a:lstStyle/>
          <a:p>
            <a:endParaRPr lang="en-US"/>
          </a:p>
        </p:txBody>
      </p:sp>
      <p:sp>
        <p:nvSpPr>
          <p:cNvPr id="23" name="Text 20"/>
          <p:cNvSpPr/>
          <p:nvPr/>
        </p:nvSpPr>
        <p:spPr>
          <a:xfrm>
            <a:off x="7983379" y="1767842"/>
            <a:ext cx="3343340"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TOP SIGNALS (APPROX.)</a:t>
            </a:r>
            <a:endParaRPr lang="en-US" sz="1200" dirty="0"/>
          </a:p>
        </p:txBody>
      </p:sp>
      <p:sp>
        <p:nvSpPr>
          <p:cNvPr id="24" name="Text 21"/>
          <p:cNvSpPr/>
          <p:nvPr/>
        </p:nvSpPr>
        <p:spPr>
          <a:xfrm>
            <a:off x="7983379" y="2032000"/>
            <a:ext cx="3343340" cy="61976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0202E"/>
                </a:solidFill>
                <a:latin typeface="DM Sans" pitchFamily="34" charset="0"/>
                <a:ea typeface="DM Sans" pitchFamily="34" charset="-122"/>
                <a:cs typeface="DM Sans" pitchFamily="34" charset="-120"/>
              </a:rPr>
              <a:t>Tree:</a:t>
            </a:r>
            <a:r>
              <a:rPr lang="en-US" sz="1200" dirty="0">
                <a:solidFill>
                  <a:srgbClr val="10202E"/>
                </a:solidFill>
                <a:latin typeface="DM Sans" pitchFamily="34" charset="0"/>
                <a:ea typeface="DM Sans" pitchFamily="34" charset="-122"/>
                <a:cs typeface="DM Sans" pitchFamily="34" charset="-120"/>
              </a:rPr>
              <a:t> log_amount ≈0.74, merchant_M980657600 ≈0.07, amt_z_in_category ≈0.04.</a:t>
            </a:r>
            <a:endParaRPr lang="en-US" sz="1200" dirty="0"/>
          </a:p>
        </p:txBody>
      </p:sp>
      <p:sp>
        <p:nvSpPr>
          <p:cNvPr id="25" name="Text 22"/>
          <p:cNvSpPr/>
          <p:nvPr/>
        </p:nvSpPr>
        <p:spPr>
          <a:xfrm>
            <a:off x="7983379" y="2677158"/>
            <a:ext cx="3343340" cy="61976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10202E"/>
                </a:solidFill>
                <a:latin typeface="DM Sans" pitchFamily="34" charset="0"/>
                <a:ea typeface="DM Sans" pitchFamily="34" charset="-122"/>
                <a:cs typeface="DM Sans" pitchFamily="34" charset="-120"/>
              </a:rPr>
              <a:t>Logistic:</a:t>
            </a:r>
            <a:r>
              <a:rPr lang="en-US" sz="1200" dirty="0">
                <a:solidFill>
                  <a:srgbClr val="10202E"/>
                </a:solidFill>
                <a:latin typeface="DM Sans" pitchFamily="34" charset="0"/>
                <a:ea typeface="DM Sans" pitchFamily="34" charset="-122"/>
                <a:cs typeface="DM Sans" pitchFamily="34" charset="-120"/>
              </a:rPr>
              <a:t> merchant_M480139044 ≈+3.9, category_leisure ≈+3.0, log_amount ≈+2.6; category_transportation ≈−4.7.</a:t>
            </a:r>
            <a:endParaRPr lang="en-US" sz="1200" dirty="0"/>
          </a:p>
        </p:txBody>
      </p:sp>
      <p:sp>
        <p:nvSpPr>
          <p:cNvPr id="26" name="Text 23"/>
          <p:cNvSpPr/>
          <p:nvPr/>
        </p:nvSpPr>
        <p:spPr>
          <a:xfrm>
            <a:off x="7983379" y="3322327"/>
            <a:ext cx="3343340"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4606C"/>
                </a:solidFill>
                <a:latin typeface="DM Sans" pitchFamily="34" charset="0"/>
                <a:ea typeface="DM Sans" pitchFamily="34" charset="-122"/>
                <a:cs typeface="DM Sans" pitchFamily="34" charset="-120"/>
              </a:rPr>
              <a:t>SVM: black box, 1,748 support vectors.</a:t>
            </a:r>
            <a:endParaRPr lang="en-US" sz="1200" dirty="0"/>
          </a:p>
        </p:txBody>
      </p:sp>
      <p:sp>
        <p:nvSpPr>
          <p:cNvPr id="27" name="Text 24"/>
          <p:cNvSpPr/>
          <p:nvPr/>
        </p:nvSpPr>
        <p:spPr>
          <a:xfrm>
            <a:off x="812800" y="4427227"/>
            <a:ext cx="4388676" cy="482600"/>
          </a:xfrm>
          <a:prstGeom prst="rect">
            <a:avLst/>
          </a:prstGeom>
          <a:noFill/>
          <a:ln/>
        </p:spPr>
        <p:txBody>
          <a:bodyPr wrap="square" lIns="0" tIns="0" rIns="0" bIns="0" rtlCol="0" anchor="t">
            <a:normAutofit/>
          </a:bodyPr>
          <a:lstStyle/>
          <a:p>
            <a:pPr marL="0" indent="0" algn="l">
              <a:lnSpc>
                <a:spcPts val="1800"/>
              </a:lnSpc>
              <a:buNone/>
            </a:pPr>
            <a:r>
              <a:rPr lang="en-US" sz="1500" i="1" dirty="0">
                <a:solidFill>
                  <a:srgbClr val="10202E"/>
                </a:solidFill>
                <a:latin typeface="DM Sans" pitchFamily="34" charset="0"/>
                <a:ea typeface="DM Sans" pitchFamily="34" charset="-122"/>
                <a:cs typeface="DM Sans" pitchFamily="34" charset="-120"/>
              </a:rPr>
              <a:t>“What does it really learn? Is it overfit to merchants?”</a:t>
            </a:r>
            <a:endParaRPr lang="en-US" sz="1500" dirty="0"/>
          </a:p>
        </p:txBody>
      </p:sp>
      <p:sp>
        <p:nvSpPr>
          <p:cNvPr id="28" name="Shape 25"/>
          <p:cNvSpPr/>
          <p:nvPr/>
        </p:nvSpPr>
        <p:spPr>
          <a:xfrm>
            <a:off x="5270500" y="4428492"/>
            <a:ext cx="0" cy="454660"/>
          </a:xfrm>
          <a:prstGeom prst="line">
            <a:avLst/>
          </a:prstGeom>
          <a:noFill/>
          <a:ln w="38100">
            <a:solidFill>
              <a:srgbClr val="1D6A96"/>
            </a:solidFill>
            <a:prstDash val="solid"/>
          </a:ln>
        </p:spPr>
        <p:txBody>
          <a:bodyPr/>
          <a:lstStyle/>
          <a:p>
            <a:endParaRPr lang="en-US"/>
          </a:p>
        </p:txBody>
      </p:sp>
      <p:sp>
        <p:nvSpPr>
          <p:cNvPr id="29" name="Text 26"/>
          <p:cNvSpPr/>
          <p:nvPr/>
        </p:nvSpPr>
        <p:spPr>
          <a:xfrm>
            <a:off x="5414010" y="4441192"/>
            <a:ext cx="6144146"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D6A96"/>
                </a:solidFill>
                <a:latin typeface="DM Sans" pitchFamily="34" charset="0"/>
                <a:ea typeface="DM Sans" pitchFamily="34" charset="-122"/>
                <a:cs typeface="DM Sans" pitchFamily="34" charset="-120"/>
              </a:rPr>
              <a:t>Answer:</a:t>
            </a:r>
            <a:r>
              <a:rPr lang="en-US" sz="1300" dirty="0">
                <a:solidFill>
                  <a:srgbClr val="10202E"/>
                </a:solidFill>
                <a:latin typeface="DM Sans" pitchFamily="34" charset="0"/>
                <a:ea typeface="DM Sans" pitchFamily="34" charset="-122"/>
                <a:cs typeface="DM Sans" pitchFamily="34" charset="-120"/>
              </a:rPr>
              <a:t> Amount and merchant dominate. Removing merchant costs 0.04–0.08 PR-AUC, so on real data with new merchants, expect lower performance.</a:t>
            </a:r>
            <a:endParaRPr lang="en-US" sz="1300" dirty="0"/>
          </a:p>
        </p:txBody>
      </p:sp>
      <p:sp>
        <p:nvSpPr>
          <p:cNvPr id="30" name="Text 27"/>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§6.1–6.3 · importance values read from saved charts</a:t>
            </a:r>
            <a:endParaRPr lang="en-US" sz="1200" dirty="0"/>
          </a:p>
        </p:txBody>
      </p:sp>
      <p:sp>
        <p:nvSpPr>
          <p:cNvPr id="31" name="Text 28"/>
          <p:cNvSpPr/>
          <p:nvPr/>
        </p:nvSpPr>
        <p:spPr>
          <a:xfrm>
            <a:off x="6591554" y="6238242"/>
            <a:ext cx="478764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(23) </a:t>
            </a:r>
            <a:r>
              <a:rPr lang="en-US" sz="1200" dirty="0">
                <a:solidFill>
                  <a:srgbClr val="54606C"/>
                </a:solidFill>
                <a:latin typeface="DM Sans" pitchFamily="34" charset="0"/>
                <a:ea typeface="DM Sans" pitchFamily="34" charset="-122"/>
                <a:cs typeface="DM Sans" pitchFamily="34" charset="-120"/>
              </a:rPr>
              <a:t>Backup · not part of the main 20 minutes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2009"/>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1D6A96"/>
                </a:solidFill>
                <a:latin typeface="DM Sans" pitchFamily="34" charset="0"/>
                <a:ea typeface="DM Sans" pitchFamily="34" charset="-122"/>
                <a:cs typeface="DM Sans" pitchFamily="34" charset="-120"/>
              </a:rPr>
              <a:t>BACKUP B4 · STATISTICAL &amp; FINANCIAL ROBUSTNESS · TEST</a:t>
            </a:r>
            <a:endParaRPr lang="en-US" sz="1016" dirty="0"/>
          </a:p>
        </p:txBody>
      </p:sp>
      <p:sp>
        <p:nvSpPr>
          <p:cNvPr id="3" name="Text 1"/>
          <p:cNvSpPr>
            <a:spLocks noGrp="1"/>
          </p:cNvSpPr>
          <p:nvPr>
            <p:ph type="title"/>
          </p:nvPr>
        </p:nvSpPr>
        <p:spPr>
          <a:xfrm>
            <a:off x="812800" y="1065609"/>
            <a:ext cx="10883392" cy="325993"/>
          </a:xfrm>
          <a:prstGeom prst="rect">
            <a:avLst/>
          </a:prstGeom>
          <a:noFill/>
          <a:ln/>
        </p:spPr>
        <p:txBody>
          <a:bodyPr wrap="square" lIns="0" tIns="0" rIns="0" bIns="0" rtlCol="0" anchor="t">
            <a:normAutofit/>
          </a:bodyPr>
          <a:lstStyle/>
          <a:p>
            <a:pPr marL="0" indent="0" algn="l">
              <a:lnSpc>
                <a:spcPts val="2368"/>
              </a:lnSpc>
              <a:buNone/>
            </a:pPr>
            <a:r>
              <a:rPr lang="en-US" sz="2153" b="1" i="0" dirty="0">
                <a:solidFill>
                  <a:srgbClr val="10202E"/>
                </a:solidFill>
                <a:latin typeface="DM Sans" pitchFamily="34" charset="0"/>
                <a:ea typeface="DM Sans" pitchFamily="34" charset="-122"/>
                <a:cs typeface="DM Sans" pitchFamily="34" charset="-120"/>
              </a:rPr>
              <a:t>Paired Differences and Operating Cost</a:t>
            </a:r>
            <a:endParaRPr lang="en-US" sz="2153" dirty="0"/>
          </a:p>
        </p:txBody>
      </p:sp>
      <p:sp>
        <p:nvSpPr>
          <p:cNvPr id="4" name="Shape 2"/>
          <p:cNvSpPr/>
          <p:nvPr/>
        </p:nvSpPr>
        <p:spPr>
          <a:xfrm>
            <a:off x="819150" y="1524955"/>
            <a:ext cx="5956300" cy="3772853"/>
          </a:xfrm>
          <a:prstGeom prst="roundRect">
            <a:avLst>
              <a:gd name="adj" fmla="val 3198"/>
            </a:avLst>
          </a:prstGeom>
          <a:solidFill>
            <a:srgbClr val="FBF9F5"/>
          </a:solidFill>
          <a:ln w="12700">
            <a:solidFill>
              <a:srgbClr val="DAD4C8"/>
            </a:solidFill>
            <a:prstDash val="solid"/>
          </a:ln>
        </p:spPr>
        <p:txBody>
          <a:bodyPr/>
          <a:lstStyle/>
          <a:p>
            <a:endParaRPr lang="en-US"/>
          </a:p>
        </p:txBody>
      </p:sp>
      <p:sp>
        <p:nvSpPr>
          <p:cNvPr id="5" name="Text 3"/>
          <p:cNvSpPr/>
          <p:nvPr/>
        </p:nvSpPr>
        <p:spPr>
          <a:xfrm>
            <a:off x="962660" y="1643063"/>
            <a:ext cx="5839358" cy="203835"/>
          </a:xfrm>
          <a:prstGeom prst="rect">
            <a:avLst/>
          </a:prstGeom>
          <a:noFill/>
          <a:ln/>
        </p:spPr>
        <p:txBody>
          <a:bodyPr wrap="square" lIns="0" tIns="0" rIns="0" bIns="0" rtlCol="0" anchor="t">
            <a:normAutofit/>
          </a:bodyPr>
          <a:lstStyle/>
          <a:p>
            <a:pPr marL="0" indent="0" algn="l">
              <a:lnSpc>
                <a:spcPts val="1423"/>
              </a:lnSpc>
              <a:buNone/>
            </a:pPr>
            <a:r>
              <a:rPr lang="en-US" sz="1016" b="1" kern="0" spc="50" dirty="0">
                <a:solidFill>
                  <a:srgbClr val="54606C"/>
                </a:solidFill>
                <a:latin typeface="DM Sans" pitchFamily="34" charset="0"/>
                <a:ea typeface="DM Sans" pitchFamily="34" charset="-122"/>
                <a:cs typeface="DM Sans" pitchFamily="34" charset="-120"/>
              </a:rPr>
              <a:t>PAIRED BLOCK BOOTSTRAP · SVM MINUS COMPARATOR</a:t>
            </a:r>
            <a:endParaRPr lang="en-US" sz="1016"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2820" y="1882455"/>
          <a:ext cx="5659120" cy="3297240"/>
        </p:xfrm>
        <a:graphic>
          <a:graphicData uri="http://schemas.openxmlformats.org/drawingml/2006/table">
            <a:tbl>
              <a:tblPr/>
              <a:tblGrid>
                <a:gridCol w="735686">
                  <a:extLst>
                    <a:ext uri="{9D8B030D-6E8A-4147-A177-3AD203B41FA5}">
                      <a16:colId xmlns:a16="http://schemas.microsoft.com/office/drawing/2014/main" val="20000"/>
                    </a:ext>
                  </a:extLst>
                </a:gridCol>
                <a:gridCol w="1697736">
                  <a:extLst>
                    <a:ext uri="{9D8B030D-6E8A-4147-A177-3AD203B41FA5}">
                      <a16:colId xmlns:a16="http://schemas.microsoft.com/office/drawing/2014/main" val="20001"/>
                    </a:ext>
                  </a:extLst>
                </a:gridCol>
                <a:gridCol w="792277">
                  <a:extLst>
                    <a:ext uri="{9D8B030D-6E8A-4147-A177-3AD203B41FA5}">
                      <a16:colId xmlns:a16="http://schemas.microsoft.com/office/drawing/2014/main" val="20002"/>
                    </a:ext>
                  </a:extLst>
                </a:gridCol>
                <a:gridCol w="1810918">
                  <a:extLst>
                    <a:ext uri="{9D8B030D-6E8A-4147-A177-3AD203B41FA5}">
                      <a16:colId xmlns:a16="http://schemas.microsoft.com/office/drawing/2014/main" val="20003"/>
                    </a:ext>
                  </a:extLst>
                </a:gridCol>
                <a:gridCol w="622503">
                  <a:extLst>
                    <a:ext uri="{9D8B030D-6E8A-4147-A177-3AD203B41FA5}">
                      <a16:colId xmlns:a16="http://schemas.microsoft.com/office/drawing/2014/main" val="20004"/>
                    </a:ext>
                  </a:extLst>
                </a:gridCol>
              </a:tblGrid>
              <a:tr h="329724">
                <a:tc>
                  <a:txBody>
                    <a:bodyPr/>
                    <a:lstStyle/>
                    <a:p>
                      <a:pPr marL="0" indent="0">
                        <a:lnSpc>
                          <a:spcPts val="1633"/>
                        </a:lnSpc>
                        <a:buNone/>
                      </a:pPr>
                      <a:r>
                        <a:rPr lang="en-US" sz="1166" b="1" dirty="0">
                          <a:solidFill>
                            <a:srgbClr val="10202E"/>
                          </a:solidFill>
                          <a:latin typeface="DM Sans" pitchFamily="34" charset="0"/>
                          <a:ea typeface="DM Sans" pitchFamily="34" charset="-122"/>
                          <a:cs typeface="DM Sans" pitchFamily="34" charset="-120"/>
                        </a:rPr>
                        <a:t>Metric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nSpc>
                          <a:spcPts val="1633"/>
                        </a:lnSpc>
                        <a:buNone/>
                      </a:pPr>
                      <a:r>
                        <a:rPr lang="en-US" sz="1166" b="1" dirty="0">
                          <a:solidFill>
                            <a:srgbClr val="10202E"/>
                          </a:solidFill>
                          <a:latin typeface="DM Sans" pitchFamily="34" charset="0"/>
                          <a:ea typeface="DM Sans" pitchFamily="34" charset="-122"/>
                          <a:cs typeface="DM Sans" pitchFamily="34" charset="-120"/>
                        </a:rPr>
                        <a:t>Comparison</a:t>
                      </a:r>
                      <a:endParaRPr lang="en-US" sz="1166" dirty="0">
                        <a:latin typeface="DM Sans" charset="0"/>
                        <a:ea typeface="DM Sans" charset="0"/>
                        <a:cs typeface="DM Sans" charset="0"/>
                      </a:endParaRPr>
                    </a:p>
                  </a:txBody>
                  <a:tcPr marL="51840" marR="51840" marT="51840" marB="518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33"/>
                        </a:lnSpc>
                        <a:buNone/>
                      </a:pPr>
                      <a:r>
                        <a:rPr lang="en-US" sz="1166" b="1" dirty="0">
                          <a:solidFill>
                            <a:srgbClr val="10202E"/>
                          </a:solidFill>
                          <a:latin typeface="DM Sans" pitchFamily="34" charset="0"/>
                          <a:ea typeface="DM Sans" pitchFamily="34" charset="-122"/>
                          <a:cs typeface="DM Sans" pitchFamily="34" charset="-120"/>
                        </a:rPr>
                        <a:t>Diff</a:t>
                      </a:r>
                      <a:endParaRPr lang="en-US" sz="1166" dirty="0">
                        <a:latin typeface="DM Sans" charset="0"/>
                        <a:ea typeface="DM Sans" charset="0"/>
                        <a:cs typeface="DM Sans" charset="0"/>
                      </a:endParaRPr>
                    </a:p>
                  </a:txBody>
                  <a:tcPr marL="51840" marR="51840" marT="51840" marB="518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33"/>
                        </a:lnSpc>
                        <a:buNone/>
                      </a:pPr>
                      <a:r>
                        <a:rPr lang="en-US" sz="1166" b="1" dirty="0">
                          <a:solidFill>
                            <a:srgbClr val="10202E"/>
                          </a:solidFill>
                          <a:latin typeface="DM Sans" pitchFamily="34" charset="0"/>
                          <a:ea typeface="DM Sans" pitchFamily="34" charset="-122"/>
                          <a:cs typeface="DM Sans" pitchFamily="34" charset="-120"/>
                        </a:rPr>
                        <a:t>95% CI</a:t>
                      </a:r>
                      <a:endParaRPr lang="en-US" sz="1166" dirty="0">
                        <a:latin typeface="DM Sans" charset="0"/>
                        <a:ea typeface="DM Sans" charset="0"/>
                        <a:cs typeface="DM Sans" charset="0"/>
                      </a:endParaRPr>
                    </a:p>
                  </a:txBody>
                  <a:tcPr marL="51840" marR="51840" marT="51840" marB="518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33"/>
                        </a:lnSpc>
                        <a:buNone/>
                      </a:pPr>
                      <a:r>
                        <a:rPr lang="en-US" sz="1166" b="1" dirty="0">
                          <a:solidFill>
                            <a:srgbClr val="10202E"/>
                          </a:solidFill>
                          <a:latin typeface="DM Sans" pitchFamily="34" charset="0"/>
                          <a:ea typeface="DM Sans" pitchFamily="34" charset="-122"/>
                          <a:cs typeface="DM Sans" pitchFamily="34" charset="-120"/>
                        </a:rPr>
                        <a:t>P</a:t>
                      </a:r>
                      <a:endParaRPr lang="en-US" sz="1166" dirty="0">
                        <a:latin typeface="DM Sans" charset="0"/>
                        <a:ea typeface="DM Sans" charset="0"/>
                        <a:cs typeface="DM Sans" charset="0"/>
                      </a:endParaRPr>
                    </a:p>
                  </a:txBody>
                  <a:tcPr marL="51840" marR="51840" marT="51840" marB="518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PR-AUC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Price rule</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+0.2192</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[0.1894, 0.2470]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PR-AUC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Logistic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+0.0098</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[0.0010, 0.0179]</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98.4%</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PR-AUC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Decision Tree</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+0.0549</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[0.0423, 0.0656]</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F1</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Price rule</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+0.1703</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[0.1451, 0.1965]</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F1</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Logistic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+0.0031</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[−0.0110, 0.0188]</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65.4%</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5"/>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F1</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Decision Tree</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+0.0317</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[0.0174, 0.0477]</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6"/>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Net $</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Price rule</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+16,059</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[13,859, 18,031]</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7"/>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Net $</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Logistic</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+940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[102, 1,742]</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98.4%</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8"/>
                  </a:ext>
                </a:extLst>
              </a:tr>
              <a:tr h="329724">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Net $</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nSpc>
                          <a:spcPts val="1633"/>
                        </a:lnSpc>
                        <a:buNone/>
                      </a:pPr>
                      <a:r>
                        <a:rPr lang="en-US" sz="1166" dirty="0">
                          <a:solidFill>
                            <a:srgbClr val="10202E"/>
                          </a:solidFill>
                          <a:latin typeface="DM Sans" pitchFamily="34" charset="0"/>
                          <a:ea typeface="DM Sans" pitchFamily="34" charset="-122"/>
                          <a:cs typeface="DM Sans" pitchFamily="34" charset="-120"/>
                        </a:rPr>
                        <a:t>vs Decision Tree</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+5,114</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[3,792, 6,616]</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33"/>
                        </a:lnSpc>
                        <a:buNone/>
                      </a:pPr>
                      <a:r>
                        <a:rPr lang="en-US" sz="1166" dirty="0">
                          <a:solidFill>
                            <a:srgbClr val="10202E"/>
                          </a:solidFill>
                          <a:latin typeface="DM Sans" pitchFamily="34" charset="0"/>
                          <a:ea typeface="DM Sans" pitchFamily="34" charset="-122"/>
                          <a:cs typeface="DM Sans" pitchFamily="34" charset="-120"/>
                        </a:rPr>
                        <a:t>100%</a:t>
                      </a:r>
                      <a:endParaRPr lang="en-US" sz="1166" dirty="0">
                        <a:latin typeface="DM Sans" charset="0"/>
                        <a:ea typeface="DM Sans" charset="0"/>
                        <a:cs typeface="DM Sans" charset="0"/>
                      </a:endParaRPr>
                    </a:p>
                  </a:txBody>
                  <a:tcPr marL="51840" marR="51840" marT="51840" marB="518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7" name="Shape 4"/>
          <p:cNvSpPr/>
          <p:nvPr/>
        </p:nvSpPr>
        <p:spPr>
          <a:xfrm>
            <a:off x="6965950" y="1524955"/>
            <a:ext cx="4406900" cy="3772853"/>
          </a:xfrm>
          <a:prstGeom prst="roundRect">
            <a:avLst>
              <a:gd name="adj" fmla="val 3198"/>
            </a:avLst>
          </a:prstGeom>
          <a:solidFill>
            <a:srgbClr val="FBF9F5"/>
          </a:solidFill>
          <a:ln w="12700">
            <a:solidFill>
              <a:srgbClr val="DAD4C8"/>
            </a:solidFill>
            <a:prstDash val="solid"/>
          </a:ln>
        </p:spPr>
        <p:txBody>
          <a:bodyPr/>
          <a:lstStyle/>
          <a:p>
            <a:endParaRPr lang="en-US"/>
          </a:p>
        </p:txBody>
      </p:sp>
      <p:sp>
        <p:nvSpPr>
          <p:cNvPr id="8" name="Text 5"/>
          <p:cNvSpPr/>
          <p:nvPr/>
        </p:nvSpPr>
        <p:spPr>
          <a:xfrm>
            <a:off x="7109460" y="1643063"/>
            <a:ext cx="4243476" cy="23876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54606C"/>
                </a:solidFill>
                <a:latin typeface="DM Sans" pitchFamily="34" charset="0"/>
                <a:ea typeface="DM Sans" pitchFamily="34" charset="-122"/>
                <a:cs typeface="DM Sans" pitchFamily="34" charset="-120"/>
              </a:rPr>
              <a:t>OPERATING COST · TEST</a:t>
            </a:r>
            <a:endParaRPr lang="en-US" sz="12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7119620" y="1917380"/>
          <a:ext cx="4109720" cy="1981200"/>
        </p:xfrm>
        <a:graphic>
          <a:graphicData uri="http://schemas.openxmlformats.org/drawingml/2006/table">
            <a:tbl>
              <a:tblPr/>
              <a:tblGrid>
                <a:gridCol w="1397305">
                  <a:extLst>
                    <a:ext uri="{9D8B030D-6E8A-4147-A177-3AD203B41FA5}">
                      <a16:colId xmlns:a16="http://schemas.microsoft.com/office/drawing/2014/main" val="20000"/>
                    </a:ext>
                  </a:extLst>
                </a:gridCol>
                <a:gridCol w="657555">
                  <a:extLst>
                    <a:ext uri="{9D8B030D-6E8A-4147-A177-3AD203B41FA5}">
                      <a16:colId xmlns:a16="http://schemas.microsoft.com/office/drawing/2014/main" val="20001"/>
                    </a:ext>
                  </a:extLst>
                </a:gridCol>
                <a:gridCol w="986333">
                  <a:extLst>
                    <a:ext uri="{9D8B030D-6E8A-4147-A177-3AD203B41FA5}">
                      <a16:colId xmlns:a16="http://schemas.microsoft.com/office/drawing/2014/main" val="20002"/>
                    </a:ext>
                  </a:extLst>
                </a:gridCol>
                <a:gridCol w="1068527">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0202E"/>
                          </a:solidFill>
                          <a:latin typeface="DM Sans" pitchFamily="34" charset="0"/>
                          <a:ea typeface="DM Sans" pitchFamily="34" charset="-122"/>
                          <a:cs typeface="DM Sans" pitchFamily="34" charset="-120"/>
                        </a:rPr>
                        <a:t>Model</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Alerts</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Review $</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marL="0" indent="0" algn="r">
                        <a:lnSpc>
                          <a:spcPts val="1680"/>
                        </a:lnSpc>
                        <a:buNone/>
                      </a:pPr>
                      <a:r>
                        <a:rPr lang="en-US" sz="1200" b="1" dirty="0">
                          <a:solidFill>
                            <a:srgbClr val="10202E"/>
                          </a:solidFill>
                          <a:latin typeface="DM Sans" pitchFamily="34" charset="0"/>
                          <a:ea typeface="DM Sans" pitchFamily="34" charset="-122"/>
                          <a:cs typeface="DM Sans" pitchFamily="34" charset="-120"/>
                        </a:rPr>
                        <a:t>Net saved</a:t>
                      </a:r>
                      <a:endParaRPr lang="en-US" sz="1200" dirty="0">
                        <a:latin typeface="DM Sans" charset="0"/>
                        <a:ea typeface="DM Sans" charset="0"/>
                        <a:cs typeface="DM Sans" charset="0"/>
                      </a:endParaRPr>
                    </a:p>
                  </a:txBody>
                  <a:tcPr marL="53340" marR="53340" marT="53340" marB="53340">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SVM</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1,831</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$9,155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$589,769</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Logistic</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2,187</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$10,935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$588,836</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Tree</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2,275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$11,375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$584,697</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Price rule</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3,520</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$17,600</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$573,694</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0202E"/>
                          </a:solidFill>
                          <a:latin typeface="DM Sans" pitchFamily="34" charset="0"/>
                          <a:ea typeface="DM Sans" pitchFamily="34" charset="-122"/>
                          <a:cs typeface="DM Sans" pitchFamily="34" charset="-120"/>
                        </a:rPr>
                        <a:t>Category</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8,533</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$42,665</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marL="0" indent="0" algn="r">
                        <a:lnSpc>
                          <a:spcPts val="1680"/>
                        </a:lnSpc>
                        <a:buNone/>
                      </a:pPr>
                      <a:r>
                        <a:rPr lang="en-US" sz="1200" dirty="0">
                          <a:solidFill>
                            <a:srgbClr val="10202E"/>
                          </a:solidFill>
                          <a:latin typeface="DM Sans" pitchFamily="34" charset="0"/>
                          <a:ea typeface="DM Sans" pitchFamily="34" charset="-122"/>
                          <a:cs typeface="DM Sans" pitchFamily="34" charset="-120"/>
                        </a:rPr>
                        <a:t>$549,856</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6"/>
          <p:cNvSpPr/>
          <p:nvPr/>
        </p:nvSpPr>
        <p:spPr>
          <a:xfrm>
            <a:off x="7109460" y="3949390"/>
            <a:ext cx="4243476" cy="2235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4606C"/>
                </a:solidFill>
                <a:latin typeface="DM Sans" pitchFamily="34" charset="0"/>
                <a:ea typeface="DM Sans" pitchFamily="34" charset="-122"/>
                <a:cs typeface="DM Sans" pitchFamily="34" charset="-120"/>
              </a:rPr>
              <a:t>Sensitivity and hard-subset tables are on slide 19.</a:t>
            </a:r>
            <a:endParaRPr lang="en-US" sz="1200" dirty="0"/>
          </a:p>
        </p:txBody>
      </p:sp>
      <p:sp>
        <p:nvSpPr>
          <p:cNvPr id="11" name="Text 7"/>
          <p:cNvSpPr/>
          <p:nvPr/>
        </p:nvSpPr>
        <p:spPr>
          <a:xfrm>
            <a:off x="812800" y="5534980"/>
            <a:ext cx="4388676" cy="254000"/>
          </a:xfrm>
          <a:prstGeom prst="rect">
            <a:avLst/>
          </a:prstGeom>
          <a:noFill/>
          <a:ln/>
        </p:spPr>
        <p:txBody>
          <a:bodyPr wrap="square" lIns="0" tIns="0" rIns="0" bIns="0" rtlCol="0" anchor="t">
            <a:normAutofit/>
          </a:bodyPr>
          <a:lstStyle/>
          <a:p>
            <a:pPr marL="0" indent="0" algn="l">
              <a:lnSpc>
                <a:spcPts val="1800"/>
              </a:lnSpc>
              <a:buNone/>
            </a:pPr>
            <a:r>
              <a:rPr lang="en-US" sz="1500" i="1" dirty="0">
                <a:solidFill>
                  <a:srgbClr val="10202E"/>
                </a:solidFill>
                <a:latin typeface="DM Sans" pitchFamily="34" charset="0"/>
                <a:ea typeface="DM Sans" pitchFamily="34" charset="-122"/>
                <a:cs typeface="DM Sans" pitchFamily="34" charset="-120"/>
              </a:rPr>
              <a:t>“Is the SVM’s edge significant and robust?”</a:t>
            </a:r>
            <a:endParaRPr lang="en-US" sz="1500" dirty="0"/>
          </a:p>
        </p:txBody>
      </p:sp>
      <p:sp>
        <p:nvSpPr>
          <p:cNvPr id="12" name="Shape 8"/>
          <p:cNvSpPr/>
          <p:nvPr/>
        </p:nvSpPr>
        <p:spPr>
          <a:xfrm>
            <a:off x="5270500" y="5421945"/>
            <a:ext cx="0" cy="454660"/>
          </a:xfrm>
          <a:prstGeom prst="line">
            <a:avLst/>
          </a:prstGeom>
          <a:noFill/>
          <a:ln w="38100">
            <a:solidFill>
              <a:srgbClr val="1D6A96"/>
            </a:solidFill>
            <a:prstDash val="solid"/>
          </a:ln>
        </p:spPr>
        <p:txBody>
          <a:bodyPr/>
          <a:lstStyle/>
          <a:p>
            <a:endParaRPr lang="en-US"/>
          </a:p>
        </p:txBody>
      </p:sp>
      <p:sp>
        <p:nvSpPr>
          <p:cNvPr id="13" name="Text 9"/>
          <p:cNvSpPr/>
          <p:nvPr/>
        </p:nvSpPr>
        <p:spPr>
          <a:xfrm>
            <a:off x="5414010" y="5434645"/>
            <a:ext cx="6144146" cy="45466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D6A96"/>
                </a:solidFill>
                <a:latin typeface="DM Sans" pitchFamily="34" charset="0"/>
                <a:ea typeface="DM Sans" pitchFamily="34" charset="-122"/>
                <a:cs typeface="DM Sans" pitchFamily="34" charset="-120"/>
              </a:rPr>
              <a:t>Answer:</a:t>
            </a:r>
            <a:r>
              <a:rPr lang="en-US" sz="1300" dirty="0">
                <a:solidFill>
                  <a:srgbClr val="10202E"/>
                </a:solidFill>
                <a:latin typeface="DM Sans" pitchFamily="34" charset="0"/>
                <a:ea typeface="DM Sans" pitchFamily="34" charset="-122"/>
                <a:cs typeface="DM Sans" pitchFamily="34" charset="-120"/>
              </a:rPr>
              <a:t> Yes against rules and the tree. Against Logistic it is marginal on PR-AUC and money, and a tie on F1.</a:t>
            </a:r>
            <a:endParaRPr lang="en-US" sz="1300" dirty="0"/>
          </a:p>
        </p:txBody>
      </p:sp>
      <p:sp>
        <p:nvSpPr>
          <p:cNvPr id="14" name="Text 10"/>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4606C"/>
                </a:solidFill>
                <a:latin typeface="DM Sans" pitchFamily="34" charset="0"/>
                <a:ea typeface="DM Sans" pitchFamily="34" charset="-122"/>
                <a:cs typeface="DM Sans" pitchFamily="34" charset="-120"/>
              </a:rPr>
              <a:t>Source: Notebook §8.2, §8.3, §8.4 · 30 time blocks · $5/alert</a:t>
            </a:r>
            <a:endParaRPr lang="en-US" sz="1200" dirty="0"/>
          </a:p>
        </p:txBody>
      </p:sp>
      <p:sp>
        <p:nvSpPr>
          <p:cNvPr id="15" name="Text 11"/>
          <p:cNvSpPr/>
          <p:nvPr/>
        </p:nvSpPr>
        <p:spPr>
          <a:xfrm>
            <a:off x="6591554" y="6238242"/>
            <a:ext cx="4787646" cy="238760"/>
          </a:xfrm>
          <a:prstGeom prst="rect">
            <a:avLst/>
          </a:prstGeom>
          <a:noFill/>
          <a:ln/>
        </p:spPr>
        <p:txBody>
          <a:bodyPr wrap="square" lIns="0" tIns="0" rIns="0" bIns="0" rtlCol="0" anchor="t">
            <a:normAutofit/>
          </a:bodyPr>
          <a:lstStyle/>
          <a:p>
            <a:pPr marL="0" indent="0" algn="r">
              <a:lnSpc>
                <a:spcPts val="1680"/>
              </a:lnSpc>
              <a:buNone/>
            </a:pPr>
            <a:r>
              <a:rPr lang="vi-VN" sz="1200" dirty="0">
                <a:solidFill>
                  <a:srgbClr val="54606C"/>
                </a:solidFill>
                <a:latin typeface="DM Sans" pitchFamily="34" charset="0"/>
                <a:ea typeface="DM Sans" pitchFamily="34" charset="-122"/>
                <a:cs typeface="DM Sans" pitchFamily="34" charset="-120"/>
              </a:rPr>
              <a:t>(24) </a:t>
            </a:r>
            <a:r>
              <a:rPr lang="en-US" sz="1200" dirty="0">
                <a:solidFill>
                  <a:srgbClr val="54606C"/>
                </a:solidFill>
                <a:latin typeface="DM Sans" pitchFamily="34" charset="0"/>
                <a:ea typeface="DM Sans" pitchFamily="34" charset="-122"/>
                <a:cs typeface="DM Sans" pitchFamily="34" charset="-120"/>
              </a:rPr>
              <a:t>Backup · not part of the main 20 minutes</a:t>
            </a:r>
            <a:endParaRPr lang="en-US" sz="1200" dirty="0"/>
          </a:p>
        </p:txBody>
      </p:sp>
    </p:spTree>
  </p:cSld>
  <p:clrMapOvr>
    <a:masterClrMapping/>
  </p:clrMapOvr>
</p:sld>
</file>

<file path=ppt/theme/theme1.xml><?xml version="1.0" encoding="utf-8"?>
<a:theme xmlns:a="http://schemas.openxmlformats.org/drawingml/2006/main" name="Fraud Detection with Machine Learning">
  <a:themeElements>
    <a:clrScheme name="Fraud Detection with Machine Learning">
      <a:dk1>
        <a:srgbClr val="10202E"/>
      </a:dk1>
      <a:lt1>
        <a:srgbClr val="F5F2EC"/>
      </a:lt1>
      <a:dk2>
        <a:srgbClr val="49555E"/>
      </a:dk2>
      <a:lt2>
        <a:srgbClr val="DEDDD9"/>
      </a:lt2>
      <a:accent1>
        <a:srgbClr val="1D6A96"/>
      </a:accent1>
      <a:accent2>
        <a:srgbClr val="C2410C"/>
      </a:accent2>
      <a:accent3>
        <a:srgbClr val="FF8A5C"/>
      </a:accent3>
      <a:accent4>
        <a:srgbClr val="6FC1EA"/>
      </a:accent4>
      <a:accent5>
        <a:srgbClr val="1B3147"/>
      </a:accent5>
      <a:accent6>
        <a:srgbClr val="A9CCE0"/>
      </a:accent6>
      <a:hlink>
        <a:srgbClr val="0563C1"/>
      </a:hlink>
      <a:folHlink>
        <a:srgbClr val="954F72"/>
      </a:folHlink>
    </a:clrScheme>
    <a:fontScheme name="Fraud Detection with Machine Learn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6059</Words>
  <Application>Microsoft Office PowerPoint</Application>
  <PresentationFormat>Widescreen</PresentationFormat>
  <Paragraphs>842</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DM Sans</vt:lpstr>
      <vt:lpstr>Arial</vt:lpstr>
      <vt:lpstr>Fraud Detection with Machine Learning</vt:lpstr>
      <vt:lpstr>Fraud Detection with Machine Learning</vt:lpstr>
      <vt:lpstr>Our Research Journey</vt:lpstr>
      <vt:lpstr>98.72% Accuracy — Yet Zero Fraud Detected?</vt:lpstr>
      <vt:lpstr>594,643 Transactions — But Not All Data Should Be Seen at Once</vt:lpstr>
      <vt:lpstr>Only 1.28% of Transactions — 18% of Transaction Value</vt:lpstr>
      <vt:lpstr>Fraud Leaves Patterns — But Are They Reliable?</vt:lpstr>
      <vt:lpstr>From Observations to Feature Engineering</vt:lpstr>
      <vt:lpstr>Can We Detect Fraud by Understanding Customer Behavior?</vt:lpstr>
      <vt:lpstr>A Model Must Not Know Tomorrow’s Transactions Today</vt:lpstr>
      <vt:lpstr>Three Models. Two Baselines. One Fair Evaluation Framework.</vt:lpstr>
      <vt:lpstr>Do More Features Always Mean Better Predictions?</vt:lpstr>
      <vt:lpstr>Which Model Deserves to Enter the Final Test?</vt:lpstr>
      <vt:lpstr>What Is the Model Really Learning?</vt:lpstr>
      <vt:lpstr>One Final Test. No Second Chances.</vt:lpstr>
      <vt:lpstr>The Final Verdict: Which Model Performs Best?</vt:lpstr>
      <vt:lpstr>Every False Negative Has a Cost. Every False Positive Has a Consequence.</vt:lpstr>
      <vt:lpstr>Does Better Prediction Actually Save More Money?</vt:lpstr>
      <vt:lpstr>A High Score Is Not Enough. How Certain Are We?</vt:lpstr>
      <vt:lpstr>What Happens When Reality Changes?</vt:lpstr>
      <vt:lpstr>From Fraud Prediction to Better Decisions</vt:lpstr>
      <vt:lpstr>Clean Data, a Time-Ordered Split, and Mild Drift</vt:lpstr>
      <vt:lpstr>Top Validation Configurations per Model</vt:lpstr>
      <vt:lpstr>What the Model Misses, and What It Depends On</vt:lpstr>
      <vt:lpstr>Paired Differences and Operating Cost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with Machine Learning</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Nguyen Thanh Duoc</cp:lastModifiedBy>
  <cp:revision>4</cp:revision>
  <dcterms:created xsi:type="dcterms:W3CDTF">2026-10-27T01:59:24Z</dcterms:created>
  <dcterms:modified xsi:type="dcterms:W3CDTF">2026-10-30T07:06:44Z</dcterms:modified>
</cp:coreProperties>
</file>